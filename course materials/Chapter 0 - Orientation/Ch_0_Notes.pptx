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ms-powerpoint.changesinfo+xml" PartName="/ppt/changesInfos/changesInfo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5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3BB3A-D4A7-2780-00D3-77812EDFA1B9}" v="4" dt="2026-04-23T15:13:47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notesMasters/notesMaster1.xml" Type="http://schemas.openxmlformats.org/officeDocument/2006/relationships/notesMaster"/><Relationship Id="rId17" Target="presProps.xml" Type="http://schemas.openxmlformats.org/officeDocument/2006/relationships/presProps"/><Relationship Id="rId18" Target="viewProps.xml" Type="http://schemas.openxmlformats.org/officeDocument/2006/relationships/viewProps"/><Relationship Id="rId19" Target="theme/theme1.xml" Type="http://schemas.openxmlformats.org/officeDocument/2006/relationships/theme"/><Relationship Id="rId2" Target="slides/slide1.xml" Type="http://schemas.openxmlformats.org/officeDocument/2006/relationships/slide"/><Relationship Id="rId20" Target="tableStyles.xml" Type="http://schemas.openxmlformats.org/officeDocument/2006/relationships/tableStyles"/><Relationship Id="rId21" Target="changesInfos/changesInfo1.xml" Type="http://schemas.microsoft.com/office/2016/11/relationships/changesInfo"/><Relationship Id="rId22" Target="revisionInfo.xml" Type="http://schemas.microsoft.com/office/2015/10/relationships/revisionInfo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wen Cheek" userId="S::meldrid8@kennesaw.edu::8fca192e-0677-4b46-9386-7af871cc0c0f" providerId="AD" clId="Web-{BF23BB3A-D4A7-2780-00D3-77812EDFA1B9}"/>
    <pc:docChg chg="delSld modSld">
      <pc:chgData name="Bowen Cheek" userId="S::meldrid8@kennesaw.edu::8fca192e-0677-4b46-9386-7af871cc0c0f" providerId="AD" clId="Web-{BF23BB3A-D4A7-2780-00D3-77812EDFA1B9}" dt="2026-04-23T15:13:47.469" v="3"/>
      <pc:docMkLst>
        <pc:docMk/>
      </pc:docMkLst>
      <pc:sldChg chg="modSp">
        <pc:chgData name="Bowen Cheek" userId="S::meldrid8@kennesaw.edu::8fca192e-0677-4b46-9386-7af871cc0c0f" providerId="AD" clId="Web-{BF23BB3A-D4A7-2780-00D3-77812EDFA1B9}" dt="2026-04-23T15:10:01.943" v="1" actId="20577"/>
        <pc:sldMkLst>
          <pc:docMk/>
          <pc:sldMk cId="1604248609" sldId="258"/>
        </pc:sldMkLst>
        <pc:spChg chg="mod">
          <ac:chgData name="Bowen Cheek" userId="S::meldrid8@kennesaw.edu::8fca192e-0677-4b46-9386-7af871cc0c0f" providerId="AD" clId="Web-{BF23BB3A-D4A7-2780-00D3-77812EDFA1B9}" dt="2026-04-23T15:10:01.943" v="1" actId="20577"/>
          <ac:spMkLst>
            <pc:docMk/>
            <pc:sldMk cId="1604248609" sldId="258"/>
            <ac:spMk id="9" creationId="{1129D3EE-F73B-07B0-55A1-4CB3E860C8D2}"/>
          </ac:spMkLst>
        </pc:spChg>
      </pc:sldChg>
      <pc:sldChg chg="del">
        <pc:chgData name="Bowen Cheek" userId="S::meldrid8@kennesaw.edu::8fca192e-0677-4b46-9386-7af871cc0c0f" providerId="AD" clId="Web-{BF23BB3A-D4A7-2780-00D3-77812EDFA1B9}" dt="2026-04-23T15:13:12.295" v="2"/>
        <pc:sldMkLst>
          <pc:docMk/>
          <pc:sldMk cId="4265767899" sldId="263"/>
        </pc:sldMkLst>
      </pc:sldChg>
      <pc:sldChg chg="del">
        <pc:chgData name="Bowen Cheek" userId="S::meldrid8@kennesaw.edu::8fca192e-0677-4b46-9386-7af871cc0c0f" providerId="AD" clId="Web-{BF23BB3A-D4A7-2780-00D3-77812EDFA1B9}" dt="2026-04-23T15:13:47.469" v="3"/>
        <pc:sldMkLst>
          <pc:docMk/>
          <pc:sldMk cId="3084131177" sldId="276"/>
        </pc:sldMkLst>
      </pc:sldChg>
    </pc:docChg>
  </pc:docChgLst>
</pc:chgInfo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80861-DDFB-437A-95DE-FC6B169AA432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10FDF-EE3D-4063-8365-3C5F43E5BD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4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F573-DF8F-4F4B-A100-A37C0533729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8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E63F-B1AC-44AA-A531-30E62BDB4AE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6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F6A14-9AAA-4AE5-9463-CDA51BBD35E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2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B3078-1CC9-4321-9ACE-2739A21F7FBE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56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273A-A242-45A3-81F9-86B7465B945B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68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5B91-0F69-4969-A3EF-A6A776ACEE3D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447-F094-4DDF-BD05-916D9ACB108D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41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0DA3D-23F5-42BD-B3A3-79C99862642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7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E9D74-BB3A-45E3-8CC9-2123311C25D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1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68591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803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2050861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0408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8454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8832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56836-BD4D-4703-8D9F-DF14FA974083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45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AFD31-6580-4833-A9C2-1FF2C11554BB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3560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20CF-2E07-4D26-BA5D-D0AC9B395E0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Bowen 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449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https://en.wikipedia.org/wiki/W._Edwards_Deming" TargetMode="External" Type="http://schemas.openxmlformats.org/officeDocument/2006/relationships/hyperlink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https://cran.r-project.org/" TargetMode="External" Type="http://schemas.openxmlformats.org/officeDocument/2006/relationships/hyperlink"/><Relationship Id="rId3" Target="https://posit.co/downloads/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6CB0-86E0-16B9-2B60-C242CB128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2511446"/>
            <a:ext cx="10993549" cy="1835105"/>
          </a:xfrm>
        </p:spPr>
        <p:txBody>
          <a:bodyPr>
            <a:normAutofit fontScale="90000"/>
          </a:bodyPr>
          <a:lstStyle/>
          <a:p>
            <a:pPr algn="r"/>
            <a:r>
              <a:rPr dirty="0" lang="en-US">
                <a:solidFill>
                  <a:srgbClr val="FFFFFF"/>
                </a:solidFill>
              </a:rPr>
              <a:t>Probability </a:t>
            </a:r>
            <a:br>
              <a:rPr dirty="0" lang="en-US">
                <a:solidFill>
                  <a:srgbClr val="FFFFFF"/>
                </a:solidFill>
              </a:rPr>
            </a:br>
            <a:r>
              <a:rPr dirty="0" lang="en-US">
                <a:solidFill>
                  <a:srgbClr val="FFFFFF"/>
                </a:solidFill>
              </a:rPr>
              <a:t>and </a:t>
            </a:r>
            <a:br>
              <a:rPr dirty="0" lang="en-US">
                <a:solidFill>
                  <a:srgbClr val="FFFFFF"/>
                </a:solidFill>
              </a:rPr>
            </a:br>
            <a:r>
              <a:rPr dirty="0" lang="en-US">
                <a:solidFill>
                  <a:srgbClr val="FFFFFF"/>
                </a:solidFill>
              </a:rPr>
              <a:t>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C2C6B-1895-51A6-3C72-D8789F04A50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581192" y="4848110"/>
            <a:ext cx="10993546" cy="525565"/>
          </a:xfrm>
        </p:spPr>
        <p:txBody>
          <a:bodyPr>
            <a:normAutofit/>
          </a:bodyPr>
          <a:lstStyle/>
          <a:p>
            <a:pPr algn="r"/>
            <a:r>
              <a:rPr dirty="0" lang="en-US">
                <a:solidFill>
                  <a:srgbClr val="EBEBEB"/>
                </a:solidFill>
              </a:rPr>
              <a:t>STAT 2332 </a:t>
            </a:r>
          </a:p>
        </p:txBody>
      </p:sp>
      <p:pic>
        <p:nvPicPr>
          <p:cNvPr descr="W. Edwards Deming quote &quot;without data you're just another person with an opinion.&quot; Link to his Wikipedia page. " id="7" name="Picture 6">
            <a:hlinkClick r:id="rId2"/>
            <a:extLst>
              <a:ext uri="{FF2B5EF4-FFF2-40B4-BE49-F238E27FC236}">
                <a16:creationId xmlns:a16="http://schemas.microsoft.com/office/drawing/2014/main" id="{56F75738-7555-3679-30FD-A35DDC444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1" y="2036573"/>
            <a:ext cx="5514809" cy="278485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6DCC3-5038-70E1-1FD0-157D32A257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128711" y="6350000"/>
            <a:ext cx="69172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dirty="0" lang="en-US" sz="700"/>
              <a:t>Bowen 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72C06-8E39-1ABF-62EB-E527DF9302B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0558300" y="6400800"/>
            <a:ext cx="101644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dirty="0" lang="en-US"/>
              <a:pPr>
                <a:spcAft>
                  <a:spcPts val="600"/>
                </a:spcAft>
              </a:pPr>
              <a:t>1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93149804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B6E0-D93B-357E-866B-5C902EFA5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US" sz="4400"/>
              <a:t>First week checklist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52443-7EA2-BBAE-B859-30F8E94D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"/>
              </a:spcBef>
              <a:buFont charset="2" panose="05000000000000000000" pitchFamily="2" typeface="Wingdings"/>
              <a:buChar char="q"/>
            </a:pPr>
            <a:r>
              <a:rPr dirty="0" lang="en-US" sz="2800"/>
              <a:t> Read the syllabus and get familiar with D2L. </a:t>
            </a:r>
          </a:p>
          <a:p>
            <a:pPr>
              <a:spcBef>
                <a:spcPts val="20"/>
              </a:spcBef>
              <a:buFont charset="2" panose="05000000000000000000" pitchFamily="2" typeface="Wingdings"/>
              <a:buChar char="q"/>
            </a:pPr>
            <a:r>
              <a:rPr dirty="0" lang="en-US" sz="2800"/>
              <a:t> Register for the textbook and homework site (ALEKS).</a:t>
            </a:r>
          </a:p>
          <a:p>
            <a:pPr>
              <a:spcBef>
                <a:spcPts val="20"/>
              </a:spcBef>
              <a:buFont charset="2" panose="05000000000000000000" pitchFamily="2" typeface="Wingdings"/>
              <a:buChar char="q"/>
            </a:pPr>
            <a:r>
              <a:rPr dirty="0" lang="en-US" sz="2800"/>
              <a:t> Download R and R Studio (free). </a:t>
            </a:r>
          </a:p>
          <a:p>
            <a:pPr>
              <a:spcBef>
                <a:spcPts val="20"/>
              </a:spcBef>
              <a:buFont charset="2" panose="05000000000000000000" pitchFamily="2" typeface="Wingdings"/>
              <a:buChar char="q"/>
            </a:pPr>
            <a:r>
              <a:rPr dirty="0" lang="en-US" sz="2800"/>
              <a:t> Review prerequisite math skills. </a:t>
            </a:r>
          </a:p>
          <a:p>
            <a:pPr>
              <a:spcBef>
                <a:spcPts val="20"/>
              </a:spcBef>
              <a:buFont charset="2" panose="05000000000000000000" pitchFamily="2" typeface="Wingdings"/>
              <a:buChar char="q"/>
            </a:pPr>
            <a:r>
              <a:rPr dirty="0" lang="en-US" sz="2800"/>
              <a:t> Complete “Ch.0 Homework” </a:t>
            </a:r>
            <a:br>
              <a:rPr dirty="0" lang="en-US" sz="2800"/>
            </a:br>
            <a:r>
              <a:rPr dirty="0" lang="en-US" sz="2800"/>
              <a:t>  (which covers the syllabus and our math skills review).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DDB5D-C6D4-35C7-37A3-15216E3A3AB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120044" y="635952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9754-1C8C-74AA-A561-444156867CCC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18411" y="6423025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24612716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29D3EE-F73B-07B0-55A1-4CB3E860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679"/>
            <a:ext cx="10353761" cy="1326321"/>
          </a:xfrm>
        </p:spPr>
        <p:txBody>
          <a:bodyPr>
            <a:normAutofit/>
          </a:bodyPr>
          <a:lstStyle/>
          <a:p>
            <a:r>
              <a:rPr dirty="0" lang="en-US" sz="4400"/>
              <a:t>How to get to aleks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EB01F3-103D-E374-2D62-CCE875CD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95038"/>
            <a:ext cx="10353762" cy="3695136"/>
          </a:xfrm>
        </p:spPr>
        <p:txBody>
          <a:bodyPr/>
          <a:lstStyle/>
          <a:p>
            <a:r>
              <a:rPr dirty="0" lang="en-US"/>
              <a:t>In D2L, go to Content, then Getting Started, </a:t>
            </a:r>
            <a:br>
              <a:rPr dirty="0" lang="en-US"/>
            </a:br>
            <a:r>
              <a:rPr dirty="0" lang="en-US"/>
              <a:t>then ALEKS, and then click the top link </a:t>
            </a:r>
            <a:br>
              <a:rPr dirty="0" lang="en-US"/>
            </a:br>
            <a:r>
              <a:rPr dirty="0" lang="en-US"/>
              <a:t>that looks like a puzzle piece and says, </a:t>
            </a:r>
            <a:br>
              <a:rPr dirty="0" lang="en-US"/>
            </a:br>
            <a:r>
              <a:rPr dirty="0" lang="en-US"/>
              <a:t>“Launch ALEKS.” </a:t>
            </a:r>
          </a:p>
        </p:txBody>
      </p:sp>
      <p:sp>
        <p:nvSpPr>
          <p:cNvPr descr="Arrow pointing to the ALEKS link that you choose on D2L " id="5" name="Arrow: Right 4">
            <a:extLst>
              <a:ext uri="{FF2B5EF4-FFF2-40B4-BE49-F238E27FC236}">
                <a16:creationId xmlns:a16="http://schemas.microsoft.com/office/drawing/2014/main" id="{66310462-45F9-2956-ED34-0BD7AD85DB8F}"/>
              </a:ext>
            </a:extLst>
          </p:cNvPr>
          <p:cNvSpPr/>
          <p:nvPr/>
        </p:nvSpPr>
        <p:spPr>
          <a:xfrm>
            <a:off x="5328026" y="4307839"/>
            <a:ext cx="938483" cy="289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dirty="0" lang="en-US"/>
          </a:p>
        </p:txBody>
      </p:sp>
      <p:pic>
        <p:nvPicPr>
          <p:cNvPr descr="A screenshot of the ALEKS link in D2L. " id="11" name="Picture 10">
            <a:extLst>
              <a:ext uri="{FF2B5EF4-FFF2-40B4-BE49-F238E27FC236}">
                <a16:creationId xmlns:a16="http://schemas.microsoft.com/office/drawing/2014/main" id="{D6314A18-18ED-DE33-84E3-655F89AF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521" y="1775970"/>
            <a:ext cx="5582429" cy="442974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2C2FF-1419-AE64-9C32-CDA4FFA88BB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38268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4EF1-0C89-6F98-87C0-0D749A41834F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67556" y="6382684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60424860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CA89-411B-E49F-9318-17DD2194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689" y="85928"/>
            <a:ext cx="11069722" cy="2475158"/>
          </a:xfrm>
        </p:spPr>
        <p:txBody>
          <a:bodyPr anchor="ctr">
            <a:normAutofit/>
          </a:bodyPr>
          <a:lstStyle/>
          <a:p>
            <a:pPr algn="l"/>
            <a:r>
              <a:rPr dirty="0" lang="en-US">
                <a:solidFill>
                  <a:srgbClr val="FFFFFF"/>
                </a:solidFill>
              </a:rPr>
              <a:t>r and r studio are two </a:t>
            </a:r>
            <a:br>
              <a:rPr dirty="0" lang="en-US">
                <a:solidFill>
                  <a:srgbClr val="FFFFFF"/>
                </a:solidFill>
              </a:rPr>
            </a:br>
            <a:r>
              <a:rPr dirty="0" lang="en-US">
                <a:solidFill>
                  <a:srgbClr val="FFFFFF"/>
                </a:solidFill>
              </a:rPr>
              <a:t>separate downloads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A83B-9AD1-587D-CDBC-FF4C5E92A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473" y="2244195"/>
            <a:ext cx="6864154" cy="5350405"/>
          </a:xfrm>
        </p:spPr>
        <p:txBody>
          <a:bodyPr>
            <a:normAutofit/>
          </a:bodyPr>
          <a:lstStyle/>
          <a:p>
            <a:pPr indent="-305435" marL="305435"/>
            <a:r>
              <a:rPr dirty="0" lang="en-US">
                <a:ea typeface="+mn-lt"/>
                <a:cs typeface="+mn-lt"/>
                <a:hlinkClick r:id="rId2"/>
              </a:rPr>
              <a:t>Link to download R </a:t>
            </a:r>
            <a:endParaRPr dirty="0" lang="en-US">
              <a:ea typeface="+mn-lt"/>
              <a:cs typeface="+mn-lt"/>
            </a:endParaRPr>
          </a:p>
          <a:p>
            <a:pPr indent="0" marL="0">
              <a:buNone/>
            </a:pPr>
            <a:endParaRPr dirty="0" lang="en-US">
              <a:ea typeface="+mn-lt"/>
              <a:cs typeface="+mn-lt"/>
            </a:endParaRPr>
          </a:p>
          <a:p>
            <a:pPr indent="-305435" marL="305435"/>
            <a:endParaRPr dirty="0" lang="en-US">
              <a:ea typeface="+mn-lt"/>
              <a:cs typeface="+mn-lt"/>
            </a:endParaRPr>
          </a:p>
          <a:p>
            <a:pPr indent="-305435" marL="305435"/>
            <a:endParaRPr dirty="0" lang="en-US">
              <a:ea typeface="+mn-lt"/>
              <a:cs typeface="+mn-lt"/>
            </a:endParaRPr>
          </a:p>
          <a:p>
            <a:pPr indent="-305435" marL="305435"/>
            <a:endParaRPr dirty="0" lang="en-US">
              <a:ea typeface="+mn-lt"/>
              <a:cs typeface="+mn-lt"/>
            </a:endParaRPr>
          </a:p>
          <a:p>
            <a:pPr indent="-305435" marL="305435"/>
            <a:r>
              <a:rPr dirty="0" lang="en-US">
                <a:ea typeface="+mn-lt"/>
                <a:cs typeface="+mn-lt"/>
                <a:hlinkClick r:id="rId3"/>
              </a:rPr>
              <a:t>Link to download R Studio</a:t>
            </a:r>
            <a:r>
              <a:rPr dirty="0" lang="en-US">
                <a:ea typeface="+mn-lt"/>
                <a:cs typeface="+mn-lt"/>
              </a:rPr>
              <a:t> </a:t>
            </a:r>
            <a:endParaRPr dirty="0" lang="en-US"/>
          </a:p>
          <a:p>
            <a:pPr indent="-305435" marL="305435"/>
            <a:endParaRPr dirty="0" lang="en-US"/>
          </a:p>
        </p:txBody>
      </p:sp>
      <p:pic>
        <p:nvPicPr>
          <p:cNvPr descr="R logo" id="4" name="Picture 3">
            <a:extLst>
              <a:ext uri="{FF2B5EF4-FFF2-40B4-BE49-F238E27FC236}">
                <a16:creationId xmlns:a16="http://schemas.microsoft.com/office/drawing/2014/main" id="{37E572D0-2BA3-591B-A579-6D2583D9F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863" y="2389305"/>
            <a:ext cx="1887267" cy="1532137"/>
          </a:xfrm>
          <a:prstGeom prst="rect">
            <a:avLst/>
          </a:prstGeom>
        </p:spPr>
      </p:pic>
      <p:pic>
        <p:nvPicPr>
          <p:cNvPr descr="R Studio logo" id="5" name="Picture 4">
            <a:extLst>
              <a:ext uri="{FF2B5EF4-FFF2-40B4-BE49-F238E27FC236}">
                <a16:creationId xmlns:a16="http://schemas.microsoft.com/office/drawing/2014/main" id="{70DD4C8D-F12D-8407-BD3C-2F8AA2D74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909" y="4849388"/>
            <a:ext cx="3400442" cy="119329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F22280-0C14-750E-AA80-B749257D92B8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68711" y="633775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DF1D83-658F-324B-275F-9F18E9B6D98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01411" y="6416675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26692119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CA0A-AE81-C4C7-4DFB-56F97AAC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US" sz="4400">
                <a:solidFill>
                  <a:srgbClr val="FFFFFF"/>
                </a:solidFill>
              </a:rPr>
              <a:t>Prerequisite math skills </a:t>
            </a:r>
          </a:p>
        </p:txBody>
      </p:sp>
      <p:pic>
        <p:nvPicPr>
          <p:cNvPr descr="A simple linear graph on a coordinate plane " id="4" name="Picture 3">
            <a:extLst>
              <a:ext uri="{FF2B5EF4-FFF2-40B4-BE49-F238E27FC236}">
                <a16:creationId xmlns:a16="http://schemas.microsoft.com/office/drawing/2014/main" id="{8DD78FEB-B219-BC67-2365-DE4F8186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45" y="2731712"/>
            <a:ext cx="4962525" cy="29047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A86C6-5A27-5268-71A3-8BAA9F472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indent="-305435" marL="305435"/>
            <a:r>
              <a:rPr dirty="0" lang="en-US">
                <a:latin typeface="Bahnschrift"/>
              </a:rPr>
              <a:t>Rounding</a:t>
            </a:r>
          </a:p>
          <a:p>
            <a:pPr indent="-305435" marL="305435"/>
            <a:r>
              <a:rPr dirty="0" lang="en-US">
                <a:latin typeface="Bahnschrift"/>
              </a:rPr>
              <a:t>Fractions, decimals, and percentages</a:t>
            </a:r>
          </a:p>
          <a:p>
            <a:pPr indent="-305435" marL="305435"/>
            <a:r>
              <a:rPr dirty="0" lang="en-US">
                <a:latin typeface="Bahnschrift"/>
              </a:rPr>
              <a:t>Reading a number line </a:t>
            </a:r>
          </a:p>
          <a:p>
            <a:pPr indent="-305435" marL="305435"/>
            <a:r>
              <a:rPr dirty="0" lang="en-US">
                <a:latin typeface="Bahnschrift"/>
              </a:rPr>
              <a:t>Order of operations </a:t>
            </a:r>
          </a:p>
          <a:p>
            <a:pPr indent="-305435" marL="305435"/>
            <a:r>
              <a:rPr dirty="0" lang="en-US">
                <a:latin typeface="Bahnschrift"/>
              </a:rPr>
              <a:t>Simple linear graphs </a:t>
            </a:r>
          </a:p>
          <a:p>
            <a:pPr indent="-305435" marL="305435"/>
            <a:r>
              <a:rPr dirty="0" lang="en-US">
                <a:latin typeface="Bahnschrift"/>
              </a:rPr>
              <a:t>Roots, exponents, factorials </a:t>
            </a:r>
          </a:p>
          <a:p>
            <a:pPr indent="-305435" marL="305435"/>
            <a:r>
              <a:rPr dirty="0" lang="en-US">
                <a:latin typeface="Bahnschrift"/>
              </a:rPr>
              <a:t>Scientific notation</a:t>
            </a:r>
          </a:p>
          <a:p>
            <a:pPr indent="-305435" marL="305435"/>
            <a:r>
              <a:rPr dirty="0" lang="en-US">
                <a:latin typeface="Bahnschrift"/>
              </a:rPr>
              <a:t>Integrals (review later)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DAB7A-C35E-9371-CD07-AC37D63835D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8561" y="6432234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BF1B3-6F90-130E-A412-E544E479E3A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0" y="643223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</p:spTree>
    <p:extLst>
      <p:ext uri="{BB962C8B-B14F-4D97-AF65-F5344CB8AC3E}">
        <p14:creationId xmlns:p14="http://schemas.microsoft.com/office/powerpoint/2010/main" val="232965191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8ED4-A73C-C06E-43A2-3DB39A90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5" y="222250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dirty="0" lang="en-US" sz="4400"/>
              <a:t>Practice #1-5 </a:t>
            </a:r>
          </a:p>
        </p:txBody>
      </p:sp>
      <mc:AlternateContent xmlns:a14="http://schemas.microsoft.com/office/drawing/2010/main" xmlns:mc="http://schemas.openxmlformats.org/markup-compatibility/2006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F82481C-2AC7-41EE-6D91-F21DC9ED8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0774" y="1697896"/>
                <a:ext cx="8614076" cy="4045683"/>
              </a:xfrm>
              <a:prstGeom prst="rect">
                <a:avLst/>
              </a:prstGeom>
            </p:spPr>
            <p:txBody>
              <a:bodyPr bIns="45720" lIns="91440" rIns="91440" rtlCol="0" tIns="45720" vert="horz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20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457200" marL="457200">
                  <a:buAutoNum type="arabicPeriod"/>
                </a:pPr>
                <a:r>
                  <a:rPr dirty="0" lang="en-US" sz="2800">
                    <a:latin typeface="Bahnschrift"/>
                  </a:rPr>
                  <a:t>Round 14.98 to a whole number. </a:t>
                </a:r>
              </a:p>
              <a:p>
                <a:pPr indent="-457200" marL="457200">
                  <a:buAutoNum type="arabicPeriod"/>
                </a:pPr>
                <a:r>
                  <a:rPr dirty="0" lang="en-US" sz="2800">
                    <a:latin typeface="Bahnschrift"/>
                  </a:rPr>
                  <a:t>Convert 0.15% to a decimal. </a:t>
                </a:r>
              </a:p>
              <a:p>
                <a:pPr indent="-457200" marL="457200">
                  <a:buAutoNum type="arabicPeriod"/>
                </a:pPr>
                <a:r>
                  <a:rPr dirty="0" lang="en-US" sz="2800">
                    <a:latin typeface="Bahnschrift"/>
                  </a:rPr>
                  <a:t>Solve: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b="0" i="1" lang="en-US" smtClean="0" sz="2800">
                                <a:latin charset="0" panose="02040503050406030204" pitchFamily="18"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b="0" i="1" lang="en-US" smtClean="0" sz="2800">
                                    <a:latin charset="0" panose="02040503050406030204" pitchFamily="18" typeface="Cambria Math"/>
                                  </a:rPr>
                                </m:ctrlPr>
                              </m:fPr>
                              <m:num>
                                <m:r>
                                  <a:rPr b="0" i="1" lang="en-US" smtClean="0" sz="2800">
                                    <a:latin charset="0" panose="02040503050406030204" pitchFamily="18" typeface="Cambria Math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b="0" i="1" lang="en-US" smtClean="0" sz="2800">
                                    <a:latin charset="0" panose="02040503050406030204" pitchFamily="18" typeface="Cambria Math"/>
                                  </a:rPr>
                                  <m:t>−3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3</m:t>
                        </m:r>
                      </m:sup>
                    </m:sSup>
                    <m:r>
                      <a:rPr b="0" i="0" lang="en-US" smtClean="0" sz="2800">
                        <a:latin charset="0" panose="02040503050406030204" pitchFamily="18" typeface="Cambria Math"/>
                      </a:rPr>
                      <m:t>∗</m:t>
                    </m:r>
                    <m:f>
                      <m:fPr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fPr>
                      <m:num>
                        <m:r>
                          <a:rPr b="0" i="0" lang="en-US" smtClean="0" sz="2800">
                            <a:latin charset="0" panose="02040503050406030204" pitchFamily="18" typeface="Cambria Math"/>
                          </a:rPr>
                          <m:t>145−246.7</m:t>
                        </m:r>
                      </m:num>
                      <m:den>
                        <m:r>
                          <a:rPr b="0" i="0" lang="en-US" smtClean="0" sz="2800">
                            <a:latin charset="0" panose="02040503050406030204" pitchFamily="18" typeface="Cambria Math"/>
                          </a:rPr>
                          <m:t>8</m:t>
                        </m:r>
                      </m:den>
                    </m:f>
                    <m:r>
                      <a:rPr b="0" i="0" lang="en-US" smtClean="0" sz="2800">
                        <a:latin charset="0" panose="02040503050406030204" pitchFamily="18"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b="0" i="1" lang="en-US" smtClean="0" sz="2800">
                                <a:latin charset="0" panose="02040503050406030204" pitchFamily="18"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b="0" i="1" lang="en-US" smtClean="0" sz="2800">
                                <a:latin charset="0" panose="02040503050406030204" pitchFamily="18" typeface="Cambria Math"/>
                              </a:rPr>
                              <m:t>22</m:t>
                            </m:r>
                          </m:e>
                        </m:rad>
                      </m:e>
                    </m:d>
                  </m:oMath>
                </a14:m>
                <a:endParaRPr b="0" dirty="0" lang="en-US" sz="2800">
                  <a:latin typeface="Bahnschrift"/>
                </a:endParaRPr>
              </a:p>
              <a:p>
                <a:pPr indent="-457200" marL="457200">
                  <a:buAutoNum type="arabicPeriod"/>
                </a:pPr>
                <a:r>
                  <a:rPr dirty="0" lang="en-US" sz="2800">
                    <a:latin typeface="Bahnschrift"/>
                  </a:rPr>
                  <a:t>What is the slope of this line: </a:t>
                </a:r>
                <a14:m>
                  <m:oMath xmlns:m="http://schemas.openxmlformats.org/officeDocument/2006/math">
                    <m:r>
                      <a:rPr b="0" i="1" lang="en-US" smtClean="0" sz="2800">
                        <a:latin charset="0" panose="02040503050406030204" pitchFamily="18" typeface="Cambria Math"/>
                      </a:rPr>
                      <m:t>𝑦</m:t>
                    </m:r>
                    <m:r>
                      <a:rPr b="0" i="1" lang="en-US" smtClean="0" sz="2800">
                        <a:latin charset="0" panose="02040503050406030204" pitchFamily="18" typeface="Cambria Math"/>
                      </a:rPr>
                      <m:t>=</m:t>
                    </m:r>
                    <m:f>
                      <m:fPr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fPr>
                      <m:num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2</m:t>
                        </m:r>
                      </m:num>
                      <m:den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3</m:t>
                        </m:r>
                      </m:den>
                    </m:f>
                    <m:r>
                      <a:rPr b="0" i="1" lang="en-US" smtClean="0" sz="2800">
                        <a:latin charset="0" panose="02040503050406030204" pitchFamily="18" typeface="Cambria Math"/>
                      </a:rPr>
                      <m:t>𝑥</m:t>
                    </m:r>
                    <m:r>
                      <a:rPr b="0" i="1" lang="en-US" smtClean="0" sz="2800">
                        <a:latin charset="0" panose="02040503050406030204" pitchFamily="18" typeface="Cambria Math"/>
                      </a:rPr>
                      <m:t> −11</m:t>
                    </m:r>
                  </m:oMath>
                </a14:m>
                <a:endParaRPr b="0" dirty="0" lang="en-US" sz="2800">
                  <a:latin typeface="Bahnschrift"/>
                </a:endParaRPr>
              </a:p>
              <a:p>
                <a:pPr indent="-457200" marL="457200">
                  <a:buAutoNum type="arabicPeriod"/>
                </a:pPr>
                <a:r>
                  <a:rPr dirty="0" lang="en-US" sz="2800">
                    <a:latin typeface="Bahnschrift"/>
                  </a:rPr>
                  <a:t>Solve: </a:t>
                </a:r>
                <a14:m>
                  <m:oMath xmlns:m="http://schemas.openxmlformats.org/officeDocument/2006/math">
                    <m:f>
                      <m:fPr>
                        <m:ctrlPr>
                          <a:rPr dirty="0" i="1" lang="en-US" smtClean="0" sz="2800">
                            <a:latin charset="0" panose="02040503050406030204" pitchFamily="18" typeface="Cambria Math"/>
                          </a:rPr>
                        </m:ctrlPr>
                      </m:fPr>
                      <m:num>
                        <m:r>
                          <a:rPr dirty="0" lang="en-US" smtClean="0" sz="2800">
                            <a:latin charset="0" panose="02040503050406030204" pitchFamily="18" typeface="Cambria Math"/>
                          </a:rPr>
                          <m:t>9</m:t>
                        </m:r>
                        <m:r>
                          <a:rPr dirty="0" i="0" lang="en-US" smtClean="0" sz="2800">
                            <a:latin charset="0" panose="02040503050406030204" pitchFamily="18" typeface="Cambria Math"/>
                          </a:rPr>
                          <m:t>!</m:t>
                        </m:r>
                      </m:num>
                      <m:den>
                        <m:r>
                          <a:rPr dirty="0" i="0" lang="en-US" smtClean="0" sz="2800">
                            <a:latin charset="0" panose="02040503050406030204" pitchFamily="18" typeface="Cambria Math"/>
                          </a:rPr>
                          <m:t>4!</m:t>
                        </m:r>
                      </m:den>
                    </m:f>
                  </m:oMath>
                </a14:m>
                <a:endParaRPr dirty="0" lang="en-US" sz="2800">
                  <a:latin typeface="Bahnschrift"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F82481C-2AC7-41EE-6D91-F21DC9ED8F40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980774" y="1697896"/>
                <a:ext cx="8614076" cy="4045683"/>
              </a:xfrm>
              <a:prstGeom prst="rect">
                <a:avLst/>
              </a:prstGeom>
              <a:blipFill>
                <a:blip r:embed="rId2"/>
                <a:stretch>
                  <a:fillRect l="-1557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7B245-1620-5187-2AD5-E95B0B524F6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0" y="644842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5838-7F33-76A2-A55C-363F191FFFA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45861" y="6397625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75330005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9D8F3AF-E656-2403-0CA9-BBB43EE9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71C1-E811-996E-615C-686E58E6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5" y="222250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dirty="0" lang="en-US" sz="4400"/>
              <a:t>Practice #6-10 </a:t>
            </a:r>
          </a:p>
        </p:txBody>
      </p:sp>
      <mc:AlternateContent xmlns:a14="http://schemas.microsoft.com/office/drawing/2010/main" xmlns:mc="http://schemas.openxmlformats.org/markup-compatibility/2006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035C77A-47C9-E7FB-87C6-279A5E130F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0774" y="1697896"/>
                <a:ext cx="10468276" cy="4045683"/>
              </a:xfrm>
              <a:prstGeom prst="rect">
                <a:avLst/>
              </a:prstGeom>
            </p:spPr>
            <p:txBody>
              <a:bodyPr bIns="45720" lIns="91440" rIns="91440" rtlCol="0" tIns="45720" vert="horz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20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514350" marL="514350">
                  <a:buFont typeface="+mj-lt"/>
                  <a:buAutoNum startAt="6" type="arabicPeriod"/>
                </a:pPr>
                <a:r>
                  <a:rPr dirty="0" lang="en-US" sz="2800">
                    <a:latin typeface="Bahnschrift"/>
                  </a:rPr>
                  <a:t>Round -21.89 to an integer. </a:t>
                </a:r>
              </a:p>
              <a:p>
                <a:pPr indent="-514350" marL="514350">
                  <a:buFont typeface="+mj-lt"/>
                  <a:buAutoNum startAt="6" type="arabicPeriod"/>
                </a:pPr>
                <a:r>
                  <a:rPr dirty="0" lang="en-US" sz="2800">
                    <a:latin typeface="Bahnschrift"/>
                  </a:rPr>
                  <a:t> Convert this value to standard notation: </a:t>
                </a:r>
                <a14:m>
                  <m:oMath xmlns:m="http://schemas.openxmlformats.org/officeDocument/2006/math">
                    <m:r>
                      <a:rPr b="0" i="1" lang="en-US" smtClean="0" sz="2800">
                        <a:latin charset="0" panose="02040503050406030204" pitchFamily="18" typeface="Cambria Math"/>
                      </a:rPr>
                      <m:t>1.82 ∗</m:t>
                    </m:r>
                    <m:sSup>
                      <m:sSupPr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sSupPr>
                      <m:e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10</m:t>
                        </m:r>
                      </m:e>
                      <m:sup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−6</m:t>
                        </m:r>
                      </m:sup>
                    </m:sSup>
                  </m:oMath>
                </a14:m>
                <a:endParaRPr dirty="0" lang="en-US" sz="2800">
                  <a:latin typeface="Bahnschrift"/>
                </a:endParaRPr>
              </a:p>
              <a:p>
                <a:pPr indent="-514350" marL="514350">
                  <a:buFont typeface="+mj-lt"/>
                  <a:buAutoNum startAt="6" type="arabicPeriod"/>
                </a:pPr>
                <a:r>
                  <a:rPr dirty="0" lang="en-US" sz="2800">
                    <a:latin typeface="Bahnschrift"/>
                  </a:rPr>
                  <a:t>Convert 0.067 to a percent. </a:t>
                </a:r>
              </a:p>
              <a:p>
                <a:pPr indent="-514350" marL="514350">
                  <a:buFont typeface="+mj-lt"/>
                  <a:buAutoNum startAt="6" type="arabicPeriod"/>
                </a:pPr>
                <a:r>
                  <a:rPr dirty="0" lang="en-US" sz="2800">
                    <a:latin typeface="Bahnschrift"/>
                  </a:rPr>
                  <a:t>Round 1,139.0897 to three decimal places. </a:t>
                </a:r>
              </a:p>
              <a:p>
                <a:pPr indent="-514350" marL="514350">
                  <a:buFont typeface="+mj-lt"/>
                  <a:buAutoNum startAt="6" type="arabicPeriod"/>
                </a:pPr>
                <a:r>
                  <a:rPr dirty="0" lang="en-US" sz="2800">
                    <a:latin typeface="Bahnschrift"/>
                  </a:rPr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b="0" i="1" lang="en-US" smtClean="0" sz="2800">
                            <a:latin charset="0" panose="02040503050406030204" pitchFamily="18" typeface="Cambria Math"/>
                          </a:rPr>
                        </m:ctrlPr>
                      </m:fPr>
                      <m:num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3</m:t>
                        </m:r>
                      </m:num>
                      <m:den>
                        <m:r>
                          <a:rPr b="0" i="1" lang="en-US" smtClean="0" sz="2800">
                            <a:latin charset="0" panose="02040503050406030204" pitchFamily="18"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dirty="0" lang="en-US" sz="2800">
                    <a:latin typeface="Bahnschrift"/>
                  </a:rPr>
                  <a:t> to a percentage. 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035C77A-47C9-E7FB-87C6-279A5E130FEB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980774" y="1697896"/>
                <a:ext cx="10468276" cy="4045683"/>
              </a:xfrm>
              <a:prstGeom prst="rect">
                <a:avLst/>
              </a:prstGeom>
              <a:blipFill>
                <a:blip r:embed="rId2"/>
                <a:stretch>
                  <a:fillRect l="-1281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7C78-91E0-7318-44FC-E74F4FF9CF55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0" y="644842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F284B-71B1-CADB-714E-B825CC9FF68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45861" y="6397625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45658021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D611A79-0C57-9BB1-BE5F-DB20BC88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5" y="222250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dirty="0" lang="en-US" sz="4400"/>
              <a:t>Practice #11-14 </a:t>
            </a:r>
          </a:p>
        </p:txBody>
      </p:sp>
      <mc:AlternateContent xmlns:a14="http://schemas.microsoft.com/office/drawing/2010/main" xmlns:mc="http://schemas.openxmlformats.org/markup-compatibility/2006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0121FD7-5BE0-D89E-5279-DBA3218A95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674" y="1481996"/>
                <a:ext cx="10468276" cy="4045683"/>
              </a:xfrm>
              <a:prstGeom prst="rect">
                <a:avLst/>
              </a:prstGeom>
            </p:spPr>
            <p:txBody>
              <a:bodyPr bIns="45720" lIns="91440" rIns="91440" rtlCol="0" tIns="45720" vert="horz">
                <a:no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20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effectLst>
                      <a:outerShdw algn="tl" blurRad="50800" dir="2700000" dist="38100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514350" marL="514350">
                  <a:buFont typeface="+mj-lt"/>
                  <a:buAutoNum startAt="11" type="arabicPeriod"/>
                </a:pPr>
                <a:r>
                  <a:rPr dirty="0" lang="en-US" sz="2400">
                    <a:latin typeface="Bahnschrift"/>
                  </a:rPr>
                  <a:t>What is 49% of 11.645?</a:t>
                </a:r>
              </a:p>
              <a:p>
                <a:pPr indent="-514350" marL="514350">
                  <a:buFont typeface="+mj-lt"/>
                  <a:buAutoNum startAt="11" type="arabicPeriod"/>
                </a:pPr>
                <a:r>
                  <a:rPr dirty="0" lang="en-US" sz="2400">
                    <a:latin typeface="Bahnschrift"/>
                  </a:rPr>
                  <a:t>Write 3,988,000,000 in scientific notation. </a:t>
                </a:r>
              </a:p>
              <a:p>
                <a:pPr indent="-514350" marL="514350">
                  <a:buFont typeface="+mj-lt"/>
                  <a:buAutoNum startAt="11" type="arabicPeriod"/>
                </a:pPr>
                <a:r>
                  <a:rPr dirty="0" lang="en-US" sz="2400">
                    <a:latin typeface="Bahnschrift"/>
                  </a:rPr>
                  <a:t>Convert 34.75% to a decimal. </a:t>
                </a:r>
              </a:p>
              <a:p>
                <a:pPr indent="-514350" marL="514350">
                  <a:buFont typeface="+mj-lt"/>
                  <a:buAutoNum startAt="11" type="arabicPeriod"/>
                </a:pPr>
                <a:r>
                  <a:rPr dirty="0" lang="en-US" sz="2400">
                    <a:latin typeface="Bahnschrift"/>
                  </a:rPr>
                  <a:t>Arrange these values into descending order: </a:t>
                </a:r>
              </a:p>
              <a:p>
                <a:pPr indent="-514350" lvl="1" marL="97155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i="1" lang="en-US" sz="2400">
                            <a:latin charset="0" panose="02040503050406030204" pitchFamily="18"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i="1" lang="en-US" sz="2400">
                                <a:latin charset="0" panose="02040503050406030204" pitchFamily="18"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>
                                <a:latin charset="0" panose="02040503050406030204" pitchFamily="18" typeface="Cambria Math"/>
                              </a:rPr>
                              <m:t>5.6</m:t>
                            </m:r>
                          </m:e>
                        </m:rad>
                      </m:e>
                    </m:d>
                  </m:oMath>
                </a14:m>
                <a:endParaRPr dirty="0" lang="en-US" sz="2400">
                  <a:latin typeface="Bahnschrift"/>
                </a:endParaRPr>
              </a:p>
              <a:p>
                <a:pPr indent="-514350" lvl="1" marL="9715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charset="0" panose="02040503050406030204" pitchFamily="18" typeface="Cambria Math"/>
                      </a:rPr>
                      <m:t>−</m:t>
                    </m:r>
                    <m:f>
                      <m:fPr>
                        <m:ctrlPr>
                          <a:rPr i="1" lang="en-US" sz="2400">
                            <a:latin charset="0" panose="02040503050406030204" pitchFamily="18"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charset="0" panose="02040503050406030204" pitchFamily="18" typeface="Cambria Math"/>
                          </a:rPr>
                          <m:t>91</m:t>
                        </m:r>
                      </m:num>
                      <m:den>
                        <m:r>
                          <a:rPr lang="en-US" sz="2400">
                            <a:latin charset="0" panose="02040503050406030204" pitchFamily="18" typeface="Cambria Math"/>
                          </a:rPr>
                          <m:t>2.66</m:t>
                        </m:r>
                      </m:den>
                    </m:f>
                  </m:oMath>
                </a14:m>
                <a:endParaRPr dirty="0" lang="en-US" sz="2400">
                  <a:latin typeface="Bahnschrift"/>
                </a:endParaRPr>
              </a:p>
              <a:p>
                <a:pPr indent="-514350" lvl="1" marL="9715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charset="0" panose="02040503050406030204" pitchFamily="18" typeface="Cambria Math"/>
                      </a:rPr>
                      <m:t>4.9 ∗ </m:t>
                    </m:r>
                    <m:sSup>
                      <m:sSupPr>
                        <m:ctrlPr>
                          <a:rPr i="1" lang="en-US" sz="2400">
                            <a:latin charset="0" panose="02040503050406030204" pitchFamily="18" typeface="Cambria Math"/>
                          </a:rPr>
                        </m:ctrlPr>
                      </m:sSupPr>
                      <m:e>
                        <m:r>
                          <a:rPr lang="en-US" sz="2400">
                            <a:latin charset="0" panose="02040503050406030204" pitchFamily="18" typeface="Cambria Math"/>
                          </a:rPr>
                          <m:t>10</m:t>
                        </m:r>
                      </m:e>
                      <m:sup>
                        <m:r>
                          <a:rPr lang="en-US" sz="2400">
                            <a:latin charset="0" panose="02040503050406030204" pitchFamily="18" typeface="Cambria Math"/>
                          </a:rPr>
                          <m:t>8</m:t>
                        </m:r>
                      </m:sup>
                    </m:sSup>
                  </m:oMath>
                </a14:m>
                <a:endParaRPr dirty="0" lang="en-US" sz="2400">
                  <a:latin typeface="Bahnschrift"/>
                </a:endParaRPr>
              </a:p>
              <a:p>
                <a:pPr indent="-514350" lvl="1" marL="971550">
                  <a:buFont typeface="+mj-lt"/>
                  <a:buAutoNum type="alphaLcPeriod"/>
                </a:pPr>
                <a:r>
                  <a:rPr dirty="0" lang="en-US" sz="2400">
                    <a:latin typeface="Bahnschrift"/>
                  </a:rPr>
                  <a:t>0.77% </a:t>
                </a:r>
              </a:p>
              <a:p>
                <a:pPr indent="-514350" lvl="1" marL="971550">
                  <a:buFont typeface="+mj-lt"/>
                  <a:buAutoNum type="alphaLcPeriod"/>
                </a:pPr>
                <a:r>
                  <a:rPr dirty="0" lang="en-US" sz="2400">
                    <a:latin typeface="Bahnschrift"/>
                  </a:rPr>
                  <a:t>6! 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0121FD7-5BE0-D89E-5279-DBA3218A95AE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815674" y="1481996"/>
                <a:ext cx="10468276" cy="4045683"/>
              </a:xfrm>
              <a:prstGeom prst="rect">
                <a:avLst/>
              </a:prstGeom>
              <a:blipFill>
                <a:blip r:embed="rId2"/>
                <a:stretch>
                  <a:fillRect b="-27410" l="-990"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68BD0-6839-4D62-6292-36F29AAF0CE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4644" y="6391275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9A97F-A924-2174-174F-79B9B7B9BBF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43811" y="6448425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44157103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7C7C9F3-A62A-74B1-DFDA-970BC8EC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45" y="373063"/>
            <a:ext cx="10353761" cy="1091371"/>
          </a:xfrm>
        </p:spPr>
        <p:txBody>
          <a:bodyPr>
            <a:normAutofit fontScale="90000"/>
          </a:bodyPr>
          <a:lstStyle/>
          <a:p>
            <a:pPr algn="l"/>
            <a:r>
              <a:rPr dirty="0" lang="en-US" sz="4400"/>
              <a:t>Orientation to r studio: </a:t>
            </a:r>
            <a:br>
              <a:rPr dirty="0" lang="en-US" sz="4400"/>
            </a:br>
            <a:r>
              <a:rPr dirty="0" lang="en-US" sz="4400"/>
              <a:t>Comments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176FE2-8AB9-6A73-0A6C-E91D0D0B9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dirty="0" lang="en-US"/>
              <a:t>### ORIENTATION TO R STUDIO ########################## </a:t>
            </a:r>
          </a:p>
          <a:p>
            <a:pPr indent="0" marL="0">
              <a:buNone/>
            </a:pPr>
            <a:r>
              <a:rPr dirty="0" lang="en-US"/>
              <a:t>Text that follows a "#" symbol is a comment. </a:t>
            </a:r>
          </a:p>
          <a:p>
            <a:pPr indent="0" marL="0">
              <a:buNone/>
            </a:pPr>
            <a:r>
              <a:rPr dirty="0" lang="en-US"/>
              <a:t># Comments don't "do" anything. </a:t>
            </a:r>
          </a:p>
          <a:p>
            <a:pPr indent="0" marL="0">
              <a:buNone/>
            </a:pPr>
            <a:r>
              <a:rPr dirty="0" lang="en-US"/>
              <a:t># They are used for annotations. </a:t>
            </a:r>
          </a:p>
          <a:p>
            <a:pPr indent="0" marL="0">
              <a:buNone/>
            </a:pPr>
            <a:r>
              <a:rPr dirty="0" lang="en-US"/>
              <a:t># To run code, click on a line, or highlight multiple lines, and click "run.“</a:t>
            </a:r>
          </a:p>
          <a:p>
            <a:pPr indent="0" marL="0">
              <a:buNone/>
            </a:pPr>
            <a:r>
              <a:rPr dirty="0" lang="en-US"/>
              <a:t># You can also type ctrl + enter. # Remember: R is case-sensitive!!! </a:t>
            </a:r>
          </a:p>
          <a:p>
            <a:pPr indent="0" marL="0">
              <a:buNone/>
            </a:pPr>
            <a:r>
              <a:rPr dirty="0" lang="en-US"/>
              <a:t>#----------------------------------------------------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9C510-811F-97FE-2C5E-98CBDC09BAE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605EA-BC3C-AAC5-0109-0EA51F04B53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80104455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C01A244-1E1D-67CF-D741-55FDD00E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3DF9044-357D-BCB8-1619-B2C79F71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89" y="473268"/>
            <a:ext cx="10353761" cy="1091371"/>
          </a:xfrm>
        </p:spPr>
        <p:txBody>
          <a:bodyPr>
            <a:normAutofit fontScale="90000"/>
          </a:bodyPr>
          <a:lstStyle/>
          <a:p>
            <a:pPr algn="l"/>
            <a:r>
              <a:rPr dirty="0" lang="en-US" sz="4400"/>
              <a:t>Orientation to r studio:</a:t>
            </a:r>
            <a:br>
              <a:rPr dirty="0" lang="en-US" sz="4400"/>
            </a:br>
            <a:r>
              <a:rPr dirty="0" lang="en-US" sz="4400"/>
              <a:t>Math operations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698E96-0E50-F133-DC92-8D40A1A6E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796220"/>
            <a:ext cx="10353762" cy="4395029"/>
          </a:xfrm>
        </p:spPr>
        <p:txBody>
          <a:bodyPr numCol="2">
            <a:noAutofit/>
          </a:bodyPr>
          <a:lstStyle/>
          <a:p>
            <a:pPr indent="0" marL="0">
              <a:buNone/>
            </a:pPr>
            <a:r>
              <a:rPr dirty="0" lang="en-US" sz="2400"/>
              <a:t>### Basic Math Operations</a:t>
            </a:r>
          </a:p>
          <a:p>
            <a:pPr indent="0" marL="0">
              <a:buNone/>
            </a:pPr>
            <a:r>
              <a:rPr dirty="0" lang="en-US" sz="2400"/>
              <a:t>3 + 7 # addition </a:t>
            </a:r>
          </a:p>
          <a:p>
            <a:pPr indent="0" marL="0">
              <a:buNone/>
            </a:pPr>
            <a:r>
              <a:rPr dirty="0" lang="en-US" sz="2400"/>
              <a:t>11 - 28 # subtraction </a:t>
            </a:r>
          </a:p>
          <a:p>
            <a:pPr indent="0" marL="0">
              <a:buNone/>
            </a:pPr>
            <a:r>
              <a:rPr dirty="0" lang="en-US" sz="2400"/>
              <a:t>4 * 3 # multiplication </a:t>
            </a:r>
          </a:p>
          <a:p>
            <a:pPr indent="0" marL="0">
              <a:buNone/>
            </a:pPr>
            <a:r>
              <a:rPr dirty="0" lang="en-US" sz="2400"/>
              <a:t>9 / -8 # division </a:t>
            </a:r>
          </a:p>
          <a:p>
            <a:pPr indent="0" marL="0">
              <a:buNone/>
            </a:pPr>
            <a:r>
              <a:rPr dirty="0" lang="en-US" sz="2400"/>
              <a:t>3**2 # exponents </a:t>
            </a:r>
          </a:p>
          <a:p>
            <a:pPr indent="0" marL="0">
              <a:buNone/>
            </a:pPr>
            <a:r>
              <a:rPr dirty="0" lang="en-US" sz="2400"/>
              <a:t>3^2</a:t>
            </a:r>
          </a:p>
          <a:p>
            <a:pPr indent="0" marL="0">
              <a:buNone/>
            </a:pPr>
            <a:r>
              <a:rPr dirty="0" lang="en-US" sz="2400"/>
              <a:t>sqrt(77) # square root </a:t>
            </a:r>
          </a:p>
          <a:p>
            <a:pPr indent="0" marL="0">
              <a:buNone/>
            </a:pPr>
            <a:r>
              <a:rPr dirty="0" lang="en-US" sz="2400"/>
              <a:t>8^(1/3) # cube root </a:t>
            </a:r>
          </a:p>
          <a:p>
            <a:pPr indent="0" marL="0">
              <a:buNone/>
            </a:pPr>
            <a:r>
              <a:rPr dirty="0" lang="en-US" sz="2400"/>
              <a:t>factorial(4) # factorial = 4!</a:t>
            </a:r>
          </a:p>
          <a:p>
            <a:pPr indent="0" marL="0">
              <a:buNone/>
            </a:pPr>
            <a:r>
              <a:rPr dirty="0" lang="en-US" sz="2400"/>
              <a:t># order of operations: PEMDAS </a:t>
            </a:r>
          </a:p>
          <a:p>
            <a:pPr indent="0" marL="0">
              <a:buNone/>
            </a:pPr>
            <a:r>
              <a:rPr dirty="0" lang="en-US" sz="2400"/>
              <a:t>3-7*88/-2</a:t>
            </a:r>
          </a:p>
          <a:p>
            <a:pPr indent="0" marL="0">
              <a:buNone/>
            </a:pPr>
            <a:r>
              <a:rPr dirty="0" lang="en-US" sz="2400"/>
              <a:t>(3-7)*88/-2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72CD3-D26B-C1BE-ED4E-019C85D73CFD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8A77C-E4BC-0238-726A-30375FCCCB3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32948442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6D2C6DE-13E4-3664-F2DC-C74D6AE9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4B06-06AE-B22B-7365-3B370156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45" y="190500"/>
            <a:ext cx="10353761" cy="1091371"/>
          </a:xfrm>
        </p:spPr>
        <p:txBody>
          <a:bodyPr>
            <a:normAutofit fontScale="90000"/>
          </a:bodyPr>
          <a:lstStyle/>
          <a:p>
            <a:pPr algn="l"/>
            <a:r>
              <a:rPr dirty="0" lang="en-US" sz="4400"/>
              <a:t>Orientation to r studio:</a:t>
            </a:r>
            <a:br>
              <a:rPr dirty="0" lang="en-US" sz="4400"/>
            </a:br>
            <a:r>
              <a:rPr dirty="0" lang="en-US" sz="4400"/>
              <a:t>creating objects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622059-84BD-1429-EA4D-553C192DE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459670"/>
            <a:ext cx="10353762" cy="4395029"/>
          </a:xfrm>
        </p:spPr>
        <p:txBody>
          <a:bodyPr numCol="2">
            <a:noAutofit/>
          </a:bodyPr>
          <a:lstStyle/>
          <a:p>
            <a:pPr indent="0" marL="0">
              <a:buNone/>
            </a:pPr>
            <a:r>
              <a:rPr dirty="0" lang="en-US" sz="2400"/>
              <a:t>### Creating Objects</a:t>
            </a:r>
          </a:p>
          <a:p>
            <a:pPr indent="0" marL="0">
              <a:buNone/>
            </a:pPr>
            <a:r>
              <a:rPr dirty="0" lang="en-US" sz="2400"/>
              <a:t># To create an object: object_name &lt;- assigned_value </a:t>
            </a:r>
          </a:p>
          <a:p>
            <a:pPr indent="0" marL="0">
              <a:buNone/>
            </a:pPr>
            <a:r>
              <a:rPr dirty="0" lang="en-US" sz="2400"/>
              <a:t>a &lt;- 3 # numerical objects</a:t>
            </a:r>
          </a:p>
          <a:p>
            <a:pPr indent="0" marL="0">
              <a:buNone/>
            </a:pPr>
            <a:r>
              <a:rPr dirty="0" lang="en-US" sz="2400"/>
              <a:t>print(a)</a:t>
            </a:r>
          </a:p>
          <a:p>
            <a:pPr indent="0" marL="0">
              <a:buNone/>
            </a:pPr>
            <a:r>
              <a:rPr dirty="0" lang="en-US" sz="2400"/>
              <a:t>print(A)</a:t>
            </a:r>
          </a:p>
          <a:p>
            <a:pPr indent="0" marL="0">
              <a:buNone/>
            </a:pPr>
            <a:r>
              <a:rPr dirty="0" lang="en-US" sz="2400"/>
              <a:t>A &lt;- 5</a:t>
            </a:r>
          </a:p>
          <a:p>
            <a:pPr indent="0" marL="0">
              <a:buNone/>
            </a:pPr>
            <a:r>
              <a:rPr dirty="0" lang="en-US" sz="2400"/>
              <a:t>a &lt;- -7 # R will assume the last line you ran (check environment)</a:t>
            </a:r>
          </a:p>
          <a:p>
            <a:pPr indent="0" marL="0">
              <a:buNone/>
            </a:pPr>
            <a:r>
              <a:rPr dirty="0" lang="en-US" sz="2400"/>
              <a:t>a + Aa - A2*a+7/A</a:t>
            </a:r>
          </a:p>
          <a:p>
            <a:pPr indent="0" marL="0">
              <a:buNone/>
            </a:pPr>
            <a:r>
              <a:rPr dirty="0" lang="en-US" sz="2400"/>
              <a:t>color &lt;- "yellow" # character/string objects </a:t>
            </a:r>
          </a:p>
          <a:p>
            <a:pPr indent="0" marL="0">
              <a:buNone/>
            </a:pPr>
            <a:r>
              <a:rPr dirty="0" lang="en-US" sz="2400"/>
              <a:t>print(color)</a:t>
            </a:r>
          </a:p>
          <a:p>
            <a:pPr indent="0" marL="0">
              <a:buNone/>
            </a:pPr>
            <a:r>
              <a:rPr dirty="0" lang="en-US" sz="2400"/>
              <a:t>color2 &lt;- "green“</a:t>
            </a:r>
          </a:p>
          <a:p>
            <a:pPr indent="0" marL="0">
              <a:buNone/>
            </a:pPr>
            <a:r>
              <a:rPr dirty="0" lang="en-US" sz="2400"/>
              <a:t>shape &lt;- "square and circle“</a:t>
            </a:r>
          </a:p>
          <a:p>
            <a:pPr indent="0" marL="0">
              <a:buNone/>
            </a:pPr>
            <a:r>
              <a:rPr dirty="0" lang="en-US" sz="2400"/>
              <a:t>zip &lt;- "30062“</a:t>
            </a:r>
          </a:p>
          <a:p>
            <a:pPr indent="0" marL="0">
              <a:buNone/>
            </a:pPr>
            <a:r>
              <a:rPr dirty="0" lang="en-US" sz="2400"/>
              <a:t>zip + 3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D81DC-9D1B-1F88-8114-99FA0AEF3426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0387E-EBB4-17BC-8964-3C119C906E6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650685526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A4F4227-6B3E-C615-80F7-8EBF34D1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C8A1D2-5B25-4821-3652-94473105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18" y="435170"/>
            <a:ext cx="10353761" cy="1091371"/>
          </a:xfrm>
        </p:spPr>
        <p:txBody>
          <a:bodyPr>
            <a:normAutofit fontScale="90000"/>
          </a:bodyPr>
          <a:lstStyle/>
          <a:p>
            <a:pPr algn="l"/>
            <a:r>
              <a:rPr dirty="0" lang="en-US" sz="4400"/>
              <a:t>Orientation to r studio:</a:t>
            </a:r>
            <a:br>
              <a:rPr dirty="0" lang="en-US" sz="4400"/>
            </a:br>
            <a:r>
              <a:rPr dirty="0" lang="en-US" sz="4400"/>
              <a:t>creating vectors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D31845-BEF1-7904-273A-B2AC6D277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8" y="2044285"/>
            <a:ext cx="10353762" cy="2769430"/>
          </a:xfrm>
        </p:spPr>
        <p:txBody>
          <a:bodyPr numCol="1">
            <a:noAutofit/>
          </a:bodyPr>
          <a:lstStyle/>
          <a:p>
            <a:pPr indent="0" marL="0">
              <a:buNone/>
            </a:pPr>
            <a:r>
              <a:rPr dirty="0" lang="en-US" sz="2400"/>
              <a:t># A vector is an object that contains a list of values. </a:t>
            </a:r>
          </a:p>
          <a:p>
            <a:pPr indent="0" marL="0">
              <a:buNone/>
            </a:pPr>
            <a:r>
              <a:rPr dirty="0" lang="en-US" sz="2400"/>
              <a:t>my_numbers &lt;- c(3, 5.55, -6, 12.0003) # numerical </a:t>
            </a:r>
          </a:p>
          <a:p>
            <a:pPr indent="0" marL="0">
              <a:buNone/>
            </a:pPr>
            <a:r>
              <a:rPr dirty="0" lang="en-US" sz="2400"/>
              <a:t>print(my_numbers)</a:t>
            </a:r>
          </a:p>
          <a:p>
            <a:pPr indent="0" marL="0">
              <a:buNone/>
            </a:pPr>
            <a:r>
              <a:rPr dirty="0" lang="en-US" sz="2400"/>
              <a:t>friends &lt;- c("Matt", "Karen", "Foggy", "Claire") # character </a:t>
            </a:r>
          </a:p>
          <a:p>
            <a:pPr indent="0" marL="0">
              <a:buNone/>
            </a:pPr>
            <a:r>
              <a:rPr dirty="0" lang="en-US" sz="2400"/>
              <a:t>print(friends)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8A69F-9CA4-C7B5-90EF-7054061EDD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34DB1-523E-C932-4436-C4AD3A71214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34721360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7CC9701-40C6-483B-0241-20456269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1B3080-7908-5D95-4C1B-CED2A961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45" y="190500"/>
            <a:ext cx="10353761" cy="1091371"/>
          </a:xfrm>
        </p:spPr>
        <p:txBody>
          <a:bodyPr>
            <a:normAutofit fontScale="90000"/>
          </a:bodyPr>
          <a:lstStyle/>
          <a:p>
            <a:pPr algn="l"/>
            <a:r>
              <a:rPr dirty="0" lang="en-US" sz="4400"/>
              <a:t>Orientation to r studio:</a:t>
            </a:r>
            <a:br>
              <a:rPr dirty="0" lang="en-US" sz="4400"/>
            </a:br>
            <a:r>
              <a:rPr dirty="0" lang="en-US" sz="4400"/>
              <a:t>saving a script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234084-7A5B-A290-1E7A-2E7CECD2C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59" y="1580735"/>
            <a:ext cx="10866482" cy="2769430"/>
          </a:xfrm>
        </p:spPr>
        <p:txBody>
          <a:bodyPr numCol="1">
            <a:noAutofit/>
          </a:bodyPr>
          <a:lstStyle/>
          <a:p>
            <a:pPr indent="0" marL="0">
              <a:buNone/>
            </a:pPr>
            <a:r>
              <a:rPr dirty="0" lang="en-US" sz="2400"/>
              <a:t>### Saving a Script ################################## </a:t>
            </a:r>
          </a:p>
          <a:p>
            <a:pPr indent="0" marL="0">
              <a:buNone/>
            </a:pPr>
            <a:r>
              <a:rPr dirty="0" lang="en-US" sz="2400"/>
              <a:t># Always save your R Studio work in a script. </a:t>
            </a:r>
          </a:p>
          <a:p>
            <a:pPr indent="0" marL="0">
              <a:buNone/>
            </a:pPr>
            <a:r>
              <a:rPr dirty="0" lang="en-US" sz="2400"/>
              <a:t># Go to File - New File - R Script.</a:t>
            </a:r>
          </a:p>
          <a:p>
            <a:pPr indent="0" marL="0">
              <a:buNone/>
            </a:pPr>
            <a:r>
              <a:rPr dirty="0" lang="en-US" sz="2400"/>
              <a:t># Save a file for each assignment, for example "ch2hw.R".</a:t>
            </a:r>
          </a:p>
          <a:p>
            <a:pPr indent="0" marL="0">
              <a:buNone/>
            </a:pPr>
            <a:r>
              <a:rPr dirty="0" lang="en-US" sz="2400"/>
              <a:t># An R script is saved as a .R file.</a:t>
            </a:r>
          </a:p>
          <a:p>
            <a:pPr indent="0" marL="0">
              <a:buNone/>
            </a:pPr>
            <a:r>
              <a:rPr dirty="0" lang="en-US" sz="2400"/>
              <a:t># You can save and edit a script like a Word document. </a:t>
            </a:r>
          </a:p>
          <a:p>
            <a:pPr indent="0" marL="0">
              <a:buNone/>
            </a:pPr>
            <a:r>
              <a:rPr dirty="0" lang="en-US" sz="2400"/>
              <a:t># Type and run your code in the script, </a:t>
            </a:r>
          </a:p>
          <a:p>
            <a:pPr indent="0" marL="0">
              <a:buNone/>
            </a:pPr>
            <a:r>
              <a:rPr dirty="0" lang="en-US" sz="2400"/>
              <a:t># NOT directly in the console.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672EF-CC26-E743-F72C-EBC5B98BF05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1A22F-4554-63D5-2677-7270A593F0B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28641613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306C9FC-0078-396C-0481-D53E23D1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E7EC0D-C518-8979-01CA-B330F10C9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45" y="190500"/>
            <a:ext cx="10353761" cy="1091371"/>
          </a:xfrm>
        </p:spPr>
        <p:txBody>
          <a:bodyPr>
            <a:normAutofit/>
          </a:bodyPr>
          <a:lstStyle/>
          <a:p>
            <a:pPr algn="l"/>
            <a:r>
              <a:rPr dirty="0" lang="en-US" sz="4400"/>
              <a:t>Orientation practice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BDAB4E-9B6C-74E7-6EC1-215A52447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59" y="1333084"/>
            <a:ext cx="10866482" cy="4908965"/>
          </a:xfrm>
        </p:spPr>
        <p:txBody>
          <a:bodyPr numCol="1">
            <a:noAutofit/>
          </a:bodyPr>
          <a:lstStyle/>
          <a:p>
            <a:pPr indent="0" marL="0">
              <a:buNone/>
            </a:pPr>
            <a:r>
              <a:rPr dirty="0" lang="en-US" sz="2400"/>
              <a:t>#1. Save your script as "Orientation_Practice.R". </a:t>
            </a:r>
          </a:p>
          <a:p>
            <a:pPr indent="0" marL="0">
              <a:buNone/>
            </a:pPr>
            <a:r>
              <a:rPr dirty="0" lang="en-US" sz="2400"/>
              <a:t>#2. Solve: ((4/3)^3 - 8.44 + sqrt(98))/-7 </a:t>
            </a:r>
          </a:p>
          <a:p>
            <a:pPr indent="0" marL="0">
              <a:buNone/>
            </a:pPr>
            <a:r>
              <a:rPr dirty="0" lang="en-US" sz="2400"/>
              <a:t>#3. Make an object called B and assign it a value of 33.978. </a:t>
            </a:r>
          </a:p>
          <a:p>
            <a:pPr indent="0" marL="0">
              <a:buNone/>
            </a:pPr>
            <a:r>
              <a:rPr dirty="0" lang="en-US" sz="2400"/>
              <a:t>#4. Make an object called C and assign it a value of 7!. </a:t>
            </a:r>
          </a:p>
          <a:p>
            <a:pPr indent="0" marL="0">
              <a:buNone/>
            </a:pPr>
            <a:r>
              <a:rPr dirty="0" lang="en-US" sz="2400"/>
              <a:t>#5. Solve: B + 2*C </a:t>
            </a:r>
          </a:p>
          <a:p>
            <a:pPr indent="0" marL="0">
              <a:buNone/>
            </a:pPr>
            <a:r>
              <a:rPr dirty="0" lang="en-US" sz="2400"/>
              <a:t>#6. Make a vector called numbers that includes: your height in inches, your age, and the number of siblings you have. Print it in the console. </a:t>
            </a:r>
          </a:p>
          <a:p>
            <a:pPr indent="0" marL="0">
              <a:buNone/>
            </a:pPr>
            <a:r>
              <a:rPr dirty="0" lang="en-US" sz="2400"/>
              <a:t>#7. Make a vector called family that includes the names of four family members. Print it in the console.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E47E7-548F-CAF7-9DDB-5FE24F61EA3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1944" y="6422830"/>
            <a:ext cx="6672865" cy="365125"/>
          </a:xfrm>
        </p:spPr>
        <p:txBody>
          <a:bodyPr/>
          <a:lstStyle/>
          <a:p>
            <a:r>
              <a:rPr dirty="0" lang="en-US"/>
              <a:t>Bowen 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AF10C-4043-5E15-CF04-BD43F72A4C3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6511" y="6422829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462756650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ustom 1">
      <a:majorFont>
        <a:latin typeface="Book Antiqua"/>
        <a:ea typeface=""/>
        <a:cs typeface=""/>
      </a:majorFont>
      <a:minorFont>
        <a:latin typeface="Calibri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141</TotalTime>
  <Words>1304</Words>
  <Application>Microsoft Office PowerPoint</Application>
  <PresentationFormat>Widescreen</PresentationFormat>
  <Paragraphs>164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Damask</vt:lpstr>
      <vt:lpstr>Probability  and  Data analysis</vt:lpstr>
      <vt:lpstr>First week checklist </vt:lpstr>
      <vt:lpstr>How to get to aleks</vt:lpstr>
      <vt:lpstr>r and r studio are two  separate downloads</vt:lpstr>
      <vt:lpstr>Prerequisite math skills </vt:lpstr>
      <vt:lpstr>Practice #1-5 </vt:lpstr>
      <vt:lpstr>Practice #6-10 </vt:lpstr>
      <vt:lpstr>Practice #11-14 </vt:lpstr>
      <vt:lpstr>Orientation to r studio:  Comments </vt:lpstr>
      <vt:lpstr>Orientation to r studio: Math operations </vt:lpstr>
      <vt:lpstr>Orientation to r studio: creating objects  </vt:lpstr>
      <vt:lpstr>Orientation to r studio: creating vectors  </vt:lpstr>
      <vt:lpstr>Orientation to r studio: saving a script  </vt:lpstr>
      <vt:lpstr>Orientation practice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2025-02-26T19:26:32Z</dcterms:created>
  <cp:lastModifiedBy>Bowen Cheek</cp:lastModifiedBy>
  <dcterms:modified xsi:type="dcterms:W3CDTF">2026-04-23T15:13:48Z</dcterms:modified>
  <cp:revision>4</cp:revision>
  <dc:title>Chapter 0 Teaching Notes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data-panorama-remediation-history">
    <vt:lpwstr>[{"isReadingOrderVerified":"true","pageNumber":0,"geomIndex":-1,"issueTypeId":"ReadingOrderIssue:PPTX","dismiss":false,"pageNumbers":[1],"coordinatesList":[[10.0,10.0,2.0,2.0]]},{"title":"Chapter 0 Teaching Notes","pageNumber":0,"geomIndex":-1,"issueTypeId":"MissingTitleIssue:PPTX","dismiss":false,"pageNumbers":[1]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pageNumber":0,"geomIndex":453,"lastGeomIndex":481,"rowIndex":-1,"cellIndex":-1,"textElement":"https://cran.r-project.org/","hyperlinkContext":"Link to download R ","isLinkDescriptionVerified":false,"identifiers":{"PARAGRAPH_ID":"17","RUN_ID":"0","SLIDE_ID":"3"},"issueTypeId":"HyperlinkContextIssue:PPTX","dismiss":false,"pageNumbers":[4],"coordinatesList":[[215.0399932861328,201.95999145507812,213.7755584716797,10.020000457763672]]},{"pageNumber":0,"geomIndex":484,"lastGeomIndex":512,"rowIndex":-1,"cellIndex":-1,"textElement":"https://posit.co/downloads/","hyperlinkContext":"Link to download R Studio","isLinkDescriptionVerified":false,"identifiers":{"PARAGRAPH_ID":"22","RUN_ID":"0","SLIDE_ID":"3"},"issueTypeId":"HyperlinkContextIssue:PPTX","dismiss":false,"pageNumbers":[4],"coordinatesList":[[215.0399932861328,396.02001953125,235.90907287597656,10.020000457763672]]},{"isReadingOrderVerified":"true","pageNumber":0,"geomIndex":-1,"issueTypeId":"ReadingOrderIssue:PPTX","dismiss":false,"pageNumbers":[5],"coordinatesList":[[10.0,10.0,2.0,2.0]]}]</vt:lpwstr>
  </property>
  <property pid="3" fmtid="{D5CDD505-2E9C-101B-9397-08002B2CF9AE}" name="ReadingOrderVerifiedPages">
    <vt:lpwstr>1,3,4,5</vt:lpwstr>
  </property>
  <property pid="4" fmtid="{D5CDD505-2E9C-101B-9397-08002B2CF9AE}" name="VerifiedLinkDescriptions">
    <vt:lpwstr>https://cran.r-project.org/,https://posit.co/downloads/</vt:lpwstr>
  </property>
</Properties>
</file>