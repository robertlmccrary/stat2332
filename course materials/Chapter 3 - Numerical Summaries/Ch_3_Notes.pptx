
<file path=[Content_Types].xml><?xml version="1.0" encoding="utf-8"?>
<Types xmlns="http://schemas.openxmlformats.org/package/2006/content-types">
  <Default ContentType="image/jpeg" Extension="jpeg"/>
  <Default ContentType="image/jpeg" Extension="jp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6" r:id="rId2"/>
    <p:sldId id="257" r:id="rId3"/>
    <p:sldId id="258" r:id="rId4"/>
    <p:sldId id="290" r:id="rId5"/>
    <p:sldId id="259" r:id="rId6"/>
    <p:sldId id="260" r:id="rId7"/>
    <p:sldId id="261" r:id="rId8"/>
    <p:sldId id="262" r:id="rId9"/>
    <p:sldId id="263" r:id="rId10"/>
    <p:sldId id="264" r:id="rId11"/>
    <p:sldId id="291"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92" r:id="rId37"/>
    <p:sldId id="289"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A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81676B-136C-4310-92A9-5AA241A6E865}" v="44" dt="2026-06-02T15:41:30.9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62" autoAdjust="0"/>
    <p:restoredTop sz="94660"/>
  </p:normalViewPr>
  <p:slideViewPr>
    <p:cSldViewPr snapToGrid="0">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slides/slide38.xml" Type="http://schemas.openxmlformats.org/officeDocument/2006/relationships/slide"/><Relationship Id="rId4" Target="slides/slide3.xml" Type="http://schemas.openxmlformats.org/officeDocument/2006/relationships/slide"/><Relationship Id="rId40" Target="slides/slide39.xml" Type="http://schemas.openxmlformats.org/officeDocument/2006/relationships/slide"/><Relationship Id="rId41" Target="slides/slide40.xml" Type="http://schemas.openxmlformats.org/officeDocument/2006/relationships/slide"/><Relationship Id="rId42" Target="slides/slide41.xml" Type="http://schemas.openxmlformats.org/officeDocument/2006/relationships/slide"/><Relationship Id="rId43" Target="slides/slide42.xml" Type="http://schemas.openxmlformats.org/officeDocument/2006/relationships/slide"/><Relationship Id="rId44" Target="slides/slide43.xml" Type="http://schemas.openxmlformats.org/officeDocument/2006/relationships/slide"/><Relationship Id="rId45" Target="slides/slide44.xml" Type="http://schemas.openxmlformats.org/officeDocument/2006/relationships/slide"/><Relationship Id="rId46" Target="notesMasters/notesMaster1.xml" Type="http://schemas.openxmlformats.org/officeDocument/2006/relationships/notesMaster"/><Relationship Id="rId47" Target="presProps.xml" Type="http://schemas.openxmlformats.org/officeDocument/2006/relationships/presProps"/><Relationship Id="rId48" Target="viewProps.xml" Type="http://schemas.openxmlformats.org/officeDocument/2006/relationships/viewProps"/><Relationship Id="rId49" Target="theme/theme1.xml" Type="http://schemas.openxmlformats.org/officeDocument/2006/relationships/theme"/><Relationship Id="rId5" Target="slides/slide4.xml" Type="http://schemas.openxmlformats.org/officeDocument/2006/relationships/slide"/><Relationship Id="rId50" Target="tableStyles.xml" Type="http://schemas.openxmlformats.org/officeDocument/2006/relationships/tableStyles"/><Relationship Id="rId51" Target="changesInfos/changesInfo1.xml" Type="http://schemas.microsoft.com/office/2016/11/relationships/changesInfo"/><Relationship Id="rId52" Target="revisionInfo.xml" Type="http://schemas.microsoft.com/office/2015/10/relationships/revisionInfo"/><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wen Cheek" userId="8fca192e-0677-4b46-9386-7af871cc0c0f" providerId="ADAL" clId="{539CF98A-204F-498C-B6D5-5A6451AD35FD}"/>
    <pc:docChg chg="undo custSel addSld modSld modMainMaster">
      <pc:chgData name="Bowen Cheek" userId="8fca192e-0677-4b46-9386-7af871cc0c0f" providerId="ADAL" clId="{539CF98A-204F-498C-B6D5-5A6451AD35FD}" dt="2026-06-02T15:44:38.375" v="4155" actId="20577"/>
      <pc:docMkLst>
        <pc:docMk/>
      </pc:docMkLst>
      <pc:sldChg chg="addSp modSp new mod">
        <pc:chgData name="Bowen Cheek" userId="8fca192e-0677-4b46-9386-7af871cc0c0f" providerId="ADAL" clId="{539CF98A-204F-498C-B6D5-5A6451AD35FD}" dt="2026-06-02T15:29:06.528" v="3349" actId="14100"/>
        <pc:sldMkLst>
          <pc:docMk/>
          <pc:sldMk cId="3497233173" sldId="259"/>
        </pc:sldMkLst>
        <pc:picChg chg="add mod">
          <ac:chgData name="Bowen Cheek" userId="8fca192e-0677-4b46-9386-7af871cc0c0f" providerId="ADAL" clId="{539CF98A-204F-498C-B6D5-5A6451AD35FD}" dt="2026-06-02T15:29:06.528" v="3349" actId="14100"/>
          <ac:picMkLst>
            <pc:docMk/>
            <pc:sldMk cId="3497233173" sldId="259"/>
            <ac:picMk id="7" creationId="{21A706CA-3E8E-4EDE-3D43-D515149B50C3}"/>
          </ac:picMkLst>
        </pc:picChg>
      </pc:sldChg>
      <pc:sldChg chg="modSp mod">
        <pc:chgData name="Bowen Cheek" userId="8fca192e-0677-4b46-9386-7af871cc0c0f" providerId="ADAL" clId="{539CF98A-204F-498C-B6D5-5A6451AD35FD}" dt="2026-06-02T15:38:02.398" v="3839" actId="27636"/>
        <pc:sldMkLst>
          <pc:docMk/>
          <pc:sldMk cId="4197074660" sldId="296"/>
        </pc:sldMkLst>
        <pc:spChg chg="mod">
          <ac:chgData name="Bowen Cheek" userId="8fca192e-0677-4b46-9386-7af871cc0c0f" providerId="ADAL" clId="{539CF98A-204F-498C-B6D5-5A6451AD35FD}" dt="2026-06-02T15:38:02.398" v="3839" actId="27636"/>
          <ac:spMkLst>
            <pc:docMk/>
            <pc:sldMk cId="4197074660" sldId="296"/>
            <ac:spMk id="3" creationId="{2B1D57F7-E987-04BA-CD18-7F484BC4D8F7}"/>
          </ac:spMkLst>
        </pc:spChg>
      </pc:sldChg>
      <pc:sldChg chg="addSp delSp modSp new mod">
        <pc:chgData name="Bowen Cheek" userId="8fca192e-0677-4b46-9386-7af871cc0c0f" providerId="ADAL" clId="{539CF98A-204F-498C-B6D5-5A6451AD35FD}" dt="2026-06-02T15:40:20.710" v="3884" actId="22"/>
        <pc:sldMkLst>
          <pc:docMk/>
          <pc:sldMk cId="2621130978" sldId="297"/>
        </pc:sldMkLst>
        <pc:spChg chg="mod">
          <ac:chgData name="Bowen Cheek" userId="8fca192e-0677-4b46-9386-7af871cc0c0f" providerId="ADAL" clId="{539CF98A-204F-498C-B6D5-5A6451AD35FD}" dt="2026-06-02T15:39:41.373" v="3883" actId="20577"/>
          <ac:spMkLst>
            <pc:docMk/>
            <pc:sldMk cId="2621130978" sldId="297"/>
            <ac:spMk id="2" creationId="{F40F3EBA-276B-435B-C502-37B0915B03DA}"/>
          </ac:spMkLst>
        </pc:spChg>
        <pc:spChg chg="del">
          <ac:chgData name="Bowen Cheek" userId="8fca192e-0677-4b46-9386-7af871cc0c0f" providerId="ADAL" clId="{539CF98A-204F-498C-B6D5-5A6451AD35FD}" dt="2026-06-02T15:40:20.710" v="3884" actId="22"/>
          <ac:spMkLst>
            <pc:docMk/>
            <pc:sldMk cId="2621130978" sldId="297"/>
            <ac:spMk id="3" creationId="{6F7F042C-EC5B-CD73-4101-B044CF9A7856}"/>
          </ac:spMkLst>
        </pc:spChg>
        <pc:picChg chg="add mod ord">
          <ac:chgData name="Bowen Cheek" userId="8fca192e-0677-4b46-9386-7af871cc0c0f" providerId="ADAL" clId="{539CF98A-204F-498C-B6D5-5A6451AD35FD}" dt="2026-06-02T15:40:20.710" v="3884" actId="22"/>
          <ac:picMkLst>
            <pc:docMk/>
            <pc:sldMk cId="2621130978" sldId="297"/>
            <ac:picMk id="7" creationId="{6B598E33-8FC0-EF8A-664D-86CE868B2927}"/>
          </ac:picMkLst>
        </pc:picChg>
      </pc:sldChg>
      <pc:sldChg chg="addSp delSp modSp new mod">
        <pc:chgData name="Bowen Cheek" userId="8fca192e-0677-4b46-9386-7af871cc0c0f" providerId="ADAL" clId="{539CF98A-204F-498C-B6D5-5A6451AD35FD}" dt="2026-06-02T15:41:58.163" v="3911" actId="1076"/>
        <pc:sldMkLst>
          <pc:docMk/>
          <pc:sldMk cId="195775569" sldId="298"/>
        </pc:sldMkLst>
        <pc:spChg chg="mod">
          <ac:chgData name="Bowen Cheek" userId="8fca192e-0677-4b46-9386-7af871cc0c0f" providerId="ADAL" clId="{539CF98A-204F-498C-B6D5-5A6451AD35FD}" dt="2026-06-02T15:41:50.068" v="3909" actId="1076"/>
          <ac:spMkLst>
            <pc:docMk/>
            <pc:sldMk cId="195775569" sldId="298"/>
            <ac:spMk id="2" creationId="{AA970BD5-C5A7-803E-4C51-9273E4848BB7}"/>
          </ac:spMkLst>
        </pc:spChg>
        <pc:spChg chg="del mod">
          <ac:chgData name="Bowen Cheek" userId="8fca192e-0677-4b46-9386-7af871cc0c0f" providerId="ADAL" clId="{539CF98A-204F-498C-B6D5-5A6451AD35FD}" dt="2026-06-02T15:41:31" v="3887" actId="22"/>
          <ac:spMkLst>
            <pc:docMk/>
            <pc:sldMk cId="195775569" sldId="298"/>
            <ac:spMk id="3" creationId="{219434C0-2011-3554-B86E-26992FF9CDDF}"/>
          </ac:spMkLst>
        </pc:spChg>
        <pc:picChg chg="add mod ord">
          <ac:chgData name="Bowen Cheek" userId="8fca192e-0677-4b46-9386-7af871cc0c0f" providerId="ADAL" clId="{539CF98A-204F-498C-B6D5-5A6451AD35FD}" dt="2026-06-02T15:41:58.163" v="3911" actId="1076"/>
          <ac:picMkLst>
            <pc:docMk/>
            <pc:sldMk cId="195775569" sldId="298"/>
            <ac:picMk id="7" creationId="{4CF443FF-C3C5-FD3C-984F-23B06EB0651F}"/>
          </ac:picMkLst>
        </pc:picChg>
      </pc:sldChg>
      <pc:sldChg chg="modSp new mod">
        <pc:chgData name="Bowen Cheek" userId="8fca192e-0677-4b46-9386-7af871cc0c0f" providerId="ADAL" clId="{539CF98A-204F-498C-B6D5-5A6451AD35FD}" dt="2026-06-02T15:44:38.375" v="4155" actId="20577"/>
        <pc:sldMkLst>
          <pc:docMk/>
          <pc:sldMk cId="994944916" sldId="299"/>
        </pc:sldMkLst>
        <pc:spChg chg="mod">
          <ac:chgData name="Bowen Cheek" userId="8fca192e-0677-4b46-9386-7af871cc0c0f" providerId="ADAL" clId="{539CF98A-204F-498C-B6D5-5A6451AD35FD}" dt="2026-06-02T15:42:49.040" v="3932" actId="20577"/>
          <ac:spMkLst>
            <pc:docMk/>
            <pc:sldMk cId="994944916" sldId="299"/>
            <ac:spMk id="2" creationId="{3211D134-9BBE-7933-9F2A-1ED9824FA110}"/>
          </ac:spMkLst>
        </pc:spChg>
        <pc:spChg chg="mod">
          <ac:chgData name="Bowen Cheek" userId="8fca192e-0677-4b46-9386-7af871cc0c0f" providerId="ADAL" clId="{539CF98A-204F-498C-B6D5-5A6451AD35FD}" dt="2026-06-02T15:44:38.375" v="4155" actId="20577"/>
          <ac:spMkLst>
            <pc:docMk/>
            <pc:sldMk cId="994944916" sldId="299"/>
            <ac:spMk id="3" creationId="{B17A91D2-0A64-9881-C460-7D17AA6D7EFE}"/>
          </ac:spMkLst>
        </pc:spChg>
      </pc:sldChg>
    </pc:docChg>
  </pc:docChgLst>
</pc:chgInfo>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FD2A6A-34CD-4376-B0BB-78FD60AC0E9B}" type="datetimeFigureOut">
              <a:rPr lang="en-US" smtClean="0"/>
              <a:t>6/2/2026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803D8F-515A-4113-A8EF-74200F872D02}" type="slidenum">
              <a:rPr lang="en-US" smtClean="0"/>
              <a:t>‹#›</a:t>
            </a:fld>
            <a:endParaRPr lang="en-US"/>
          </a:p>
        </p:txBody>
      </p:sp>
    </p:spTree>
    <p:extLst>
      <p:ext uri="{BB962C8B-B14F-4D97-AF65-F5344CB8AC3E}">
        <p14:creationId xmlns:p14="http://schemas.microsoft.com/office/powerpoint/2010/main" val="3361601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2BB02A-7DCB-4F98-8C38-56DC32866EF4}" type="datetime1">
              <a:rPr lang="en-US" smtClean="0"/>
              <a:t>6/2/2026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77C60B-80BF-4321-88D7-4D242AEC0B01}" type="datetime1">
              <a:rPr lang="en-US" smtClean="0"/>
              <a:t>6/2/2026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6472C9-09FC-4646-A656-1969E49C75EB}" type="datetime1">
              <a:rPr lang="en-US" smtClean="0"/>
              <a:t>6/2/2026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98C0BE-8BE5-45E6-ABD1-34C93046D652}" type="datetime1">
              <a:rPr lang="en-US" smtClean="0"/>
              <a:t>6/2/2026</a:t>
            </a:fld>
            <a:endParaRPr lang="en-US"/>
          </a:p>
        </p:txBody>
      </p:sp>
      <p:sp>
        <p:nvSpPr>
          <p:cNvPr id="6" name="Footer Placeholder 5"/>
          <p:cNvSpPr>
            <a:spLocks noGrp="1"/>
          </p:cNvSpPr>
          <p:nvPr>
            <p:ph type="ftr" sz="quarter" idx="11"/>
          </p:nvPr>
        </p:nvSpPr>
        <p:spPr/>
        <p:txBody>
          <a:bodyPr/>
          <a:lstStyle/>
          <a:p>
            <a:r>
              <a:rPr lang="en-US"/>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39145F-393D-4C78-AEB2-5C9877C3ECB2}" type="datetime1">
              <a:rPr lang="en-US" smtClean="0"/>
              <a:t>6/2/2026</a:t>
            </a:fld>
            <a:endParaRPr lang="en-US"/>
          </a:p>
        </p:txBody>
      </p:sp>
      <p:sp>
        <p:nvSpPr>
          <p:cNvPr id="8" name="Footer Placeholder 7"/>
          <p:cNvSpPr>
            <a:spLocks noGrp="1"/>
          </p:cNvSpPr>
          <p:nvPr>
            <p:ph type="ftr" sz="quarter" idx="11"/>
          </p:nvPr>
        </p:nvSpPr>
        <p:spPr/>
        <p:txBody>
          <a:bodyPr/>
          <a:lstStyle/>
          <a:p>
            <a:r>
              <a:rPr lang="en-US"/>
              <a:t>Bowen C.</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8C4AA2-CD50-479C-AA8D-445A5130BC7D}" type="datetime1">
              <a:rPr lang="en-US" smtClean="0"/>
              <a:t>6/2/2026</a:t>
            </a:fld>
            <a:endParaRPr lang="en-US"/>
          </a:p>
        </p:txBody>
      </p:sp>
      <p:sp>
        <p:nvSpPr>
          <p:cNvPr id="4" name="Footer Placeholder 3"/>
          <p:cNvSpPr>
            <a:spLocks noGrp="1"/>
          </p:cNvSpPr>
          <p:nvPr>
            <p:ph type="ftr" sz="quarter" idx="11"/>
          </p:nvPr>
        </p:nvSpPr>
        <p:spPr/>
        <p:txBody>
          <a:bodyPr/>
          <a:lstStyle/>
          <a:p>
            <a:r>
              <a:rPr lang="en-US"/>
              <a:t>Bowen C.</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DAC0A0-1DB1-42B6-9F56-3EA540364C30}" type="datetime1">
              <a:rPr lang="en-US" smtClean="0"/>
              <a:t>6/2/2026</a:t>
            </a:fld>
            <a:endParaRPr lang="en-US"/>
          </a:p>
        </p:txBody>
      </p:sp>
      <p:sp>
        <p:nvSpPr>
          <p:cNvPr id="3" name="Footer Placeholder 2"/>
          <p:cNvSpPr>
            <a:spLocks noGrp="1"/>
          </p:cNvSpPr>
          <p:nvPr>
            <p:ph type="ftr" sz="quarter" idx="11"/>
          </p:nvPr>
        </p:nvSpPr>
        <p:spPr/>
        <p:txBody>
          <a:bodyPr/>
          <a:lstStyle/>
          <a:p>
            <a:r>
              <a:rPr lang="en-US"/>
              <a:t>Bowen C.</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835E37-9BEF-4902-AC21-B84989374AB2}" type="datetime1">
              <a:rPr lang="en-US" smtClean="0"/>
              <a:t>6/2/2026</a:t>
            </a:fld>
            <a:endParaRPr lang="en-US"/>
          </a:p>
        </p:txBody>
      </p:sp>
      <p:sp>
        <p:nvSpPr>
          <p:cNvPr id="6" name="Footer Placeholder 5"/>
          <p:cNvSpPr>
            <a:spLocks noGrp="1"/>
          </p:cNvSpPr>
          <p:nvPr>
            <p:ph type="ftr" sz="quarter" idx="11"/>
          </p:nvPr>
        </p:nvSpPr>
        <p:spPr/>
        <p:txBody>
          <a:bodyPr/>
          <a:lstStyle/>
          <a:p>
            <a:r>
              <a:rPr lang="en-US"/>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6E5AD7-6AF7-487A-B7E0-DFFACD8B793F}" type="datetime1">
              <a:rPr lang="en-US" smtClean="0"/>
              <a:t>6/2/2026</a:t>
            </a:fld>
            <a:endParaRPr lang="en-US"/>
          </a:p>
        </p:txBody>
      </p:sp>
      <p:sp>
        <p:nvSpPr>
          <p:cNvPr id="6" name="Footer Placeholder 5"/>
          <p:cNvSpPr>
            <a:spLocks noGrp="1"/>
          </p:cNvSpPr>
          <p:nvPr>
            <p:ph type="ftr" sz="quarter" idx="11"/>
          </p:nvPr>
        </p:nvSpPr>
        <p:spPr/>
        <p:txBody>
          <a:bodyPr/>
          <a:lstStyle/>
          <a:p>
            <a:r>
              <a:rPr lang="en-US"/>
              <a:t>Bowen C.</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5CF824-B60E-4665-BAF2-98C152BC1784}" type="datetime1">
              <a:rPr lang="en-US" smtClean="0"/>
              <a:t>6/2/2026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E1F9DB-2C1A-4CDF-8E15-8E3BB71EA364}" type="datetime1">
              <a:rPr lang="en-US" smtClean="0"/>
              <a:t>6/2/2026</a:t>
            </a:fld>
            <a:endParaRPr lang="en-US"/>
          </a:p>
        </p:txBody>
      </p:sp>
      <p:sp>
        <p:nvSpPr>
          <p:cNvPr id="5" name="Footer Placeholder 4"/>
          <p:cNvSpPr>
            <a:spLocks noGrp="1"/>
          </p:cNvSpPr>
          <p:nvPr>
            <p:ph type="ftr" sz="quarter" idx="11"/>
          </p:nvPr>
        </p:nvSpPr>
        <p:spPr/>
        <p:txBody>
          <a:bodyPr/>
          <a:lstStyle/>
          <a:p>
            <a:r>
              <a:rPr lang="en-US"/>
              <a:t>Bowen C.</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0A8D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2A92B1-4AEA-4CD2-A769-809755D87661}" type="datetime1">
              <a:rPr lang="en-US" smtClean="0"/>
              <a:t>6/2/2026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Bowen C.</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jp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 Id="rId2" Target="https://www.youtube.com/watch?v=lPeusRdF4q0" TargetMode="External" Type="http://schemas.openxmlformats.org/officeDocument/2006/relationships/hyperlink"/></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4.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5.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6.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pic>
        <p:nvPicPr>
          <p:cNvPr descr="View of Earth from orbit" id="11" name="Picture 10">
            <a:extLst>
              <a:ext uri="{FF2B5EF4-FFF2-40B4-BE49-F238E27FC236}">
                <a16:creationId xmlns:a16="http://schemas.microsoft.com/office/drawing/2014/main" id="{5C9AF78C-EBAF-D166-10DC-12BBAF3D36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3047" y="10"/>
            <a:ext cx="12191999" cy="6857990"/>
          </a:xfrm>
          <a:prstGeom prst="rect">
            <a:avLst/>
          </a:prstGeom>
        </p:spPr>
      </p:pic>
      <p:sp>
        <p:nvSpPr>
          <p:cNvPr id="18" name="Rectangle 17">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AdjustHandles="1" noChangeArrowheads="1" noChangeAspect="1" noChangeShapeType="1" noEditPoints="1" noGrp="1" noMove="1" noResize="1" noRot="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2" name="Title 1"/>
          <p:cNvSpPr>
            <a:spLocks noGrp="1"/>
          </p:cNvSpPr>
          <p:nvPr>
            <p:ph type="ctrTitle"/>
          </p:nvPr>
        </p:nvSpPr>
        <p:spPr>
          <a:xfrm>
            <a:off x="1097280" y="325550"/>
            <a:ext cx="10058400" cy="3574778"/>
          </a:xfrm>
          <a:effectLst>
            <a:outerShdw algn="tl" blurRad="50800" dir="2700000" dist="38100" rotWithShape="0">
              <a:prstClr val="black">
                <a:alpha val="40000"/>
              </a:prstClr>
            </a:outerShdw>
          </a:effectLst>
        </p:spPr>
        <p:txBody>
          <a:bodyPr>
            <a:normAutofit/>
          </a:bodyPr>
          <a:lstStyle/>
          <a:p>
            <a:r>
              <a:rPr lang="en-US" sz="5200">
                <a:solidFill>
                  <a:srgbClr val="FFFFFF"/>
                </a:solidFill>
              </a:rPr>
              <a:t>Numerical Summaries of Data</a:t>
            </a:r>
          </a:p>
        </p:txBody>
      </p:sp>
      <p:sp>
        <p:nvSpPr>
          <p:cNvPr id="3" name="Subtitle 2"/>
          <p:cNvSpPr>
            <a:spLocks noGrp="1"/>
          </p:cNvSpPr>
          <p:nvPr>
            <p:ph idx="1" type="subTitle"/>
          </p:nvPr>
        </p:nvSpPr>
        <p:spPr>
          <a:xfrm>
            <a:off x="1100051" y="4072043"/>
            <a:ext cx="10058400" cy="1282707"/>
          </a:xfrm>
          <a:effectLst>
            <a:outerShdw algn="tl" blurRad="50800" dir="2700000" dist="38100" rotWithShape="0">
              <a:prstClr val="black">
                <a:alpha val="40000"/>
              </a:prstClr>
            </a:outerShdw>
          </a:effectLst>
        </p:spPr>
        <p:txBody>
          <a:bodyPr bIns="45720" lIns="91440" rIns="91440" rtlCol="0" tIns="45720" vert="horz">
            <a:normAutofit/>
          </a:bodyPr>
          <a:lstStyle/>
          <a:p>
            <a:r>
              <a:rPr lang="en-US">
                <a:solidFill>
                  <a:srgbClr val="FFFFFF"/>
                </a:solidFill>
              </a:rPr>
              <a:t>Chapter 3</a:t>
            </a:r>
          </a:p>
        </p:txBody>
      </p:sp>
      <p:sp>
        <p:nvSpPr>
          <p:cNvPr id="12" name="Footer Placeholder 11">
            <a:extLst>
              <a:ext uri="{FF2B5EF4-FFF2-40B4-BE49-F238E27FC236}">
                <a16:creationId xmlns:a16="http://schemas.microsoft.com/office/drawing/2014/main" id="{91A3B34C-1495-C435-E0EA-92F9C0692367}"/>
              </a:ext>
            </a:extLst>
          </p:cNvPr>
          <p:cNvSpPr>
            <a:spLocks noGrp="1"/>
          </p:cNvSpPr>
          <p:nvPr>
            <p:ph idx="11" sz="quarter" type="ftr"/>
          </p:nvPr>
        </p:nvSpPr>
        <p:spPr/>
        <p:txBody>
          <a:bodyPr/>
          <a:lstStyle/>
          <a:p>
            <a:r>
              <a:rPr lang="en-US">
                <a:solidFill>
                  <a:srgbClr val="828282"/>
                </a:solidFill>
              </a:rPr>
              <a:t>Bowen C.</a:t>
            </a:r>
          </a:p>
        </p:txBody>
      </p:sp>
      <p:sp>
        <p:nvSpPr>
          <p:cNvPr id="15" name="Slide Number Placeholder 14">
            <a:extLst>
              <a:ext uri="{FF2B5EF4-FFF2-40B4-BE49-F238E27FC236}">
                <a16:creationId xmlns:a16="http://schemas.microsoft.com/office/drawing/2014/main" id="{35A0185F-AE9A-954C-BEFA-C0AAE716FB47}"/>
              </a:ext>
            </a:extLst>
          </p:cNvPr>
          <p:cNvSpPr>
            <a:spLocks noGrp="1"/>
          </p:cNvSpPr>
          <p:nvPr>
            <p:ph idx="12" sz="quarter" type="sldNum"/>
          </p:nvPr>
        </p:nvSpPr>
        <p:spPr/>
        <p:txBody>
          <a:bodyPr/>
          <a:lstStyle/>
          <a:p>
            <a:fld id="{330EA680-D336-4FF7-8B7A-9848BB0A1C32}" type="slidenum">
              <a:rPr lang="en-US" smtClean="0">
                <a:solidFill>
                  <a:srgbClr val="828282"/>
                </a:solidFill>
              </a:rPr>
              <a:t>1</a:t>
            </a:fld>
            <a:endParaRPr lang="en-US"/>
          </a:p>
        </p:txBody>
      </p:sp>
    </p:spTree>
    <p:extLst>
      <p:ext uri="{BB962C8B-B14F-4D97-AF65-F5344CB8AC3E}">
        <p14:creationId xmlns:p14="http://schemas.microsoft.com/office/powerpoint/2010/main" val="109857222"/>
      </p:ext>
    </p:extLst>
  </p:cSld>
  <p:clrMapOvr>
    <a:masterClrMapping/>
  </p:clrMapOvr>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grpId="0" id="5" nodeType="withEffect" presetClass="entr" presetID="10" presetSubtype="0">
                                  <p:stCondLst>
                                    <p:cond delay="1000"/>
                                  </p:stCondLst>
                                  <p:iterate>
                                    <p:tmPct val="10000"/>
                                  </p:iterate>
                                  <p:childTnLst>
                                    <p:set>
                                      <p:cBhvr>
                                        <p:cTn dur="1" fill="hold" id="6">
                                          <p:stCondLst>
                                            <p:cond delay="0"/>
                                          </p:stCondLst>
                                        </p:cTn>
                                        <p:tgtEl>
                                          <p:spTgt spid="2"/>
                                        </p:tgtEl>
                                        <p:attrNameLst>
                                          <p:attrName>style.visibility</p:attrName>
                                        </p:attrNameLst>
                                      </p:cBhvr>
                                      <p:to>
                                        <p:strVal val="visible"/>
                                      </p:to>
                                    </p:set>
                                    <p:animEffect filter="fade" transition="in">
                                      <p:cBhvr>
                                        <p:cTn dur="700" id="7"/>
                                        <p:tgtEl>
                                          <p:spTgt spid="2"/>
                                        </p:tgtEl>
                                      </p:cBhvr>
                                    </p:animEffect>
                                  </p:childTnLst>
                                </p:cTn>
                              </p:par>
                              <p:par>
                                <p:cTn fill="hold" grpId="0" id="8" nodeType="withEffect" presetClass="entr" presetID="10" presetSubtype="0">
                                  <p:stCondLst>
                                    <p:cond delay="1500"/>
                                  </p:stCondLst>
                                  <p:iterate>
                                    <p:tmPct val="10000"/>
                                  </p:iterate>
                                  <p:childTnLst>
                                    <p:set>
                                      <p:cBhvr>
                                        <p:cTn dur="1" fill="hold" id="9">
                                          <p:stCondLst>
                                            <p:cond delay="0"/>
                                          </p:stCondLst>
                                        </p:cTn>
                                        <p:tgtEl>
                                          <p:spTgt spid="3">
                                            <p:txEl>
                                              <p:pRg end="0" st="0"/>
                                            </p:txEl>
                                          </p:spTgt>
                                        </p:tgtEl>
                                        <p:attrNameLst>
                                          <p:attrName>style.visibility</p:attrName>
                                        </p:attrNameLst>
                                      </p:cBhvr>
                                      <p:to>
                                        <p:strVal val="visible"/>
                                      </p:to>
                                    </p:set>
                                    <p:animEffect filter="fade" transition="in">
                                      <p:cBhvr>
                                        <p:cTn dur="700" id="10"/>
                                        <p:tgtEl>
                                          <p:spTgt spid="3">
                                            <p:txEl>
                                              <p:pRg end="0" st="0"/>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2"/>
      <p:bldP build="p" grpId="0" spid="3"/>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325C-83C0-D030-8850-2ED087CD3023}"/>
              </a:ext>
            </a:extLst>
          </p:cNvPr>
          <p:cNvSpPr>
            <a:spLocks noGrp="1"/>
          </p:cNvSpPr>
          <p:nvPr>
            <p:ph type="title"/>
          </p:nvPr>
        </p:nvSpPr>
        <p:spPr/>
        <p:txBody>
          <a:bodyPr/>
          <a:lstStyle/>
          <a:p>
            <a:r>
              <a:rPr dirty="0" lang="en-US"/>
              <a:t>Objectives </a:t>
            </a:r>
          </a:p>
        </p:txBody>
      </p:sp>
      <p:sp>
        <p:nvSpPr>
          <p:cNvPr id="3" name="Content Placeholder 2">
            <a:extLst>
              <a:ext uri="{FF2B5EF4-FFF2-40B4-BE49-F238E27FC236}">
                <a16:creationId xmlns:a16="http://schemas.microsoft.com/office/drawing/2014/main" id="{96589DD8-EABD-1E98-3596-CD4B1B8C465C}"/>
              </a:ext>
            </a:extLst>
          </p:cNvPr>
          <p:cNvSpPr>
            <a:spLocks noGrp="1"/>
          </p:cNvSpPr>
          <p:nvPr>
            <p:ph idx="1"/>
          </p:nvPr>
        </p:nvSpPr>
        <p:spPr>
          <a:xfrm>
            <a:off x="302741" y="1690688"/>
            <a:ext cx="11749216" cy="4351338"/>
          </a:xfrm>
        </p:spPr>
        <p:txBody>
          <a:bodyPr>
            <a:normAutofit/>
          </a:bodyPr>
          <a:lstStyle/>
          <a:p>
            <a:pPr>
              <a:buFont charset="2" panose="05000000000000000000" pitchFamily="2" typeface="Wingdings"/>
              <a:buChar char="q"/>
            </a:pPr>
            <a:r>
              <a:rPr dirty="0" lang="en-US" sz="2400"/>
              <a:t> Read book sections 3.1 – 3.3. </a:t>
            </a:r>
          </a:p>
          <a:p>
            <a:pPr indent="0" marL="0">
              <a:buNone/>
            </a:pPr>
            <a:r>
              <a:rPr dirty="0" lang="en-US" sz="2400"/>
              <a:t>❏ Know by heart each symbol we learn in this chapter. We will use them all semester. </a:t>
            </a:r>
          </a:p>
          <a:p>
            <a:pPr indent="0" marL="0">
              <a:buNone/>
            </a:pPr>
            <a:r>
              <a:rPr dirty="0" lang="en-US" sz="2400"/>
              <a:t>❏ Calculate each parameter and statistic using R Studio.</a:t>
            </a:r>
          </a:p>
          <a:p>
            <a:pPr indent="0" marL="0">
              <a:buNone/>
            </a:pPr>
            <a:r>
              <a:rPr dirty="0" lang="en-US" sz="2400"/>
              <a:t>❏ Understand how and when to use the Empirical Rule and Chebyshev’s Inequality. </a:t>
            </a:r>
          </a:p>
          <a:p>
            <a:pPr indent="0" marL="0">
              <a:buNone/>
            </a:pPr>
            <a:r>
              <a:rPr dirty="0" lang="en-US" sz="2400"/>
              <a:t>❏ Create box plots in R Studio. </a:t>
            </a:r>
          </a:p>
          <a:p>
            <a:pPr indent="0" marL="0">
              <a:buNone/>
            </a:pPr>
            <a:endParaRPr dirty="0" lang="en-US" sz="2400"/>
          </a:p>
          <a:p>
            <a:pPr indent="0" marL="0">
              <a:buNone/>
            </a:pPr>
            <a:r>
              <a:rPr dirty="0" i="1" lang="en-US" sz="2400"/>
              <a:t>After we graph a list of data values, then we can summarize them numerically. We calculate measures of center, measures of spread, and measure of position. Descriptive statistics are all about “painting a picture.” Sample statistics are often used to estimate population parameters that we cannot know for certain. </a:t>
            </a:r>
          </a:p>
        </p:txBody>
      </p:sp>
      <p:sp>
        <p:nvSpPr>
          <p:cNvPr id="4" name="Footer Placeholder 3">
            <a:extLst>
              <a:ext uri="{FF2B5EF4-FFF2-40B4-BE49-F238E27FC236}">
                <a16:creationId xmlns:a16="http://schemas.microsoft.com/office/drawing/2014/main" id="{F3FF6009-99FE-39B9-91DE-6D176019ECCD}"/>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73C1DBED-9E3A-D183-7612-778EE28DA9F3}"/>
              </a:ext>
            </a:extLst>
          </p:cNvPr>
          <p:cNvSpPr>
            <a:spLocks noGrp="1"/>
          </p:cNvSpPr>
          <p:nvPr>
            <p:ph idx="12" sz="quarter" type="sldNum"/>
          </p:nvPr>
        </p:nvSpPr>
        <p:spPr/>
        <p:txBody>
          <a:bodyPr/>
          <a:lstStyle/>
          <a:p>
            <a:fld id="{330EA680-D336-4FF7-8B7A-9848BB0A1C32}" type="slidenum">
              <a:rPr lang="en-US" smtClean="0">
                <a:solidFill>
                  <a:srgbClr val="404040"/>
                </a:solidFill>
              </a:rPr>
              <a:t>2</a:t>
            </a:fld>
            <a:endParaRPr lang="en-US"/>
          </a:p>
        </p:txBody>
      </p:sp>
    </p:spTree>
    <p:extLst>
      <p:ext uri="{BB962C8B-B14F-4D97-AF65-F5344CB8AC3E}">
        <p14:creationId xmlns:p14="http://schemas.microsoft.com/office/powerpoint/2010/main" val="1127681359"/>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B6897-419A-A63C-3C38-0FE2DD6BA556}"/>
              </a:ext>
            </a:extLst>
          </p:cNvPr>
          <p:cNvSpPr>
            <a:spLocks noGrp="1"/>
          </p:cNvSpPr>
          <p:nvPr>
            <p:ph type="title"/>
          </p:nvPr>
        </p:nvSpPr>
        <p:spPr/>
        <p:txBody>
          <a:bodyPr/>
          <a:lstStyle/>
          <a:p>
            <a:r>
              <a:rPr dirty="0" lang="en-US"/>
              <a:t>Topics </a:t>
            </a:r>
          </a:p>
        </p:txBody>
      </p:sp>
      <p:sp>
        <p:nvSpPr>
          <p:cNvPr id="3" name="Content Placeholder 2">
            <a:extLst>
              <a:ext uri="{FF2B5EF4-FFF2-40B4-BE49-F238E27FC236}">
                <a16:creationId xmlns:a16="http://schemas.microsoft.com/office/drawing/2014/main" id="{3B560E22-BC38-2167-1BC4-11D29B1CD5DC}"/>
              </a:ext>
            </a:extLst>
          </p:cNvPr>
          <p:cNvSpPr>
            <a:spLocks noGrp="1"/>
          </p:cNvSpPr>
          <p:nvPr>
            <p:ph idx="1"/>
          </p:nvPr>
        </p:nvSpPr>
        <p:spPr>
          <a:xfrm>
            <a:off x="1208902" y="1592777"/>
            <a:ext cx="10515600" cy="4900098"/>
          </a:xfrm>
        </p:spPr>
        <p:txBody>
          <a:bodyPr numCol="2">
            <a:normAutofit/>
          </a:bodyPr>
          <a:lstStyle/>
          <a:p>
            <a:r>
              <a:rPr dirty="0" lang="en-US"/>
              <a:t>Measures of Center </a:t>
            </a:r>
          </a:p>
          <a:p>
            <a:pPr lvl="1"/>
            <a:r>
              <a:rPr dirty="0" lang="en-US"/>
              <a:t>Mean </a:t>
            </a:r>
          </a:p>
          <a:p>
            <a:pPr lvl="1"/>
            <a:r>
              <a:rPr dirty="0" lang="en-US"/>
              <a:t>Median </a:t>
            </a:r>
          </a:p>
          <a:p>
            <a:pPr lvl="1"/>
            <a:r>
              <a:rPr dirty="0" lang="en-US"/>
              <a:t>Mode </a:t>
            </a:r>
          </a:p>
          <a:p>
            <a:r>
              <a:rPr dirty="0" lang="en-US"/>
              <a:t>Measures of Spread </a:t>
            </a:r>
          </a:p>
          <a:p>
            <a:pPr lvl="1"/>
            <a:r>
              <a:rPr dirty="0" lang="en-US"/>
              <a:t>Range </a:t>
            </a:r>
          </a:p>
          <a:p>
            <a:pPr lvl="1"/>
            <a:r>
              <a:rPr dirty="0" lang="en-US"/>
              <a:t>Variance </a:t>
            </a:r>
          </a:p>
          <a:p>
            <a:pPr lvl="1"/>
            <a:r>
              <a:rPr dirty="0" lang="en-US"/>
              <a:t>Standard Deviation </a:t>
            </a:r>
          </a:p>
          <a:p>
            <a:pPr lvl="1"/>
            <a:r>
              <a:rPr dirty="0" lang="en-US"/>
              <a:t>Empirical Rule </a:t>
            </a:r>
          </a:p>
          <a:p>
            <a:pPr lvl="1"/>
            <a:r>
              <a:rPr dirty="0" lang="en-US"/>
              <a:t>Chebyshev’s Inequality  </a:t>
            </a:r>
            <a:br>
              <a:rPr dirty="0" lang="en-US"/>
            </a:br>
            <a:endParaRPr dirty="0" lang="en-US"/>
          </a:p>
          <a:p>
            <a:r>
              <a:rPr dirty="0" lang="en-US"/>
              <a:t>Measures of Position </a:t>
            </a:r>
          </a:p>
          <a:p>
            <a:pPr lvl="1"/>
            <a:r>
              <a:rPr dirty="0" lang="en-US"/>
              <a:t>Z-Scores </a:t>
            </a:r>
          </a:p>
          <a:p>
            <a:pPr lvl="1"/>
            <a:r>
              <a:rPr dirty="0" lang="en-US"/>
              <a:t>Quartiles </a:t>
            </a:r>
          </a:p>
          <a:p>
            <a:pPr lvl="1"/>
            <a:r>
              <a:rPr dirty="0" lang="en-US"/>
              <a:t>Percentiles </a:t>
            </a:r>
          </a:p>
          <a:p>
            <a:pPr lvl="1"/>
            <a:r>
              <a:rPr dirty="0" lang="en-US"/>
              <a:t>5-Number Summary </a:t>
            </a:r>
          </a:p>
          <a:p>
            <a:pPr lvl="1"/>
            <a:r>
              <a:rPr dirty="0" lang="en-US"/>
              <a:t>IQR and Outliers </a:t>
            </a:r>
          </a:p>
          <a:p>
            <a:pPr lvl="1"/>
            <a:r>
              <a:rPr dirty="0" lang="en-US"/>
              <a:t>Box Plots </a:t>
            </a:r>
          </a:p>
        </p:txBody>
      </p:sp>
      <p:sp>
        <p:nvSpPr>
          <p:cNvPr id="4" name="Footer Placeholder 3">
            <a:extLst>
              <a:ext uri="{FF2B5EF4-FFF2-40B4-BE49-F238E27FC236}">
                <a16:creationId xmlns:a16="http://schemas.microsoft.com/office/drawing/2014/main" id="{72ACC2EF-9153-E34B-BAFB-AF322AC55B5D}"/>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B05591B3-7B0C-60A9-CB74-71249D6B2D47}"/>
              </a:ext>
            </a:extLst>
          </p:cNvPr>
          <p:cNvSpPr>
            <a:spLocks noGrp="1"/>
          </p:cNvSpPr>
          <p:nvPr>
            <p:ph idx="12" sz="quarter" type="sldNum"/>
          </p:nvPr>
        </p:nvSpPr>
        <p:spPr/>
        <p:txBody>
          <a:bodyPr/>
          <a:lstStyle/>
          <a:p>
            <a:fld id="{330EA680-D336-4FF7-8B7A-9848BB0A1C32}" type="slidenum">
              <a:rPr lang="en-US" smtClean="0">
                <a:solidFill>
                  <a:srgbClr val="404040"/>
                </a:solidFill>
              </a:rPr>
              <a:t>3</a:t>
            </a:fld>
            <a:endParaRPr lang="en-US"/>
          </a:p>
        </p:txBody>
      </p:sp>
    </p:spTree>
    <p:extLst>
      <p:ext uri="{BB962C8B-B14F-4D97-AF65-F5344CB8AC3E}">
        <p14:creationId xmlns:p14="http://schemas.microsoft.com/office/powerpoint/2010/main" val="1699395349"/>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F500E-950E-6244-08A5-6DA077CF1AE6}"/>
              </a:ext>
            </a:extLst>
          </p:cNvPr>
          <p:cNvSpPr>
            <a:spLocks noGrp="1"/>
          </p:cNvSpPr>
          <p:nvPr>
            <p:ph type="title"/>
          </p:nvPr>
        </p:nvSpPr>
        <p:spPr/>
        <p:txBody>
          <a:bodyPr/>
          <a:lstStyle/>
          <a:p>
            <a:r>
              <a:rPr dirty="0" lang="en-US"/>
              <a:t>Measures of Center </a:t>
            </a:r>
          </a:p>
        </p:txBody>
      </p:sp>
      <p:sp>
        <p:nvSpPr>
          <p:cNvPr id="3" name="Content Placeholder 2">
            <a:extLst>
              <a:ext uri="{FF2B5EF4-FFF2-40B4-BE49-F238E27FC236}">
                <a16:creationId xmlns:a16="http://schemas.microsoft.com/office/drawing/2014/main" id="{A2FE11B5-A3FA-FA5D-18E5-C7474279C06A}"/>
              </a:ext>
            </a:extLst>
          </p:cNvPr>
          <p:cNvSpPr>
            <a:spLocks noGrp="1"/>
          </p:cNvSpPr>
          <p:nvPr>
            <p:ph idx="1"/>
          </p:nvPr>
        </p:nvSpPr>
        <p:spPr/>
        <p:txBody>
          <a:bodyPr/>
          <a:lstStyle/>
          <a:p>
            <a:pPr indent="0" marL="0">
              <a:buNone/>
            </a:pPr>
            <a:r>
              <a:rPr dirty="0" lang="en-US"/>
              <a:t>Measures of center tell us the central tendencies of a data set. </a:t>
            </a:r>
          </a:p>
          <a:p>
            <a:pPr indent="0" marL="0">
              <a:buNone/>
            </a:pPr>
            <a:r>
              <a:rPr dirty="0" lang="en-US"/>
              <a:t>Around what value(s) are the observations balanced?  </a:t>
            </a:r>
          </a:p>
          <a:p>
            <a:pPr indent="0" marL="0">
              <a:buNone/>
            </a:pPr>
            <a:endParaRPr dirty="0" lang="en-US"/>
          </a:p>
        </p:txBody>
      </p:sp>
      <p:sp>
        <p:nvSpPr>
          <p:cNvPr id="4" name="Footer Placeholder 3">
            <a:extLst>
              <a:ext uri="{FF2B5EF4-FFF2-40B4-BE49-F238E27FC236}">
                <a16:creationId xmlns:a16="http://schemas.microsoft.com/office/drawing/2014/main" id="{FCA8E74D-1C57-D911-F927-BD294A62ACF7}"/>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67036783-8565-BAC0-B703-49EDFE9F6693}"/>
              </a:ext>
            </a:extLst>
          </p:cNvPr>
          <p:cNvSpPr>
            <a:spLocks noGrp="1"/>
          </p:cNvSpPr>
          <p:nvPr>
            <p:ph idx="12" sz="quarter" type="sldNum"/>
          </p:nvPr>
        </p:nvSpPr>
        <p:spPr/>
        <p:txBody>
          <a:bodyPr/>
          <a:lstStyle/>
          <a:p>
            <a:fld id="{330EA680-D336-4FF7-8B7A-9848BB0A1C32}" type="slidenum">
              <a:rPr lang="en-US" smtClean="0">
                <a:solidFill>
                  <a:srgbClr val="404040"/>
                </a:solidFill>
              </a:rPr>
              <a:t>4</a:t>
            </a:fld>
            <a:endParaRPr lang="en-US"/>
          </a:p>
        </p:txBody>
      </p:sp>
    </p:spTree>
    <p:extLst>
      <p:ext uri="{BB962C8B-B14F-4D97-AF65-F5344CB8AC3E}">
        <p14:creationId xmlns:p14="http://schemas.microsoft.com/office/powerpoint/2010/main" val="551576508"/>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0AD1D-FCBA-F67A-CE4A-3E1759EECAA2}"/>
              </a:ext>
            </a:extLst>
          </p:cNvPr>
          <p:cNvSpPr>
            <a:spLocks noGrp="1"/>
          </p:cNvSpPr>
          <p:nvPr>
            <p:ph type="title"/>
          </p:nvPr>
        </p:nvSpPr>
        <p:spPr>
          <a:xfrm>
            <a:off x="222959" y="320675"/>
            <a:ext cx="10515600" cy="1325563"/>
          </a:xfrm>
        </p:spPr>
        <p:txBody>
          <a:bodyPr/>
          <a:lstStyle/>
          <a:p>
            <a:r>
              <a:rPr dirty="0" lang="en-US"/>
              <a:t>The Mean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DD9C6730-70AB-C824-B3F3-8D9DE5A9B222}"/>
                  </a:ext>
                </a:extLst>
              </p:cNvPr>
              <p:cNvSpPr>
                <a:spLocks noGrp="1"/>
              </p:cNvSpPr>
              <p:nvPr>
                <p:ph idx="1"/>
              </p:nvPr>
            </p:nvSpPr>
            <p:spPr>
              <a:xfrm>
                <a:off x="296562" y="1825625"/>
                <a:ext cx="11598876" cy="4351338"/>
              </a:xfrm>
            </p:spPr>
            <p:txBody>
              <a:bodyPr>
                <a:normAutofit/>
              </a:bodyPr>
              <a:lstStyle/>
              <a:p>
                <a:pPr indent="0" marL="0">
                  <a:buNone/>
                </a:pPr>
                <a:r>
                  <a:rPr dirty="0" lang="en-US" sz="2400"/>
                  <a:t>The mean is the sum of the data values divided by the number of data values. Sample means can be used to estimate population means. The larger the sample size, the closer the sample mean will be to the population mean. The mean is not necessarily the same as a typical data value. The mean of discrete data does not have to be a whole number (it can have decimals). </a:t>
                </a:r>
              </a:p>
              <a:p>
                <a:pPr indent="0" marL="0">
                  <a:buNone/>
                </a:pPr>
                <a:r>
                  <a:rPr dirty="0" lang="en-US" sz="2400"/>
                  <a:t>The population mean is represented by µ (pronounced “mu”): </a:t>
                </a:r>
                <a14:m>
                  <m:oMath xmlns:m="http://schemas.openxmlformats.org/officeDocument/2006/math">
                    <m:r>
                      <a:rPr i="1" lang="en-US" smtClean="0" sz="2400">
                        <a:latin charset="0" panose="02040503050406030204" pitchFamily="18" typeface="Cambria Math"/>
                        <a:ea charset="0" panose="02040503050406030204" pitchFamily="18" typeface="Cambria Math"/>
                      </a:rPr>
                      <m:t>𝜇</m:t>
                    </m:r>
                    <m:r>
                      <a:rPr b="0" i="1" lang="en-US" smtClean="0" sz="2400">
                        <a:latin charset="0" panose="02040503050406030204" pitchFamily="18" typeface="Cambria Math"/>
                        <a:ea charset="0" panose="02040503050406030204" pitchFamily="18" typeface="Cambria Math"/>
                      </a:rPr>
                      <m:t>=</m:t>
                    </m:r>
                    <m:f>
                      <m:fPr>
                        <m:ctrlPr>
                          <a:rPr b="0" i="1" lang="en-US" smtClean="0" sz="2400">
                            <a:latin charset="0" panose="02040503050406030204" pitchFamily="18" typeface="Cambria Math"/>
                            <a:ea charset="0" panose="02040503050406030204" pitchFamily="18" typeface="Cambria Math"/>
                          </a:rPr>
                        </m:ctrlPr>
                      </m:fPr>
                      <m:num>
                        <m:r>
                          <m:rPr>
                            <m:sty m:val="p"/>
                          </m:rPr>
                          <a:rPr i="1" lang="el-GR" sz="2400">
                            <a:latin charset="0" panose="02040503050406030204" pitchFamily="18" typeface="Cambria Math"/>
                            <a:ea charset="0" panose="02040503050406030204" pitchFamily="18" typeface="Cambria Math"/>
                          </a:rPr>
                          <m:t>Σ</m:t>
                        </m:r>
                        <m:r>
                          <a:rPr i="1" lang="en-US" sz="2400">
                            <a:latin charset="0" panose="02040503050406030204" pitchFamily="18" typeface="Cambria Math"/>
                            <a:ea charset="0" panose="02040503050406030204" pitchFamily="18" typeface="Cambria Math"/>
                          </a:rPr>
                          <m:t>𝑥</m:t>
                        </m:r>
                      </m:num>
                      <m:den>
                        <m:r>
                          <a:rPr b="0" i="1" lang="en-US" smtClean="0" sz="2400">
                            <a:latin charset="0" panose="02040503050406030204" pitchFamily="18" typeface="Cambria Math"/>
                            <a:ea charset="0" panose="02040503050406030204" pitchFamily="18" typeface="Cambria Math"/>
                          </a:rPr>
                          <m:t>𝑁</m:t>
                        </m:r>
                      </m:den>
                    </m:f>
                  </m:oMath>
                </a14:m>
                <a:endParaRPr dirty="0" lang="en-US" sz="2400"/>
              </a:p>
              <a:p>
                <a:pPr indent="0" marL="0">
                  <a:buNone/>
                </a:pPr>
                <a:endParaRPr dirty="0" lang="en-US" sz="2400"/>
              </a:p>
              <a:p>
                <a:pPr indent="0" marL="0">
                  <a:buNone/>
                </a:pPr>
                <a:r>
                  <a:rPr dirty="0" lang="en-US" sz="2400"/>
                  <a:t>The sample mean is represented by x̅ (pronounced “x-bar”): </a:t>
                </a:r>
                <a14:m>
                  <m:oMath xmlns:m="http://schemas.openxmlformats.org/officeDocument/2006/math">
                    <m:acc>
                      <m:accPr>
                        <m:chr m:val="̅"/>
                        <m:ctrlPr>
                          <a:rPr i="1" lang="en-US" smtClean="0" sz="2400">
                            <a:latin charset="0" panose="02040503050406030204" pitchFamily="18" typeface="Cambria Math"/>
                          </a:rPr>
                        </m:ctrlPr>
                      </m:accPr>
                      <m:e>
                        <m:r>
                          <a:rPr b="0" i="1" lang="en-US" smtClean="0" sz="2400">
                            <a:latin charset="0" panose="02040503050406030204" pitchFamily="18" typeface="Cambria Math"/>
                          </a:rPr>
                          <m:t>𝑥</m:t>
                        </m:r>
                      </m:e>
                    </m:acc>
                    <m:r>
                      <a:rPr b="0" i="1" lang="en-US" smtClean="0" sz="2400">
                        <a:latin charset="0" panose="02040503050406030204" pitchFamily="18" typeface="Cambria Math"/>
                      </a:rPr>
                      <m:t>=</m:t>
                    </m:r>
                    <m:f>
                      <m:fPr>
                        <m:ctrlPr>
                          <a:rPr b="0" i="1" lang="en-US" smtClean="0" sz="2400">
                            <a:latin charset="0" panose="02040503050406030204" pitchFamily="18" typeface="Cambria Math"/>
                          </a:rPr>
                        </m:ctrlPr>
                      </m:fPr>
                      <m:num>
                        <m:r>
                          <m:rPr>
                            <m:sty m:val="p"/>
                          </m:rPr>
                          <a:rPr i="1" lang="el-GR" sz="2400">
                            <a:latin charset="0" panose="02040503050406030204" pitchFamily="18" typeface="Cambria Math"/>
                            <a:ea charset="0" panose="02040503050406030204" pitchFamily="18" typeface="Cambria Math"/>
                          </a:rPr>
                          <m:t>Σ</m:t>
                        </m:r>
                        <m:r>
                          <a:rPr i="1" lang="en-US" sz="2400">
                            <a:latin charset="0" panose="02040503050406030204" pitchFamily="18" typeface="Cambria Math"/>
                            <a:ea charset="0" panose="02040503050406030204" pitchFamily="18" typeface="Cambria Math"/>
                          </a:rPr>
                          <m:t>𝑥</m:t>
                        </m:r>
                      </m:num>
                      <m:den>
                        <m:r>
                          <a:rPr b="0" i="1" lang="en-US" smtClean="0" sz="2400">
                            <a:latin charset="0" panose="02040503050406030204" pitchFamily="18" typeface="Cambria Math"/>
                          </a:rPr>
                          <m:t>𝑛</m:t>
                        </m:r>
                      </m:den>
                    </m:f>
                  </m:oMath>
                </a14:m>
                <a:endParaRPr dirty="0" lang="en-US" sz="2400"/>
              </a:p>
              <a:p>
                <a:pPr indent="0" marL="0">
                  <a:buNone/>
                </a:pPr>
                <a:endParaRPr dirty="0" lang="en-US" sz="2400"/>
              </a:p>
              <a:p>
                <a:pPr indent="0" marL="0">
                  <a:buNone/>
                </a:pPr>
                <a:r>
                  <a:rPr dirty="0" lang="en-US" sz="2400"/>
                  <a:t>Σ = Sigma = “upper case sigma” and means “take the sum of …” </a:t>
                </a:r>
              </a:p>
              <a:p>
                <a:pPr indent="0" marL="0">
                  <a:buNone/>
                </a:pPr>
                <a:endParaRPr dirty="0" lang="en-US" sz="2400"/>
              </a:p>
            </p:txBody>
          </p:sp>
        </mc:Choice>
        <mc:Fallback>
          <p:sp>
            <p:nvSpPr>
              <p:cNvPr id="3" name="Content Placeholder 2">
                <a:extLst>
                  <a:ext uri="{FF2B5EF4-FFF2-40B4-BE49-F238E27FC236}">
                    <a16:creationId xmlns:a16="http://schemas.microsoft.com/office/drawing/2014/main" id="{DD9C6730-70AB-C824-B3F3-8D9DE5A9B222}"/>
                  </a:ext>
                </a:extLst>
              </p:cNvPr>
              <p:cNvSpPr>
                <a:spLocks noAdjustHandles="1" noChangeArrowheads="1" noChangeAspect="1" noChangeShapeType="1" noEditPoints="1" noGrp="1" noMove="1" noResize="1" noRot="1" noTextEdit="1"/>
              </p:cNvSpPr>
              <p:nvPr>
                <p:ph idx="1"/>
              </p:nvPr>
            </p:nvSpPr>
            <p:spPr>
              <a:xfrm>
                <a:off x="296562" y="1825625"/>
                <a:ext cx="11598876" cy="4351338"/>
              </a:xfrm>
              <a:blipFill>
                <a:blip r:embed="rId2"/>
                <a:stretch>
                  <a:fillRect b="-2241" l="-841" r="-1209" t="-182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B19DDC0-2777-6A6C-56FA-53C8B103E475}"/>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C3038957-A316-F0AA-CD37-BD87209BFEC4}"/>
              </a:ext>
            </a:extLst>
          </p:cNvPr>
          <p:cNvSpPr>
            <a:spLocks noGrp="1"/>
          </p:cNvSpPr>
          <p:nvPr>
            <p:ph idx="12" sz="quarter" type="sldNum"/>
          </p:nvPr>
        </p:nvSpPr>
        <p:spPr/>
        <p:txBody>
          <a:bodyPr/>
          <a:lstStyle/>
          <a:p>
            <a:fld id="{330EA680-D336-4FF7-8B7A-9848BB0A1C32}" type="slidenum">
              <a:rPr lang="en-US" smtClean="0">
                <a:solidFill>
                  <a:srgbClr val="404040"/>
                </a:solidFill>
              </a:rPr>
              <a:t>5</a:t>
            </a:fld>
            <a:endParaRPr lang="en-US"/>
          </a:p>
        </p:txBody>
      </p:sp>
      <p:pic>
        <p:nvPicPr>
          <p:cNvPr descr="A small, pink, cat-like creature with large blue eyes and a long, thin tail." id="7" name="Picture 6">
            <a:extLst>
              <a:ext uri="{FF2B5EF4-FFF2-40B4-BE49-F238E27FC236}">
                <a16:creationId xmlns:a16="http://schemas.microsoft.com/office/drawing/2014/main" id="{21A706CA-3E8E-4EDE-3D43-D515149B50C3}"/>
              </a:ext>
            </a:extLst>
          </p:cNvPr>
          <p:cNvPicPr>
            <a:picLocks noChangeAspect="1"/>
          </p:cNvPicPr>
          <p:nvPr/>
        </p:nvPicPr>
        <p:blipFill>
          <a:blip r:embed="rId3"/>
          <a:stretch>
            <a:fillRect/>
          </a:stretch>
        </p:blipFill>
        <p:spPr>
          <a:xfrm>
            <a:off x="10507579" y="247157"/>
            <a:ext cx="1461462" cy="1491657"/>
          </a:xfrm>
          <a:prstGeom prst="rect">
            <a:avLst/>
          </a:prstGeom>
        </p:spPr>
      </p:pic>
    </p:spTree>
    <p:extLst>
      <p:ext uri="{BB962C8B-B14F-4D97-AF65-F5344CB8AC3E}">
        <p14:creationId xmlns:p14="http://schemas.microsoft.com/office/powerpoint/2010/main" val="3497233173"/>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0FF81-7FBF-22F4-DE1B-768DC7192AD9}"/>
              </a:ext>
            </a:extLst>
          </p:cNvPr>
          <p:cNvSpPr>
            <a:spLocks noGrp="1"/>
          </p:cNvSpPr>
          <p:nvPr>
            <p:ph type="title"/>
          </p:nvPr>
        </p:nvSpPr>
        <p:spPr/>
        <p:txBody>
          <a:bodyPr/>
          <a:lstStyle/>
          <a:p>
            <a:r>
              <a:rPr dirty="0" lang="en-US"/>
              <a:t>The Median </a:t>
            </a:r>
          </a:p>
        </p:txBody>
      </p:sp>
      <p:sp>
        <p:nvSpPr>
          <p:cNvPr id="3" name="Content Placeholder 2">
            <a:extLst>
              <a:ext uri="{FF2B5EF4-FFF2-40B4-BE49-F238E27FC236}">
                <a16:creationId xmlns:a16="http://schemas.microsoft.com/office/drawing/2014/main" id="{9178129C-1713-7FFF-3A3D-6205E2D48203}"/>
              </a:ext>
            </a:extLst>
          </p:cNvPr>
          <p:cNvSpPr>
            <a:spLocks noGrp="1"/>
          </p:cNvSpPr>
          <p:nvPr>
            <p:ph idx="1"/>
          </p:nvPr>
        </p:nvSpPr>
        <p:spPr/>
        <p:txBody>
          <a:bodyPr/>
          <a:lstStyle/>
          <a:p>
            <a:pPr indent="0" marL="0">
              <a:buNone/>
            </a:pPr>
            <a:r>
              <a:rPr dirty="0" lang="en-US"/>
              <a:t>The median splits the data set in half. After the data values have been arranged in ascending order, it is the middle value. </a:t>
            </a:r>
          </a:p>
          <a:p>
            <a:pPr indent="0" marL="0">
              <a:buNone/>
            </a:pPr>
            <a:r>
              <a:rPr dirty="0" lang="en-US"/>
              <a:t>If n is odd, then the median is the middle number. </a:t>
            </a:r>
          </a:p>
          <a:p>
            <a:pPr indent="0" marL="0">
              <a:buNone/>
            </a:pPr>
            <a:r>
              <a:rPr dirty="0" lang="en-US"/>
              <a:t>If n is even, then the median is the average of the two middle numbers.</a:t>
            </a:r>
          </a:p>
        </p:txBody>
      </p:sp>
      <p:sp>
        <p:nvSpPr>
          <p:cNvPr id="4" name="Footer Placeholder 3">
            <a:extLst>
              <a:ext uri="{FF2B5EF4-FFF2-40B4-BE49-F238E27FC236}">
                <a16:creationId xmlns:a16="http://schemas.microsoft.com/office/drawing/2014/main" id="{44B72E28-7A45-09A7-8BFB-12983AFA009C}"/>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88B8CF6F-0DD0-42EA-BCD9-AD53344431D8}"/>
              </a:ext>
            </a:extLst>
          </p:cNvPr>
          <p:cNvSpPr>
            <a:spLocks noGrp="1"/>
          </p:cNvSpPr>
          <p:nvPr>
            <p:ph idx="12" sz="quarter" type="sldNum"/>
          </p:nvPr>
        </p:nvSpPr>
        <p:spPr/>
        <p:txBody>
          <a:bodyPr/>
          <a:lstStyle/>
          <a:p>
            <a:fld id="{330EA680-D336-4FF7-8B7A-9848BB0A1C32}" type="slidenum">
              <a:rPr lang="en-US" smtClean="0">
                <a:solidFill>
                  <a:srgbClr val="404040"/>
                </a:solidFill>
              </a:rPr>
              <a:t>6</a:t>
            </a:fld>
            <a:endParaRPr lang="en-US"/>
          </a:p>
        </p:txBody>
      </p:sp>
    </p:spTree>
    <p:extLst>
      <p:ext uri="{BB962C8B-B14F-4D97-AF65-F5344CB8AC3E}">
        <p14:creationId xmlns:p14="http://schemas.microsoft.com/office/powerpoint/2010/main" val="1600111476"/>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E169C-7B07-03AF-BBCD-DCDE064F9578}"/>
              </a:ext>
            </a:extLst>
          </p:cNvPr>
          <p:cNvSpPr>
            <a:spLocks noGrp="1"/>
          </p:cNvSpPr>
          <p:nvPr>
            <p:ph type="title"/>
          </p:nvPr>
        </p:nvSpPr>
        <p:spPr/>
        <p:txBody>
          <a:bodyPr/>
          <a:lstStyle/>
          <a:p>
            <a:r>
              <a:rPr dirty="0" lang="en-US"/>
              <a:t>Mean vs. Median </a:t>
            </a:r>
          </a:p>
        </p:txBody>
      </p:sp>
      <p:sp>
        <p:nvSpPr>
          <p:cNvPr id="3" name="Content Placeholder 2">
            <a:extLst>
              <a:ext uri="{FF2B5EF4-FFF2-40B4-BE49-F238E27FC236}">
                <a16:creationId xmlns:a16="http://schemas.microsoft.com/office/drawing/2014/main" id="{8A3D8803-8C31-0F37-5DD4-2AF0EAE0749A}"/>
              </a:ext>
            </a:extLst>
          </p:cNvPr>
          <p:cNvSpPr>
            <a:spLocks noGrp="1"/>
          </p:cNvSpPr>
          <p:nvPr>
            <p:ph idx="1"/>
          </p:nvPr>
        </p:nvSpPr>
        <p:spPr/>
        <p:txBody>
          <a:bodyPr>
            <a:normAutofit fontScale="85000" lnSpcReduction="20000"/>
          </a:bodyPr>
          <a:lstStyle/>
          <a:p>
            <a:pPr indent="0" marL="0">
              <a:buNone/>
            </a:pPr>
            <a:r>
              <a:rPr dirty="0" lang="en-US"/>
              <a:t>How many data values influence the mean? How many data values influence the median? </a:t>
            </a:r>
          </a:p>
          <a:p>
            <a:pPr indent="0" marL="0">
              <a:buNone/>
            </a:pPr>
            <a:r>
              <a:rPr dirty="0" lang="en-US"/>
              <a:t>The median is resistant to extreme values. The highest and lowest values do not significantly pull the median in either direction. The mean is NOT resistant to extreme values. A relatively high or relatively low number will pull the mean up or down accordingly. Because the median is resistant, it is a better measure of center to rely on for skewed data. </a:t>
            </a:r>
          </a:p>
          <a:p>
            <a:pPr indent="0" marL="0">
              <a:buNone/>
            </a:pPr>
            <a:r>
              <a:rPr dirty="0" lang="en-US"/>
              <a:t>Example: Find the mean and median of both groups of income. </a:t>
            </a:r>
          </a:p>
          <a:p>
            <a:pPr indent="0" marL="0">
              <a:buNone/>
            </a:pPr>
            <a:endParaRPr dirty="0" lang="en-US"/>
          </a:p>
          <a:p>
            <a:pPr indent="0" marL="0">
              <a:buNone/>
            </a:pPr>
            <a:r>
              <a:rPr dirty="0" lang="en-US"/>
              <a:t>Group 1: </a:t>
            </a:r>
          </a:p>
          <a:p>
            <a:pPr algn="ctr" indent="0" marL="0">
              <a:buNone/>
            </a:pPr>
            <a:r>
              <a:rPr dirty="0" lang="en-US"/>
              <a:t>$25,000    $31,000    $34,000    $44,000    $56,000 </a:t>
            </a:r>
          </a:p>
          <a:p>
            <a:pPr indent="0" marL="0">
              <a:buNone/>
            </a:pPr>
            <a:r>
              <a:rPr dirty="0" lang="en-US"/>
              <a:t>Group 2: </a:t>
            </a:r>
          </a:p>
          <a:p>
            <a:pPr algn="ctr" indent="0" marL="0">
              <a:buNone/>
            </a:pPr>
            <a:r>
              <a:rPr dirty="0" lang="en-US"/>
              <a:t> $25,000    $31,000    $34,000    $44,000    $800,000</a:t>
            </a:r>
          </a:p>
        </p:txBody>
      </p:sp>
      <p:sp>
        <p:nvSpPr>
          <p:cNvPr id="4" name="Footer Placeholder 3">
            <a:extLst>
              <a:ext uri="{FF2B5EF4-FFF2-40B4-BE49-F238E27FC236}">
                <a16:creationId xmlns:a16="http://schemas.microsoft.com/office/drawing/2014/main" id="{BB631679-1AD5-C3BA-950A-A7047505A4A1}"/>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F459AC0F-E86B-3A90-1427-C96F5F64E132}"/>
              </a:ext>
            </a:extLst>
          </p:cNvPr>
          <p:cNvSpPr>
            <a:spLocks noGrp="1"/>
          </p:cNvSpPr>
          <p:nvPr>
            <p:ph idx="12" sz="quarter" type="sldNum"/>
          </p:nvPr>
        </p:nvSpPr>
        <p:spPr/>
        <p:txBody>
          <a:bodyPr/>
          <a:lstStyle/>
          <a:p>
            <a:fld id="{330EA680-D336-4FF7-8B7A-9848BB0A1C32}" type="slidenum">
              <a:rPr lang="en-US" smtClean="0">
                <a:solidFill>
                  <a:srgbClr val="404040"/>
                </a:solidFill>
              </a:rPr>
              <a:t>7</a:t>
            </a:fld>
            <a:endParaRPr lang="en-US"/>
          </a:p>
        </p:txBody>
      </p:sp>
    </p:spTree>
    <p:extLst>
      <p:ext uri="{BB962C8B-B14F-4D97-AF65-F5344CB8AC3E}">
        <p14:creationId xmlns:p14="http://schemas.microsoft.com/office/powerpoint/2010/main" val="130847417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211A5-D884-F056-12D7-A4A65DFCFDF2}"/>
              </a:ext>
            </a:extLst>
          </p:cNvPr>
          <p:cNvSpPr>
            <a:spLocks noGrp="1"/>
          </p:cNvSpPr>
          <p:nvPr>
            <p:ph type="title"/>
          </p:nvPr>
        </p:nvSpPr>
        <p:spPr/>
        <p:txBody>
          <a:bodyPr/>
          <a:lstStyle/>
          <a:p>
            <a:r>
              <a:rPr dirty="0" lang="en-US"/>
              <a:t>Mean vs. Median in a Picture</a:t>
            </a:r>
          </a:p>
        </p:txBody>
      </p:sp>
      <p:sp>
        <p:nvSpPr>
          <p:cNvPr id="3" name="Content Placeholder 2">
            <a:extLst>
              <a:ext uri="{FF2B5EF4-FFF2-40B4-BE49-F238E27FC236}">
                <a16:creationId xmlns:a16="http://schemas.microsoft.com/office/drawing/2014/main" id="{C356F5D9-ACF4-B2A4-8F52-AC9B82934104}"/>
              </a:ext>
            </a:extLst>
          </p:cNvPr>
          <p:cNvSpPr>
            <a:spLocks noGrp="1"/>
          </p:cNvSpPr>
          <p:nvPr>
            <p:ph idx="1"/>
          </p:nvPr>
        </p:nvSpPr>
        <p:spPr>
          <a:xfrm>
            <a:off x="214183" y="1825625"/>
            <a:ext cx="11813059" cy="4351338"/>
          </a:xfrm>
        </p:spPr>
        <p:txBody>
          <a:bodyPr>
            <a:normAutofit/>
          </a:bodyPr>
          <a:lstStyle/>
          <a:p>
            <a:pPr algn="ctr" indent="0" marL="0">
              <a:buNone/>
            </a:pPr>
            <a:r>
              <a:rPr dirty="0" lang="en-US" sz="1400"/>
              <a:t>Right-skewed distributions: mean &gt; median. 	Symmetric distributions: mean = median.	 Left-skewed distributions: mean &lt; median.</a:t>
            </a:r>
          </a:p>
        </p:txBody>
      </p:sp>
      <p:sp>
        <p:nvSpPr>
          <p:cNvPr id="4" name="Footer Placeholder 3">
            <a:extLst>
              <a:ext uri="{FF2B5EF4-FFF2-40B4-BE49-F238E27FC236}">
                <a16:creationId xmlns:a16="http://schemas.microsoft.com/office/drawing/2014/main" id="{5FBBAAB6-5848-EDBD-3ECC-29FA1CC06B3F}"/>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82064839-F2C1-CE54-5A88-957FAB85DD8E}"/>
              </a:ext>
            </a:extLst>
          </p:cNvPr>
          <p:cNvSpPr>
            <a:spLocks noGrp="1"/>
          </p:cNvSpPr>
          <p:nvPr>
            <p:ph idx="12" sz="quarter" type="sldNum"/>
          </p:nvPr>
        </p:nvSpPr>
        <p:spPr/>
        <p:txBody>
          <a:bodyPr/>
          <a:lstStyle/>
          <a:p>
            <a:fld id="{330EA680-D336-4FF7-8B7A-9848BB0A1C32}" type="slidenum">
              <a:rPr lang="en-US" smtClean="0">
                <a:solidFill>
                  <a:srgbClr val="404040"/>
                </a:solidFill>
              </a:rPr>
              <a:t>8</a:t>
            </a:fld>
            <a:endParaRPr lang="en-US"/>
          </a:p>
        </p:txBody>
      </p:sp>
      <p:pic>
        <p:nvPicPr>
          <p:cNvPr descr="Skewed vs symmetric distributions " id="7" name="Picture 6">
            <a:extLst>
              <a:ext uri="{FF2B5EF4-FFF2-40B4-BE49-F238E27FC236}">
                <a16:creationId xmlns:a16="http://schemas.microsoft.com/office/drawing/2014/main" id="{21B91132-8AD7-6929-5DA7-D62B99E10A42}"/>
              </a:ext>
            </a:extLst>
          </p:cNvPr>
          <p:cNvPicPr>
            <a:picLocks noChangeAspect="1"/>
          </p:cNvPicPr>
          <p:nvPr/>
        </p:nvPicPr>
        <p:blipFill>
          <a:blip r:embed="rId2"/>
          <a:stretch>
            <a:fillRect/>
          </a:stretch>
        </p:blipFill>
        <p:spPr>
          <a:xfrm>
            <a:off x="979276" y="2767913"/>
            <a:ext cx="10282871" cy="2675677"/>
          </a:xfrm>
          <a:prstGeom prst="rect">
            <a:avLst/>
          </a:prstGeom>
        </p:spPr>
      </p:pic>
    </p:spTree>
    <p:extLst>
      <p:ext uri="{BB962C8B-B14F-4D97-AF65-F5344CB8AC3E}">
        <p14:creationId xmlns:p14="http://schemas.microsoft.com/office/powerpoint/2010/main" val="2824578505"/>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16EB3-1120-F4BE-1E68-9B72DFBE6A1B}"/>
              </a:ext>
            </a:extLst>
          </p:cNvPr>
          <p:cNvSpPr>
            <a:spLocks noGrp="1"/>
          </p:cNvSpPr>
          <p:nvPr>
            <p:ph type="title"/>
          </p:nvPr>
        </p:nvSpPr>
        <p:spPr/>
        <p:txBody>
          <a:bodyPr/>
          <a:lstStyle/>
          <a:p>
            <a:r>
              <a:rPr dirty="0" lang="en-US"/>
              <a:t>The Mode</a:t>
            </a:r>
          </a:p>
        </p:txBody>
      </p:sp>
      <p:sp>
        <p:nvSpPr>
          <p:cNvPr id="3" name="Content Placeholder 2">
            <a:extLst>
              <a:ext uri="{FF2B5EF4-FFF2-40B4-BE49-F238E27FC236}">
                <a16:creationId xmlns:a16="http://schemas.microsoft.com/office/drawing/2014/main" id="{4EF0A13D-C1FD-94EA-6233-2FB7C31799D5}"/>
              </a:ext>
            </a:extLst>
          </p:cNvPr>
          <p:cNvSpPr>
            <a:spLocks noGrp="1"/>
          </p:cNvSpPr>
          <p:nvPr>
            <p:ph idx="1"/>
          </p:nvPr>
        </p:nvSpPr>
        <p:spPr>
          <a:xfrm>
            <a:off x="838199" y="1690688"/>
            <a:ext cx="10515600" cy="4351338"/>
          </a:xfrm>
        </p:spPr>
        <p:txBody>
          <a:bodyPr>
            <a:normAutofit/>
          </a:bodyPr>
          <a:lstStyle/>
          <a:p>
            <a:pPr indent="0" marL="0">
              <a:buNone/>
            </a:pPr>
            <a:r>
              <a:rPr dirty="0" lang="en-US" sz="2000"/>
              <a:t>The mode is the most frequent or most common data value. It can be found for both quantitative and qualitative data. There can be multiple modes if they are tied in count for most frequent value. Visually, the mode is the peak.</a:t>
            </a:r>
          </a:p>
        </p:txBody>
      </p:sp>
      <p:sp>
        <p:nvSpPr>
          <p:cNvPr id="4" name="Footer Placeholder 3">
            <a:extLst>
              <a:ext uri="{FF2B5EF4-FFF2-40B4-BE49-F238E27FC236}">
                <a16:creationId xmlns:a16="http://schemas.microsoft.com/office/drawing/2014/main" id="{675C0733-F04F-1FE4-7104-2E61CEF035B5}"/>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09F636CC-C906-9C8E-C2F5-0FB6A8545844}"/>
              </a:ext>
            </a:extLst>
          </p:cNvPr>
          <p:cNvSpPr>
            <a:spLocks noGrp="1"/>
          </p:cNvSpPr>
          <p:nvPr>
            <p:ph idx="12" sz="quarter" type="sldNum"/>
          </p:nvPr>
        </p:nvSpPr>
        <p:spPr/>
        <p:txBody>
          <a:bodyPr/>
          <a:lstStyle/>
          <a:p>
            <a:fld id="{330EA680-D336-4FF7-8B7A-9848BB0A1C32}" type="slidenum">
              <a:rPr lang="en-US" smtClean="0">
                <a:solidFill>
                  <a:srgbClr val="404040"/>
                </a:solidFill>
              </a:rPr>
              <a:t>9</a:t>
            </a:fld>
            <a:endParaRPr lang="en-US"/>
          </a:p>
        </p:txBody>
      </p:sp>
      <p:pic>
        <p:nvPicPr>
          <p:cNvPr descr="Mean, median and mode in skewed vs symmetric data " id="7" name="Picture 6">
            <a:extLst>
              <a:ext uri="{FF2B5EF4-FFF2-40B4-BE49-F238E27FC236}">
                <a16:creationId xmlns:a16="http://schemas.microsoft.com/office/drawing/2014/main" id="{8BD1E349-E4D2-9553-15B4-CC81C0FC3209}"/>
              </a:ext>
            </a:extLst>
          </p:cNvPr>
          <p:cNvPicPr>
            <a:picLocks noChangeAspect="1"/>
          </p:cNvPicPr>
          <p:nvPr/>
        </p:nvPicPr>
        <p:blipFill>
          <a:blip r:embed="rId2"/>
          <a:stretch>
            <a:fillRect/>
          </a:stretch>
        </p:blipFill>
        <p:spPr>
          <a:xfrm>
            <a:off x="700572" y="2683192"/>
            <a:ext cx="10790855" cy="3673158"/>
          </a:xfrm>
          <a:prstGeom prst="rect">
            <a:avLst/>
          </a:prstGeom>
        </p:spPr>
      </p:pic>
    </p:spTree>
    <p:extLst>
      <p:ext uri="{BB962C8B-B14F-4D97-AF65-F5344CB8AC3E}">
        <p14:creationId xmlns:p14="http://schemas.microsoft.com/office/powerpoint/2010/main" val="1756251203"/>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CD416-79CA-7B7F-0E2A-7FA7A009B4EC}"/>
              </a:ext>
            </a:extLst>
          </p:cNvPr>
          <p:cNvSpPr>
            <a:spLocks noGrp="1"/>
          </p:cNvSpPr>
          <p:nvPr>
            <p:ph type="title"/>
          </p:nvPr>
        </p:nvSpPr>
        <p:spPr/>
        <p:txBody>
          <a:bodyPr/>
          <a:lstStyle/>
          <a:p>
            <a:r>
              <a:rPr dirty="0" lang="en-US"/>
              <a:t>Practice (using </a:t>
            </a:r>
            <a:r>
              <a:rPr dirty="0" err="1" lang="en-US"/>
              <a:t>mtcars</a:t>
            </a:r>
            <a:r>
              <a:rPr dirty="0" lang="en-US"/>
              <a:t>)  </a:t>
            </a:r>
          </a:p>
        </p:txBody>
      </p:sp>
      <p:sp>
        <p:nvSpPr>
          <p:cNvPr id="3" name="Content Placeholder 2">
            <a:extLst>
              <a:ext uri="{FF2B5EF4-FFF2-40B4-BE49-F238E27FC236}">
                <a16:creationId xmlns:a16="http://schemas.microsoft.com/office/drawing/2014/main" id="{7AE948EB-9B2C-9958-8B8A-3B44AC4E0724}"/>
              </a:ext>
            </a:extLst>
          </p:cNvPr>
          <p:cNvSpPr>
            <a:spLocks noGrp="1"/>
          </p:cNvSpPr>
          <p:nvPr>
            <p:ph idx="1"/>
          </p:nvPr>
        </p:nvSpPr>
        <p:spPr/>
        <p:txBody>
          <a:bodyPr/>
          <a:lstStyle/>
          <a:p>
            <a:pPr indent="-514350" marL="514350">
              <a:buFont typeface="+mj-lt"/>
              <a:buAutoNum type="arabicPeriod"/>
            </a:pPr>
            <a:r>
              <a:rPr dirty="0" lang="en-US"/>
              <a:t>What is the mean of the variable weight (</a:t>
            </a:r>
            <a:r>
              <a:rPr dirty="0" err="1" lang="en-US"/>
              <a:t>wt</a:t>
            </a:r>
            <a:r>
              <a:rPr dirty="0" lang="en-US"/>
              <a:t>)? </a:t>
            </a:r>
            <a:br>
              <a:rPr dirty="0" lang="en-US"/>
            </a:br>
            <a:endParaRPr dirty="0" lang="en-US"/>
          </a:p>
          <a:p>
            <a:pPr indent="-514350" marL="514350">
              <a:buFont typeface="+mj-lt"/>
              <a:buAutoNum type="arabicPeriod"/>
            </a:pPr>
            <a:r>
              <a:rPr dirty="0" lang="en-US"/>
              <a:t>What is the median of the variable displacement (</a:t>
            </a:r>
            <a:r>
              <a:rPr dirty="0" err="1" lang="en-US"/>
              <a:t>disp</a:t>
            </a:r>
            <a:r>
              <a:rPr dirty="0" lang="en-US"/>
              <a:t>)? </a:t>
            </a:r>
            <a:br>
              <a:rPr dirty="0" lang="en-US"/>
            </a:br>
            <a:endParaRPr dirty="0" lang="en-US"/>
          </a:p>
          <a:p>
            <a:pPr indent="-514350" marL="514350">
              <a:buFont typeface="+mj-lt"/>
              <a:buAutoNum type="arabicPeriod"/>
            </a:pPr>
            <a:r>
              <a:rPr dirty="0" lang="en-US"/>
              <a:t>What is the mode of the variable gear</a:t>
            </a:r>
          </a:p>
        </p:txBody>
      </p:sp>
      <p:sp>
        <p:nvSpPr>
          <p:cNvPr id="4" name="Footer Placeholder 3">
            <a:extLst>
              <a:ext uri="{FF2B5EF4-FFF2-40B4-BE49-F238E27FC236}">
                <a16:creationId xmlns:a16="http://schemas.microsoft.com/office/drawing/2014/main" id="{72F84385-336F-4B53-91E2-9E0FCA093799}"/>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C11551E5-A9DB-D0DE-4A30-0404B4D3ACF7}"/>
              </a:ext>
            </a:extLst>
          </p:cNvPr>
          <p:cNvSpPr>
            <a:spLocks noGrp="1"/>
          </p:cNvSpPr>
          <p:nvPr>
            <p:ph idx="12" sz="quarter" type="sldNum"/>
          </p:nvPr>
        </p:nvSpPr>
        <p:spPr/>
        <p:txBody>
          <a:bodyPr/>
          <a:lstStyle/>
          <a:p>
            <a:fld id="{330EA680-D336-4FF7-8B7A-9848BB0A1C32}" type="slidenum">
              <a:rPr lang="en-US" smtClean="0">
                <a:solidFill>
                  <a:srgbClr val="404040"/>
                </a:solidFill>
              </a:rPr>
              <a:t>10</a:t>
            </a:fld>
            <a:endParaRPr lang="en-US"/>
          </a:p>
        </p:txBody>
      </p:sp>
    </p:spTree>
    <p:extLst>
      <p:ext uri="{BB962C8B-B14F-4D97-AF65-F5344CB8AC3E}">
        <p14:creationId xmlns:p14="http://schemas.microsoft.com/office/powerpoint/2010/main" val="145965250"/>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CCCB2-722F-4D77-D515-DB0ABF85E77B}"/>
              </a:ext>
            </a:extLst>
          </p:cNvPr>
          <p:cNvSpPr>
            <a:spLocks noGrp="1"/>
          </p:cNvSpPr>
          <p:nvPr>
            <p:ph type="title"/>
          </p:nvPr>
        </p:nvSpPr>
        <p:spPr/>
        <p:txBody>
          <a:bodyPr/>
          <a:lstStyle/>
          <a:p>
            <a:r>
              <a:rPr dirty="0" lang="en-US"/>
              <a:t>Measures of Dispersion </a:t>
            </a:r>
          </a:p>
        </p:txBody>
      </p:sp>
      <p:sp>
        <p:nvSpPr>
          <p:cNvPr id="3" name="Content Placeholder 2">
            <a:extLst>
              <a:ext uri="{FF2B5EF4-FFF2-40B4-BE49-F238E27FC236}">
                <a16:creationId xmlns:a16="http://schemas.microsoft.com/office/drawing/2014/main" id="{9D31B932-57E2-E10B-F135-57CBC886EC49}"/>
              </a:ext>
            </a:extLst>
          </p:cNvPr>
          <p:cNvSpPr>
            <a:spLocks noGrp="1"/>
          </p:cNvSpPr>
          <p:nvPr>
            <p:ph idx="1"/>
          </p:nvPr>
        </p:nvSpPr>
        <p:spPr/>
        <p:txBody>
          <a:bodyPr/>
          <a:lstStyle/>
          <a:p>
            <a:pPr indent="0" marL="0">
              <a:buNone/>
            </a:pPr>
            <a:r>
              <a:rPr dirty="0" lang="en-US"/>
              <a:t>Measures of spread tell us how dispersed, spread out, or varied a data set it. </a:t>
            </a:r>
          </a:p>
          <a:p>
            <a:endParaRPr dirty="0" lang="en-US"/>
          </a:p>
        </p:txBody>
      </p:sp>
      <p:sp>
        <p:nvSpPr>
          <p:cNvPr id="4" name="Footer Placeholder 3">
            <a:extLst>
              <a:ext uri="{FF2B5EF4-FFF2-40B4-BE49-F238E27FC236}">
                <a16:creationId xmlns:a16="http://schemas.microsoft.com/office/drawing/2014/main" id="{88490EAD-AA1C-A759-D3CD-3DCC7F62C8FF}"/>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14607527-EE25-8A66-EA62-D41D7CDEF8C8}"/>
              </a:ext>
            </a:extLst>
          </p:cNvPr>
          <p:cNvSpPr>
            <a:spLocks noGrp="1"/>
          </p:cNvSpPr>
          <p:nvPr>
            <p:ph idx="12" sz="quarter" type="sldNum"/>
          </p:nvPr>
        </p:nvSpPr>
        <p:spPr/>
        <p:txBody>
          <a:bodyPr/>
          <a:lstStyle/>
          <a:p>
            <a:fld id="{330EA680-D336-4FF7-8B7A-9848BB0A1C32}" type="slidenum">
              <a:rPr lang="en-US" smtClean="0">
                <a:solidFill>
                  <a:srgbClr val="404040"/>
                </a:solidFill>
              </a:rPr>
              <a:t>11</a:t>
            </a:fld>
            <a:endParaRPr lang="en-US"/>
          </a:p>
        </p:txBody>
      </p:sp>
    </p:spTree>
    <p:extLst>
      <p:ext uri="{BB962C8B-B14F-4D97-AF65-F5344CB8AC3E}">
        <p14:creationId xmlns:p14="http://schemas.microsoft.com/office/powerpoint/2010/main" val="3677624540"/>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97A0A-237C-52A5-D97E-1470709751B6}"/>
              </a:ext>
            </a:extLst>
          </p:cNvPr>
          <p:cNvSpPr>
            <a:spLocks noGrp="1"/>
          </p:cNvSpPr>
          <p:nvPr>
            <p:ph type="title"/>
          </p:nvPr>
        </p:nvSpPr>
        <p:spPr/>
        <p:txBody>
          <a:bodyPr/>
          <a:lstStyle/>
          <a:p>
            <a:r>
              <a:rPr dirty="0" lang="en-US"/>
              <a:t>The Range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2C9D86CA-7F42-07FC-DD42-F461F2AC5075}"/>
                  </a:ext>
                </a:extLst>
              </p:cNvPr>
              <p:cNvSpPr>
                <a:spLocks noGrp="1"/>
              </p:cNvSpPr>
              <p:nvPr>
                <p:ph idx="1"/>
              </p:nvPr>
            </p:nvSpPr>
            <p:spPr/>
            <p:txBody>
              <a:bodyPr>
                <a:normAutofit/>
              </a:bodyPr>
              <a:lstStyle/>
              <a:p>
                <a:pPr indent="0" marL="0">
                  <a:buNone/>
                </a:pPr>
                <a:r>
                  <a:rPr dirty="0" lang="en-US"/>
                  <a:t>The range is the difference between the highest value and the lowest value. This is the simplest measure of spread and honestly doesn’t tell us much, since it is calculated from only two values in the data set. The range is misleading when you have extreme values in the data set. You could have a large range just by having one extreme, unusual data value.</a:t>
                </a:r>
                <a:br>
                  <a:rPr dirty="0" lang="en-US"/>
                </a:br>
                <a:endParaRPr dirty="0" lang="en-US"/>
              </a:p>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𝑟𝑎𝑛𝑔𝑒</m:t>
                      </m:r>
                      <m:r>
                        <a:rPr b="0" i="1" lang="en-US" smtClean="0">
                          <a:latin charset="0" panose="02040503050406030204" pitchFamily="18" typeface="Cambria Math"/>
                        </a:rPr>
                        <m:t>=</m:t>
                      </m:r>
                      <m:r>
                        <a:rPr b="0" i="1" lang="en-US" smtClean="0">
                          <a:latin charset="0" panose="02040503050406030204" pitchFamily="18" typeface="Cambria Math"/>
                        </a:rPr>
                        <m:t>𝑚𝑎𝑥</m:t>
                      </m:r>
                      <m:r>
                        <a:rPr b="0" i="1" lang="en-US" smtClean="0">
                          <a:latin charset="0" panose="02040503050406030204" pitchFamily="18" typeface="Cambria Math"/>
                        </a:rPr>
                        <m:t>−</m:t>
                      </m:r>
                      <m:r>
                        <a:rPr b="0" i="1" lang="en-US" smtClean="0">
                          <a:latin charset="0" panose="02040503050406030204" pitchFamily="18" typeface="Cambria Math"/>
                        </a:rPr>
                        <m:t>𝑚𝑖𝑛</m:t>
                      </m:r>
                    </m:oMath>
                  </m:oMathPara>
                </a14:m>
                <a:endParaRPr dirty="0" lang="en-US"/>
              </a:p>
              <a:p>
                <a:pPr indent="0" marL="0">
                  <a:buNone/>
                </a:pPr>
                <a:endParaRPr dirty="0" lang="en-US"/>
              </a:p>
            </p:txBody>
          </p:sp>
        </mc:Choice>
        <mc:Fallback>
          <p:sp>
            <p:nvSpPr>
              <p:cNvPr id="3" name="Content Placeholder 2">
                <a:extLst>
                  <a:ext uri="{FF2B5EF4-FFF2-40B4-BE49-F238E27FC236}">
                    <a16:creationId xmlns:a16="http://schemas.microsoft.com/office/drawing/2014/main" id="{2C9D86CA-7F42-07FC-DD42-F461F2AC5075}"/>
                  </a:ext>
                </a:extLst>
              </p:cNvPr>
              <p:cNvSpPr>
                <a:spLocks noAdjustHandles="1" noChangeArrowheads="1" noChangeAspect="1" noChangeShapeType="1" noEditPoints="1" noGrp="1" noMove="1" noResize="1" noRot="1" noTextEdit="1"/>
              </p:cNvSpPr>
              <p:nvPr>
                <p:ph idx="1"/>
              </p:nvPr>
            </p:nvSpPr>
            <p:spPr>
              <a:blipFill>
                <a:blip r:embed="rId2"/>
                <a:stretch>
                  <a:fillRect l="-1217" r="-1159"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C492324-446D-2CDF-8A8D-C3C38BF9D943}"/>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49E46474-0BC1-30B5-4E11-EE4CBC4A14F7}"/>
              </a:ext>
            </a:extLst>
          </p:cNvPr>
          <p:cNvSpPr>
            <a:spLocks noGrp="1"/>
          </p:cNvSpPr>
          <p:nvPr>
            <p:ph idx="12" sz="quarter" type="sldNum"/>
          </p:nvPr>
        </p:nvSpPr>
        <p:spPr/>
        <p:txBody>
          <a:bodyPr/>
          <a:lstStyle/>
          <a:p>
            <a:fld id="{330EA680-D336-4FF7-8B7A-9848BB0A1C32}" type="slidenum">
              <a:rPr lang="en-US" smtClean="0">
                <a:solidFill>
                  <a:srgbClr val="404040"/>
                </a:solidFill>
              </a:rPr>
              <a:t>12</a:t>
            </a:fld>
            <a:endParaRPr lang="en-US"/>
          </a:p>
        </p:txBody>
      </p:sp>
    </p:spTree>
    <p:extLst>
      <p:ext uri="{BB962C8B-B14F-4D97-AF65-F5344CB8AC3E}">
        <p14:creationId xmlns:p14="http://schemas.microsoft.com/office/powerpoint/2010/main" val="982439230"/>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6BF20-5CCE-0CCF-4346-998E52D667F3}"/>
              </a:ext>
            </a:extLst>
          </p:cNvPr>
          <p:cNvSpPr>
            <a:spLocks noGrp="1"/>
          </p:cNvSpPr>
          <p:nvPr>
            <p:ph type="title"/>
          </p:nvPr>
        </p:nvSpPr>
        <p:spPr/>
        <p:txBody>
          <a:bodyPr/>
          <a:lstStyle/>
          <a:p>
            <a:r>
              <a:rPr dirty="0" lang="en-US"/>
              <a:t>Range Practice </a:t>
            </a:r>
          </a:p>
        </p:txBody>
      </p:sp>
      <p:sp>
        <p:nvSpPr>
          <p:cNvPr id="3" name="Content Placeholder 2">
            <a:extLst>
              <a:ext uri="{FF2B5EF4-FFF2-40B4-BE49-F238E27FC236}">
                <a16:creationId xmlns:a16="http://schemas.microsoft.com/office/drawing/2014/main" id="{B3A7B1DC-C84C-22CC-E035-D0E2B2FD3F88}"/>
              </a:ext>
            </a:extLst>
          </p:cNvPr>
          <p:cNvSpPr>
            <a:spLocks noGrp="1"/>
          </p:cNvSpPr>
          <p:nvPr>
            <p:ph idx="1"/>
          </p:nvPr>
        </p:nvSpPr>
        <p:spPr/>
        <p:txBody>
          <a:bodyPr>
            <a:normAutofit/>
          </a:bodyPr>
          <a:lstStyle/>
          <a:p>
            <a:pPr indent="-514350" marL="514350">
              <a:buFont typeface="+mj-lt"/>
              <a:buAutoNum type="arabicPeriod"/>
            </a:pPr>
            <a:r>
              <a:rPr dirty="0" lang="en-US"/>
              <a:t>The range of some variable is 150 and the minimum value is 79. What is the maximum value? </a:t>
            </a:r>
          </a:p>
          <a:p>
            <a:pPr indent="-514350" marL="514350">
              <a:buFont typeface="+mj-lt"/>
              <a:buAutoNum type="arabicPeriod"/>
            </a:pPr>
            <a:r>
              <a:rPr dirty="0" lang="en-US"/>
              <a:t>Can the range of a variable ever be 0? </a:t>
            </a:r>
          </a:p>
          <a:p>
            <a:pPr indent="-514350" marL="514350">
              <a:buFont typeface="+mj-lt"/>
              <a:buAutoNum type="arabicPeriod"/>
            </a:pPr>
            <a:r>
              <a:rPr dirty="0" lang="en-US"/>
              <a:t>Can the range of a variable ever be a negative number? </a:t>
            </a:r>
          </a:p>
          <a:p>
            <a:pPr indent="-514350" marL="514350">
              <a:buFont typeface="+mj-lt"/>
              <a:buAutoNum type="arabicPeriod"/>
            </a:pPr>
            <a:r>
              <a:rPr dirty="0" lang="en-US"/>
              <a:t>Look at vectors b1 and b2. Which one seems to have a higher level of variability? </a:t>
            </a:r>
          </a:p>
          <a:p>
            <a:pPr indent="0" marL="0">
              <a:buNone/>
            </a:pPr>
            <a:r>
              <a:rPr dirty="0" lang="en-US"/>
              <a:t>	b1 &lt;- c(1, 5, 7, 7, 7, 7, 7, 7, 7, 7, 20)</a:t>
            </a:r>
            <a:br>
              <a:rPr dirty="0" lang="en-US"/>
            </a:br>
            <a:r>
              <a:rPr dirty="0" lang="en-US"/>
              <a:t>	b2 &lt;- c(1, 3, 5, 9, 13, 15, 16, 17, 19, 20)</a:t>
            </a:r>
          </a:p>
          <a:p>
            <a:pPr indent="-514350" marL="514350">
              <a:buFont typeface="+mj-lt"/>
              <a:buAutoNum startAt="5" type="arabicPeriod"/>
            </a:pPr>
            <a:r>
              <a:rPr dirty="0" lang="en-US"/>
              <a:t>Calculate the range of both vectors.</a:t>
            </a:r>
          </a:p>
        </p:txBody>
      </p:sp>
      <p:sp>
        <p:nvSpPr>
          <p:cNvPr id="4" name="Footer Placeholder 3">
            <a:extLst>
              <a:ext uri="{FF2B5EF4-FFF2-40B4-BE49-F238E27FC236}">
                <a16:creationId xmlns:a16="http://schemas.microsoft.com/office/drawing/2014/main" id="{38B2C7D0-F01D-0FF1-7255-1656251CA2DC}"/>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EC0D4EDF-0A16-F6F1-E44D-E662B9B8AB23}"/>
              </a:ext>
            </a:extLst>
          </p:cNvPr>
          <p:cNvSpPr>
            <a:spLocks noGrp="1"/>
          </p:cNvSpPr>
          <p:nvPr>
            <p:ph idx="12" sz="quarter" type="sldNum"/>
          </p:nvPr>
        </p:nvSpPr>
        <p:spPr/>
        <p:txBody>
          <a:bodyPr/>
          <a:lstStyle/>
          <a:p>
            <a:fld id="{330EA680-D336-4FF7-8B7A-9848BB0A1C32}" type="slidenum">
              <a:rPr lang="en-US" smtClean="0">
                <a:solidFill>
                  <a:srgbClr val="404040"/>
                </a:solidFill>
              </a:rPr>
              <a:t>13</a:t>
            </a:fld>
            <a:endParaRPr lang="en-US"/>
          </a:p>
        </p:txBody>
      </p:sp>
    </p:spTree>
    <p:extLst>
      <p:ext uri="{BB962C8B-B14F-4D97-AF65-F5344CB8AC3E}">
        <p14:creationId xmlns:p14="http://schemas.microsoft.com/office/powerpoint/2010/main" val="1576849063"/>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453F4-20B5-733B-B8C6-62A4E2716FE1}"/>
              </a:ext>
            </a:extLst>
          </p:cNvPr>
          <p:cNvSpPr>
            <a:spLocks noGrp="1"/>
          </p:cNvSpPr>
          <p:nvPr>
            <p:ph type="title"/>
          </p:nvPr>
        </p:nvSpPr>
        <p:spPr/>
        <p:txBody>
          <a:bodyPr/>
          <a:lstStyle/>
          <a:p>
            <a:r>
              <a:rPr dirty="0" lang="en-US"/>
              <a:t>Variance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52612D08-D71E-69B3-D7C0-861CED7E8BE0}"/>
                  </a:ext>
                </a:extLst>
              </p:cNvPr>
              <p:cNvSpPr>
                <a:spLocks noGrp="1"/>
              </p:cNvSpPr>
              <p:nvPr>
                <p:ph idx="1"/>
              </p:nvPr>
            </p:nvSpPr>
            <p:spPr>
              <a:xfrm>
                <a:off x="625046" y="1776198"/>
                <a:ext cx="10941908" cy="4351338"/>
              </a:xfrm>
            </p:spPr>
            <p:txBody>
              <a:bodyPr>
                <a:normAutofit fontScale="92500"/>
              </a:bodyPr>
              <a:lstStyle/>
              <a:p>
                <a:pPr indent="0" marL="0">
                  <a:buNone/>
                </a:pPr>
                <a:r>
                  <a:rPr dirty="0" lang="en-US"/>
                  <a:t>The variance tells us the average distance between the data values and the mean. The more spread out (or dispersed) the data values are from the mean, the larger the variance. A smaller spread means a smaller variance. </a:t>
                </a:r>
              </a:p>
              <a:p>
                <a:pPr indent="0" marL="0">
                  <a:buNone/>
                </a:pPr>
                <a:r>
                  <a:rPr dirty="0" lang="en-US"/>
                  <a:t>A deviation is the distance between one data value and the mean: </a:t>
                </a:r>
                <a14:m>
                  <m:oMath xmlns:m="http://schemas.openxmlformats.org/officeDocument/2006/math">
                    <m:r>
                      <a:rPr b="0" i="1" lang="en-US" smtClean="0">
                        <a:latin charset="0" panose="02040503050406030204" pitchFamily="18" typeface="Cambria Math"/>
                      </a:rPr>
                      <m:t>𝑥</m:t>
                    </m:r>
                    <m:r>
                      <a:rPr b="0" i="1" lang="en-US" smtClean="0">
                        <a:latin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𝜇</m:t>
                    </m:r>
                  </m:oMath>
                </a14:m>
                <a:endParaRPr dirty="0" lang="en-US"/>
              </a:p>
              <a:p>
                <a:pPr indent="0" marL="0">
                  <a:buNone/>
                </a:pPr>
                <a:r>
                  <a:rPr dirty="0" lang="en-US"/>
                  <a:t>Since some data values are less than the mean and some are greater, simply adding all the deviations together would result in a value of zero. That’s why the formula for variance makes us square the deviations before adding them all together – so it will always be a positive number. The action of squaring means that the units of measure for variance are always squared. For example, if the data values are given in feet, then the variance would be given in ft².</a:t>
                </a:r>
              </a:p>
            </p:txBody>
          </p:sp>
        </mc:Choice>
        <mc:Fallback>
          <p:sp>
            <p:nvSpPr>
              <p:cNvPr id="3" name="Content Placeholder 2">
                <a:extLst>
                  <a:ext uri="{FF2B5EF4-FFF2-40B4-BE49-F238E27FC236}">
                    <a16:creationId xmlns:a16="http://schemas.microsoft.com/office/drawing/2014/main" id="{52612D08-D71E-69B3-D7C0-861CED7E8BE0}"/>
                  </a:ext>
                </a:extLst>
              </p:cNvPr>
              <p:cNvSpPr>
                <a:spLocks noAdjustHandles="1" noChangeArrowheads="1" noChangeAspect="1" noChangeShapeType="1" noEditPoints="1" noGrp="1" noMove="1" noResize="1" noRot="1" noTextEdit="1"/>
              </p:cNvSpPr>
              <p:nvPr>
                <p:ph idx="1"/>
              </p:nvPr>
            </p:nvSpPr>
            <p:spPr>
              <a:xfrm>
                <a:off x="625046" y="1776198"/>
                <a:ext cx="10941908" cy="4351338"/>
              </a:xfrm>
              <a:blipFill>
                <a:blip r:embed="rId2"/>
                <a:stretch>
                  <a:fillRect b="-1821" l="-1003" r="-56" t="-21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A1FEBFF-FFE9-4C76-06FA-6B1D8A6C6564}"/>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1440EA5B-E214-B3A4-A4B7-2FAF6EE8ACF5}"/>
              </a:ext>
            </a:extLst>
          </p:cNvPr>
          <p:cNvSpPr>
            <a:spLocks noGrp="1"/>
          </p:cNvSpPr>
          <p:nvPr>
            <p:ph idx="12" sz="quarter" type="sldNum"/>
          </p:nvPr>
        </p:nvSpPr>
        <p:spPr/>
        <p:txBody>
          <a:bodyPr/>
          <a:lstStyle/>
          <a:p>
            <a:fld id="{330EA680-D336-4FF7-8B7A-9848BB0A1C32}" type="slidenum">
              <a:rPr lang="en-US" smtClean="0">
                <a:solidFill>
                  <a:srgbClr val="404040"/>
                </a:solidFill>
              </a:rPr>
              <a:t>14</a:t>
            </a:fld>
            <a:endParaRPr lang="en-US"/>
          </a:p>
        </p:txBody>
      </p:sp>
    </p:spTree>
    <p:extLst>
      <p:ext uri="{BB962C8B-B14F-4D97-AF65-F5344CB8AC3E}">
        <p14:creationId xmlns:p14="http://schemas.microsoft.com/office/powerpoint/2010/main" val="662392690"/>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3A39B-8FD8-AB02-8A42-009A31C0D644}"/>
              </a:ext>
            </a:extLst>
          </p:cNvPr>
          <p:cNvSpPr>
            <a:spLocks noGrp="1"/>
          </p:cNvSpPr>
          <p:nvPr>
            <p:ph type="title"/>
          </p:nvPr>
        </p:nvSpPr>
        <p:spPr/>
        <p:txBody>
          <a:bodyPr/>
          <a:lstStyle/>
          <a:p>
            <a:r>
              <a:rPr dirty="0" lang="en-US"/>
              <a:t>The Variance, continued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58AE7112-A7CD-1A4C-CCD4-87A74F49CD6B}"/>
                  </a:ext>
                </a:extLst>
              </p:cNvPr>
              <p:cNvSpPr>
                <a:spLocks noGrp="1"/>
              </p:cNvSpPr>
              <p:nvPr>
                <p:ph idx="1"/>
              </p:nvPr>
            </p:nvSpPr>
            <p:spPr/>
            <p:txBody>
              <a:bodyPr/>
              <a:lstStyle/>
              <a:p>
                <a:pPr indent="0" marL="0">
                  <a:buNone/>
                </a:pPr>
                <a:r>
                  <a:rPr dirty="0" lang="en-US"/>
                  <a:t>Population variance and sample variance are calculated differently.</a:t>
                </a:r>
              </a:p>
              <a:p>
                <a:pPr indent="0" marL="0">
                  <a:buNone/>
                </a:pPr>
                <a:endParaRPr dirty="0" lang="en-US"/>
              </a:p>
              <a:p>
                <a:pPr indent="0" marL="0">
                  <a:buNone/>
                </a:pPr>
                <a:endParaRPr b="0" dirty="0" i="1" lang="en-US">
                  <a:latin charset="0" panose="02040503050406030204" pitchFamily="18" typeface="Cambria Math"/>
                </a:endParaRPr>
              </a:p>
              <a:p>
                <a:pPr indent="0" marL="0">
                  <a:buNone/>
                </a:pPr>
                <a:endParaRPr dirty="0" i="1" lang="en-US">
                  <a:latin charset="0" panose="02040503050406030204" pitchFamily="18" typeface="Cambria Math"/>
                </a:endParaRPr>
              </a:p>
              <a:p>
                <a:pPr indent="0" marL="0">
                  <a:buNone/>
                </a:pPr>
                <a:endParaRPr b="0" dirty="0" i="1" lang="en-US">
                  <a:latin charset="0" panose="02040503050406030204" pitchFamily="18" typeface="Cambria Math"/>
                </a:endParaRPr>
              </a:p>
              <a:p>
                <a:pPr algn="ctr" indent="0" marL="0">
                  <a:buNone/>
                </a:pPr>
                <a14:m>
                  <m:oMath xmlns:m="http://schemas.openxmlformats.org/officeDocument/2006/math">
                    <m:r>
                      <a:rPr b="0" i="1" lang="en-US" smtClean="0">
                        <a:latin charset="0" panose="02040503050406030204" pitchFamily="18" typeface="Cambria Math"/>
                      </a:rPr>
                      <m:t>𝑠𝑎𝑚𝑝𝑙𝑒</m:t>
                    </m:r>
                    <m:r>
                      <a:rPr b="0" i="1" lang="en-US" smtClean="0">
                        <a:latin charset="0" panose="02040503050406030204" pitchFamily="18" typeface="Cambria Math"/>
                      </a:rPr>
                      <m:t> </m:t>
                    </m:r>
                    <m:r>
                      <a:rPr b="0" i="1" lang="en-US" smtClean="0">
                        <a:latin charset="0" panose="02040503050406030204" pitchFamily="18" typeface="Cambria Math"/>
                      </a:rPr>
                      <m:t>𝑣𝑎𝑟𝑖𝑎𝑛𝑐𝑒</m:t>
                    </m:r>
                    <m:r>
                      <a:rPr b="0" i="1" lang="en-US" smtClean="0">
                        <a:latin charset="0" panose="02040503050406030204" pitchFamily="18" typeface="Cambria Math"/>
                      </a:rPr>
                      <m:t>= </m:t>
                    </m:r>
                    <m:sSup>
                      <m:sSupPr>
                        <m:ctrlPr>
                          <a:rPr b="0" i="1" lang="en-US" smtClean="0">
                            <a:latin charset="0" panose="02040503050406030204" pitchFamily="18" typeface="Cambria Math"/>
                          </a:rPr>
                        </m:ctrlPr>
                      </m:sSupPr>
                      <m:e>
                        <m:r>
                          <a:rPr b="0" i="1" lang="en-US" smtClean="0">
                            <a:latin charset="0" panose="02040503050406030204" pitchFamily="18" typeface="Cambria Math"/>
                          </a:rPr>
                          <m:t>𝑠</m:t>
                        </m:r>
                      </m:e>
                      <m:sup>
                        <m:r>
                          <a:rPr b="0" i="1" lang="en-US" smtClean="0">
                            <a:latin charset="0" panose="02040503050406030204" pitchFamily="18" typeface="Cambria Math"/>
                          </a:rPr>
                          <m:t>2</m:t>
                        </m:r>
                      </m:sup>
                    </m:sSup>
                    <m:r>
                      <a:rPr b="0" i="1" lang="en-US" smtClean="0">
                        <a:latin charset="0" panose="02040503050406030204" pitchFamily="18" typeface="Cambria Math"/>
                      </a:rPr>
                      <m:t>=</m:t>
                    </m:r>
                    <m:f>
                      <m:fPr>
                        <m:ctrlPr>
                          <a:rPr b="0" i="1" lang="en-US" smtClean="0">
                            <a:latin charset="0" panose="02040503050406030204" pitchFamily="18" typeface="Cambria Math"/>
                          </a:rPr>
                        </m:ctrlPr>
                      </m:fPr>
                      <m:num>
                        <m:r>
                          <m:rPr>
                            <m:sty m:val="p"/>
                          </m:rPr>
                          <a:rPr b="0" i="1" lang="el-GR" smtClean="0">
                            <a:latin charset="0" panose="02040503050406030204" pitchFamily="18" typeface="Cambria Math"/>
                            <a:ea charset="0" panose="02040503050406030204" pitchFamily="18" typeface="Cambria Math"/>
                          </a:rPr>
                          <m:t>Σ</m:t>
                        </m:r>
                        <m:sSup>
                          <m:sSupPr>
                            <m:ctrlPr>
                              <a:rPr b="0" i="1" lang="el-GR" smtClean="0">
                                <a:latin charset="0" panose="02040503050406030204" pitchFamily="18" typeface="Cambria Math"/>
                                <a:ea charset="0" panose="02040503050406030204" pitchFamily="18" typeface="Cambria Math"/>
                              </a:rPr>
                            </m:ctrlPr>
                          </m:sSupPr>
                          <m:e>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𝑥</m:t>
                            </m:r>
                            <m:r>
                              <a:rPr b="0" i="1" lang="en-US" smtClean="0">
                                <a:latin charset="0" panose="02040503050406030204" pitchFamily="18" typeface="Cambria Math"/>
                                <a:ea charset="0" panose="02040503050406030204" pitchFamily="18" typeface="Cambria Math"/>
                              </a:rPr>
                              <m:t>−</m:t>
                            </m:r>
                            <m:acc>
                              <m:accPr>
                                <m:chr m:val="̅"/>
                                <m:ctrlPr>
                                  <a:rPr b="0" i="1" lang="en-US" smtClean="0">
                                    <a:latin charset="0" panose="02040503050406030204" pitchFamily="18" typeface="Cambria Math"/>
                                    <a:ea charset="0" panose="02040503050406030204" pitchFamily="18" typeface="Cambria Math"/>
                                  </a:rPr>
                                </m:ctrlPr>
                              </m:accPr>
                              <m:e>
                                <m:r>
                                  <a:rPr b="0" i="1" lang="en-US" smtClean="0">
                                    <a:latin charset="0" panose="02040503050406030204" pitchFamily="18" typeface="Cambria Math"/>
                                    <a:ea charset="0" panose="02040503050406030204" pitchFamily="18" typeface="Cambria Math"/>
                                  </a:rPr>
                                  <m:t>𝑥</m:t>
                                </m:r>
                              </m:e>
                            </m:acc>
                            <m:r>
                              <a:rPr b="0" i="1" lang="en-US" smtClean="0">
                                <a:latin charset="0" panose="02040503050406030204" pitchFamily="18" typeface="Cambria Math"/>
                              </a:rPr>
                              <m:t>)</m:t>
                            </m:r>
                          </m:e>
                          <m:sup>
                            <m:r>
                              <a:rPr b="0" i="1" lang="en-US" smtClean="0">
                                <a:latin charset="0" panose="02040503050406030204" pitchFamily="18" typeface="Cambria Math"/>
                                <a:ea charset="0" panose="02040503050406030204" pitchFamily="18" typeface="Cambria Math"/>
                              </a:rPr>
                              <m:t>2</m:t>
                            </m:r>
                          </m:sup>
                        </m:sSup>
                      </m:num>
                      <m:den>
                        <m:r>
                          <a:rPr b="0" i="1" lang="en-US" smtClean="0">
                            <a:latin charset="0" panose="02040503050406030204" pitchFamily="18" typeface="Cambria Math"/>
                          </a:rPr>
                          <m:t>𝑛</m:t>
                        </m:r>
                        <m:r>
                          <a:rPr b="0" i="1" lang="en-US" smtClean="0">
                            <a:latin charset="0" panose="02040503050406030204" pitchFamily="18" typeface="Cambria Math"/>
                          </a:rPr>
                          <m:t>−</m:t>
                        </m:r>
                        <m:r>
                          <a:rPr b="0" i="1" lang="en-US" smtClean="0">
                            <a:latin charset="0" panose="02040503050406030204" pitchFamily="18" typeface="Cambria Math"/>
                          </a:rPr>
                          <m:t>1</m:t>
                        </m:r>
                      </m:den>
                    </m:f>
                  </m:oMath>
                </a14:m>
                <a:r>
                  <a:rPr dirty="0" lang="en-US"/>
                  <a:t> </a:t>
                </a:r>
              </a:p>
              <a:p>
                <a:pPr indent="0" marL="0">
                  <a:buNone/>
                </a:pPr>
                <a:endParaRPr dirty="0" lang="en-US"/>
              </a:p>
              <a:p>
                <a:pPr indent="0" marL="0">
                  <a:buNone/>
                </a:pPr>
                <a:endParaRPr dirty="0" lang="en-US"/>
              </a:p>
              <a:p>
                <a:pPr indent="0" marL="0">
                  <a:buNone/>
                </a:pPr>
                <a:endParaRPr dirty="0" lang="en-US"/>
              </a:p>
            </p:txBody>
          </p:sp>
        </mc:Choice>
        <mc:Fallback>
          <p:sp>
            <p:nvSpPr>
              <p:cNvPr id="3" name="Content Placeholder 2">
                <a:extLst>
                  <a:ext uri="{FF2B5EF4-FFF2-40B4-BE49-F238E27FC236}">
                    <a16:creationId xmlns:a16="http://schemas.microsoft.com/office/drawing/2014/main" id="{58AE7112-A7CD-1A4C-CCD4-87A74F49CD6B}"/>
                  </a:ext>
                </a:extLst>
              </p:cNvPr>
              <p:cNvSpPr>
                <a:spLocks noAdjustHandles="1" noChangeArrowheads="1" noChangeAspect="1" noChangeShapeType="1" noEditPoints="1" noGrp="1" noMove="1" noResize="1" noRot="1" noTextEdit="1"/>
              </p:cNvSpPr>
              <p:nvPr>
                <p:ph idx="1"/>
              </p:nvPr>
            </p:nvSpPr>
            <p:spPr>
              <a:blipFill>
                <a:blip r:embed="rId2"/>
                <a:stretch>
                  <a:fillRect l="-1217" r="-406"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40E3A70-243D-B372-7AF0-1C9BF475D9D0}"/>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A2B072DD-89BF-814C-65F8-F86E0DBFA722}"/>
              </a:ext>
            </a:extLst>
          </p:cNvPr>
          <p:cNvSpPr>
            <a:spLocks noGrp="1"/>
          </p:cNvSpPr>
          <p:nvPr>
            <p:ph idx="12" sz="quarter" type="sldNum"/>
          </p:nvPr>
        </p:nvSpPr>
        <p:spPr/>
        <p:txBody>
          <a:bodyPr/>
          <a:lstStyle/>
          <a:p>
            <a:fld id="{330EA680-D336-4FF7-8B7A-9848BB0A1C32}" type="slidenum">
              <a:rPr lang="en-US" smtClean="0">
                <a:solidFill>
                  <a:srgbClr val="404040"/>
                </a:solidFill>
              </a:rPr>
              <a:t>15</a:t>
            </a:fld>
            <a:endParaRPr lang="en-US"/>
          </a:p>
        </p:txBody>
      </p:sp>
      <mc:AlternateContent xmlns:a14="http://schemas.microsoft.com/office/drawing/2010/main" xmlns:mc="http://schemas.openxmlformats.org/markup-compatibility/2006">
        <mc:Choice Requires="a14">
          <p:sp>
            <p:nvSpPr>
              <p:cNvPr id="6" name="TextBox 5">
                <a:extLst>
                  <a:ext uri="{FF2B5EF4-FFF2-40B4-BE49-F238E27FC236}">
                    <a16:creationId xmlns:a16="http://schemas.microsoft.com/office/drawing/2014/main" id="{F12D2D01-E6E6-4167-AC79-892F06541EC5}"/>
                  </a:ext>
                </a:extLst>
              </p:cNvPr>
              <p:cNvSpPr txBox="1"/>
              <p:nvPr/>
            </p:nvSpPr>
            <p:spPr>
              <a:xfrm>
                <a:off x="2887362" y="2998113"/>
                <a:ext cx="6417276" cy="861774"/>
              </a:xfrm>
              <a:prstGeom prst="rect">
                <a:avLst/>
              </a:prstGeom>
              <a:noFill/>
            </p:spPr>
            <p:txBody>
              <a:bodyPr bIns="0" lIns="0" rIns="0" rtlCol="0" tIns="0" wrap="square">
                <a:spAutoFit/>
              </a:bodyPr>
              <a:lstStyle/>
              <a:p>
                <a:pPr/>
                <a14:m>
                  <m:oMathPara xmlns:m="http://schemas.openxmlformats.org/officeDocument/2006/math">
                    <m:oMathParaPr>
                      <m:jc m:val="centerGroup"/>
                    </m:oMathParaPr>
                    <m:oMath>
                      <m:r>
                        <a:rPr b="0" i="1" lang="en-US" smtClean="0" sz="2800">
                          <a:latin charset="0" panose="02040503050406030204" pitchFamily="18" typeface="Cambria Math"/>
                        </a:rPr>
                        <m:t>𝑝𝑜𝑝𝑢𝑙𝑎𝑡𝑖𝑜𝑛</m:t>
                      </m:r>
                      <m:r>
                        <a:rPr b="0" i="1" lang="en-US" smtClean="0" sz="2800">
                          <a:latin charset="0" panose="02040503050406030204" pitchFamily="18" typeface="Cambria Math"/>
                        </a:rPr>
                        <m:t> </m:t>
                      </m:r>
                      <m:r>
                        <a:rPr b="0" i="1" lang="en-US" smtClean="0" sz="2800">
                          <a:latin charset="0" panose="02040503050406030204" pitchFamily="18" typeface="Cambria Math"/>
                        </a:rPr>
                        <m:t>𝑣𝑎𝑟𝑖𝑎𝑛𝑐𝑒</m:t>
                      </m:r>
                      <m:r>
                        <a:rPr b="0" i="1" lang="en-US" smtClean="0" sz="2800">
                          <a:latin charset="0" panose="02040503050406030204" pitchFamily="18" typeface="Cambria Math"/>
                        </a:rPr>
                        <m:t>= </m:t>
                      </m:r>
                      <m:sSup>
                        <m:sSupPr>
                          <m:ctrlPr>
                            <a:rPr b="0" i="1" lang="en-US" smtClean="0" sz="2800">
                              <a:latin charset="0" panose="02040503050406030204" pitchFamily="18" typeface="Cambria Math"/>
                            </a:rPr>
                          </m:ctrlPr>
                        </m:sSupPr>
                        <m:e>
                          <m:r>
                            <a:rPr b="0" i="1" lang="en-US" smtClean="0" sz="2800">
                              <a:latin charset="0" panose="02040503050406030204" pitchFamily="18" typeface="Cambria Math"/>
                              <a:ea charset="0" panose="02040503050406030204" pitchFamily="18" typeface="Cambria Math"/>
                            </a:rPr>
                            <m:t>𝜎</m:t>
                          </m:r>
                        </m:e>
                        <m:sup>
                          <m:r>
                            <a:rPr b="0" i="1" lang="en-US" smtClean="0" sz="2800">
                              <a:latin charset="0" panose="02040503050406030204" pitchFamily="18" typeface="Cambria Math"/>
                            </a:rPr>
                            <m:t>2</m:t>
                          </m:r>
                        </m:sup>
                      </m:sSup>
                      <m:r>
                        <a:rPr b="0" i="1" lang="en-US" smtClean="0" sz="2800">
                          <a:latin charset="0" panose="02040503050406030204" pitchFamily="18" typeface="Cambria Math"/>
                        </a:rPr>
                        <m:t>=</m:t>
                      </m:r>
                      <m:f>
                        <m:fPr>
                          <m:ctrlPr>
                            <a:rPr b="0" i="1" lang="en-US" smtClean="0" sz="2800">
                              <a:latin charset="0" panose="02040503050406030204" pitchFamily="18" typeface="Cambria Math"/>
                            </a:rPr>
                          </m:ctrlPr>
                        </m:fPr>
                        <m:num>
                          <m:r>
                            <m:rPr>
                              <m:sty m:val="p"/>
                            </m:rPr>
                            <a:rPr b="0" i="1" lang="el-GR" smtClean="0" sz="2800">
                              <a:latin charset="0" panose="02040503050406030204" pitchFamily="18" typeface="Cambria Math"/>
                              <a:ea charset="0" panose="02040503050406030204" pitchFamily="18" typeface="Cambria Math"/>
                            </a:rPr>
                            <m:t>Σ</m:t>
                          </m:r>
                          <m:sSup>
                            <m:sSupPr>
                              <m:ctrlPr>
                                <a:rPr b="0" i="1" lang="el-GR" smtClean="0" sz="2800">
                                  <a:latin charset="0" panose="02040503050406030204" pitchFamily="18" typeface="Cambria Math"/>
                                  <a:ea charset="0" panose="02040503050406030204" pitchFamily="18" typeface="Cambria Math"/>
                                </a:rPr>
                              </m:ctrlPr>
                            </m:sSupPr>
                            <m:e>
                              <m:r>
                                <a:rPr i="1" lang="en-US" sz="2800">
                                  <a:latin charset="0" panose="02040503050406030204" pitchFamily="18" typeface="Cambria Math"/>
                                  <a:ea charset="0" panose="02040503050406030204" pitchFamily="18" typeface="Cambria Math"/>
                                </a:rPr>
                                <m:t>(</m:t>
                              </m:r>
                              <m:r>
                                <a:rPr i="1" lang="en-US" sz="2800">
                                  <a:latin charset="0" panose="02040503050406030204" pitchFamily="18" typeface="Cambria Math"/>
                                  <a:ea charset="0" panose="02040503050406030204" pitchFamily="18" typeface="Cambria Math"/>
                                </a:rPr>
                                <m:t>𝑥</m:t>
                              </m:r>
                              <m:r>
                                <a:rPr i="1" lang="en-US" sz="2800">
                                  <a:latin charset="0" panose="02040503050406030204" pitchFamily="18" typeface="Cambria Math"/>
                                  <a:ea charset="0" panose="02040503050406030204" pitchFamily="18" typeface="Cambria Math"/>
                                </a:rPr>
                                <m:t>−</m:t>
                              </m:r>
                              <m:r>
                                <a:rPr i="1" lang="en-US" sz="2800">
                                  <a:latin charset="0" panose="02040503050406030204" pitchFamily="18" typeface="Cambria Math"/>
                                  <a:ea charset="0" panose="02040503050406030204" pitchFamily="18" typeface="Cambria Math"/>
                                </a:rPr>
                                <m:t>𝜇</m:t>
                              </m:r>
                              <m:r>
                                <a:rPr i="1" lang="en-US" sz="2800">
                                  <a:latin charset="0" panose="02040503050406030204" pitchFamily="18" typeface="Cambria Math"/>
                                  <a:ea charset="0" panose="02040503050406030204" pitchFamily="18" typeface="Cambria Math"/>
                                </a:rPr>
                                <m:t>)</m:t>
                              </m:r>
                            </m:e>
                            <m:sup>
                              <m:r>
                                <a:rPr b="0" i="1" lang="en-US" smtClean="0" sz="2800">
                                  <a:latin charset="0" panose="02040503050406030204" pitchFamily="18" typeface="Cambria Math"/>
                                  <a:ea charset="0" panose="02040503050406030204" pitchFamily="18" typeface="Cambria Math"/>
                                </a:rPr>
                                <m:t>2</m:t>
                              </m:r>
                            </m:sup>
                          </m:sSup>
                        </m:num>
                        <m:den>
                          <m:r>
                            <a:rPr b="0" i="1" lang="en-US" smtClean="0" sz="2800">
                              <a:latin charset="0" panose="02040503050406030204" pitchFamily="18" typeface="Cambria Math"/>
                            </a:rPr>
                            <m:t>𝑁</m:t>
                          </m:r>
                        </m:den>
                      </m:f>
                    </m:oMath>
                  </m:oMathPara>
                </a14:m>
                <a:endParaRPr dirty="0" lang="en-US" sz="2800"/>
              </a:p>
            </p:txBody>
          </p:sp>
        </mc:Choice>
        <mc:Fallback>
          <p:sp>
            <p:nvSpPr>
              <p:cNvPr id="6" name="TextBox 5">
                <a:extLst>
                  <a:ext uri="{FF2B5EF4-FFF2-40B4-BE49-F238E27FC236}">
                    <a16:creationId xmlns:a16="http://schemas.microsoft.com/office/drawing/2014/main" id="{F12D2D01-E6E6-4167-AC79-892F06541EC5}"/>
                  </a:ext>
                </a:extLst>
              </p:cNvPr>
              <p:cNvSpPr txBox="1">
                <a:spLocks noAdjustHandles="1" noChangeArrowheads="1" noChangeAspect="1" noChangeShapeType="1" noEditPoints="1" noMove="1" noResize="1" noRot="1" noTextEdit="1"/>
              </p:cNvSpPr>
              <p:nvPr/>
            </p:nvSpPr>
            <p:spPr>
              <a:xfrm>
                <a:off x="2887362" y="2998113"/>
                <a:ext cx="6417276" cy="86177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04689233"/>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a:extLst>
            <a:ext uri="{FF2B5EF4-FFF2-40B4-BE49-F238E27FC236}">
              <a16:creationId xmlns:a16="http://schemas.microsoft.com/office/drawing/2014/main" id="{639F78E7-1D00-BDC2-D846-30BDE5006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5B243-8CE7-5109-24A2-DF4FE82F0FCC}"/>
              </a:ext>
            </a:extLst>
          </p:cNvPr>
          <p:cNvSpPr>
            <a:spLocks noGrp="1"/>
          </p:cNvSpPr>
          <p:nvPr>
            <p:ph type="title"/>
          </p:nvPr>
        </p:nvSpPr>
        <p:spPr/>
        <p:txBody>
          <a:bodyPr/>
          <a:lstStyle/>
          <a:p>
            <a:r>
              <a:rPr dirty="0" lang="en-US"/>
              <a:t>The Variance, visually  </a:t>
            </a:r>
          </a:p>
        </p:txBody>
      </p:sp>
      <p:pic>
        <p:nvPicPr>
          <p:cNvPr descr="Large vs small variance " id="7" name="Content Placeholder 6">
            <a:extLst>
              <a:ext uri="{FF2B5EF4-FFF2-40B4-BE49-F238E27FC236}">
                <a16:creationId xmlns:a16="http://schemas.microsoft.com/office/drawing/2014/main" id="{5687BD7A-D1E3-9807-6079-1E7B6712C6C9}"/>
              </a:ext>
            </a:extLst>
          </p:cNvPr>
          <p:cNvPicPr>
            <a:picLocks noChangeAspect="1" noGrp="1"/>
          </p:cNvPicPr>
          <p:nvPr>
            <p:ph idx="1"/>
          </p:nvPr>
        </p:nvPicPr>
        <p:blipFill>
          <a:blip r:embed="rId2"/>
          <a:stretch>
            <a:fillRect/>
          </a:stretch>
        </p:blipFill>
        <p:spPr>
          <a:xfrm>
            <a:off x="491000" y="2059459"/>
            <a:ext cx="11209999" cy="3620929"/>
          </a:xfrm>
          <a:prstGeom prst="rect">
            <a:avLst/>
          </a:prstGeom>
        </p:spPr>
      </p:pic>
      <p:sp>
        <p:nvSpPr>
          <p:cNvPr id="4" name="Footer Placeholder 3">
            <a:extLst>
              <a:ext uri="{FF2B5EF4-FFF2-40B4-BE49-F238E27FC236}">
                <a16:creationId xmlns:a16="http://schemas.microsoft.com/office/drawing/2014/main" id="{24401D67-87E4-457C-ECE2-18067DF78099}"/>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1A7589A0-FC80-2A8F-7656-66C09DCC5F1E}"/>
              </a:ext>
            </a:extLst>
          </p:cNvPr>
          <p:cNvSpPr>
            <a:spLocks noGrp="1"/>
          </p:cNvSpPr>
          <p:nvPr>
            <p:ph idx="12" sz="quarter" type="sldNum"/>
          </p:nvPr>
        </p:nvSpPr>
        <p:spPr/>
        <p:txBody>
          <a:bodyPr/>
          <a:lstStyle/>
          <a:p>
            <a:fld id="{330EA680-D336-4FF7-8B7A-9848BB0A1C32}" type="slidenum">
              <a:rPr lang="en-US" smtClean="0">
                <a:solidFill>
                  <a:srgbClr val="404040"/>
                </a:solidFill>
              </a:rPr>
              <a:t>16</a:t>
            </a:fld>
            <a:endParaRPr lang="en-US"/>
          </a:p>
        </p:txBody>
      </p:sp>
    </p:spTree>
    <p:extLst>
      <p:ext uri="{BB962C8B-B14F-4D97-AF65-F5344CB8AC3E}">
        <p14:creationId xmlns:p14="http://schemas.microsoft.com/office/powerpoint/2010/main" val="3597405894"/>
      </p:ext>
    </p:extLst>
  </p:cSld>
  <p:clrMapOvr>
    <a:masterClrMapping/>
  </p:clrMapOvr>
</p:sld>
</file>

<file path=ppt/slides/slide17.xml><?xml version="1.0" encoding="utf-8"?>
<p:sld xmlns="http://schemas.microsoft.com/office/drawing/2018/hyperlinkcolo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A7C9-A9CF-8979-F0A6-F92E06DD314D}"/>
              </a:ext>
            </a:extLst>
          </p:cNvPr>
          <p:cNvSpPr>
            <a:spLocks noGrp="1"/>
          </p:cNvSpPr>
          <p:nvPr>
            <p:ph type="title"/>
          </p:nvPr>
        </p:nvSpPr>
        <p:spPr/>
        <p:txBody>
          <a:bodyPr/>
          <a:lstStyle/>
          <a:p>
            <a:r>
              <a:rPr dirty="0" lang="en-US"/>
              <a:t>The Variance, continued </a:t>
            </a:r>
          </a:p>
        </p:txBody>
      </p:sp>
      <p:sp>
        <p:nvSpPr>
          <p:cNvPr id="3" name="Content Placeholder 2">
            <a:extLst>
              <a:ext uri="{FF2B5EF4-FFF2-40B4-BE49-F238E27FC236}">
                <a16:creationId xmlns:a16="http://schemas.microsoft.com/office/drawing/2014/main" id="{0140B66F-4C91-5110-E883-7A4A9E636C0D}"/>
              </a:ext>
            </a:extLst>
          </p:cNvPr>
          <p:cNvSpPr>
            <a:spLocks noGrp="1"/>
          </p:cNvSpPr>
          <p:nvPr>
            <p:ph idx="1"/>
          </p:nvPr>
        </p:nvSpPr>
        <p:spPr/>
        <p:txBody>
          <a:bodyPr>
            <a:normAutofit fontScale="85000" lnSpcReduction="20000"/>
          </a:bodyPr>
          <a:lstStyle/>
          <a:p>
            <a:pPr indent="0" marL="0">
              <a:buNone/>
            </a:pPr>
            <a:r>
              <a:rPr dirty="0" lang="en-US"/>
              <a:t>A computer does not know whether your data values make up an entire population or just a sample. So, it’s up to you to choose the correct formula/function. </a:t>
            </a:r>
          </a:p>
          <a:p>
            <a:pPr indent="0" marL="0">
              <a:buNone/>
            </a:pPr>
            <a:endParaRPr dirty="0" lang="en-US"/>
          </a:p>
          <a:p>
            <a:pPr indent="0" marL="0">
              <a:buNone/>
            </a:pPr>
            <a:r>
              <a:rPr dirty="0" lang="en-US"/>
              <a:t>The deviations from the sample mean are smaller than the deviations from the population mean. We correct this difference by dividing it by n-1 rather than by n. The quantity n–1 is called the degrees of freedom for sample variance. </a:t>
            </a:r>
          </a:p>
          <a:p>
            <a:pPr indent="0" marL="0">
              <a:buNone/>
            </a:pPr>
            <a:r>
              <a:rPr dirty="0" lang="en-US"/>
              <a:t> </a:t>
            </a:r>
          </a:p>
          <a:p>
            <a:pPr indent="0" marL="0">
              <a:buNone/>
            </a:pPr>
            <a:r>
              <a:rPr dirty="0" lang="en-US"/>
              <a:t>The sum of the deviations will always add up to zero. That means if we know the first n-1 deviations, we can figure out the last one. Another way to say degrees of freedom is “the number of data values that are free to change.” </a:t>
            </a:r>
            <a:r>
              <a:rPr dirty="0" lang="en-US">
                <a:solidFill>
                  <a:srgbClr val="404040"/>
                </a:solidFill>
                <a:hlinkClick r:id="rId2">
                  <a:extLst>
                    <a:ext uri="{A12FA001-AC4F-418D-AE19-62706E023703}">
                      <hlinkClr val="tx"/>
                    </a:ext>
                  </a:extLst>
                </a:hlinkClick>
              </a:rPr>
              <a:t>Video Link </a:t>
            </a:r>
            <a:r>
              <a:rPr dirty="0" lang="en-US"/>
              <a:t>Watch this short video about degrees of freedom if you want to learn more. I recommend that you skip to 1:18.</a:t>
            </a:r>
            <a:endParaRPr>
              <a:solidFill>
                <a:srgbClr val="404040"/>
              </a:solidFill>
            </a:endParaRPr>
          </a:p>
        </p:txBody>
      </p:sp>
      <p:sp>
        <p:nvSpPr>
          <p:cNvPr id="4" name="Footer Placeholder 3">
            <a:extLst>
              <a:ext uri="{FF2B5EF4-FFF2-40B4-BE49-F238E27FC236}">
                <a16:creationId xmlns:a16="http://schemas.microsoft.com/office/drawing/2014/main" id="{24955C70-47C8-6C0E-1CB4-633E5058D024}"/>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31A34EF1-E9E1-6268-6DA4-C82C19714F65}"/>
              </a:ext>
            </a:extLst>
          </p:cNvPr>
          <p:cNvSpPr>
            <a:spLocks noGrp="1"/>
          </p:cNvSpPr>
          <p:nvPr>
            <p:ph idx="12" sz="quarter" type="sldNum"/>
          </p:nvPr>
        </p:nvSpPr>
        <p:spPr/>
        <p:txBody>
          <a:bodyPr/>
          <a:lstStyle/>
          <a:p>
            <a:fld id="{330EA680-D336-4FF7-8B7A-9848BB0A1C32}" type="slidenum">
              <a:rPr lang="en-US" smtClean="0">
                <a:solidFill>
                  <a:srgbClr val="404040"/>
                </a:solidFill>
              </a:rPr>
              <a:t>17</a:t>
            </a:fld>
            <a:endParaRPr lang="en-US"/>
          </a:p>
        </p:txBody>
      </p:sp>
    </p:spTree>
    <p:extLst>
      <p:ext uri="{BB962C8B-B14F-4D97-AF65-F5344CB8AC3E}">
        <p14:creationId xmlns:p14="http://schemas.microsoft.com/office/powerpoint/2010/main" val="3392524066"/>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BC155-3FFA-1F2D-CFD0-134A0ED1A10B}"/>
              </a:ext>
            </a:extLst>
          </p:cNvPr>
          <p:cNvSpPr>
            <a:spLocks noGrp="1"/>
          </p:cNvSpPr>
          <p:nvPr>
            <p:ph type="title"/>
          </p:nvPr>
        </p:nvSpPr>
        <p:spPr/>
        <p:txBody>
          <a:bodyPr/>
          <a:lstStyle/>
          <a:p>
            <a:r>
              <a:rPr dirty="0" lang="en-US"/>
              <a:t>Variance Practice </a:t>
            </a:r>
          </a:p>
        </p:txBody>
      </p:sp>
      <p:sp>
        <p:nvSpPr>
          <p:cNvPr id="3" name="Content Placeholder 2">
            <a:extLst>
              <a:ext uri="{FF2B5EF4-FFF2-40B4-BE49-F238E27FC236}">
                <a16:creationId xmlns:a16="http://schemas.microsoft.com/office/drawing/2014/main" id="{3A1740ED-E4A5-8E74-810E-58E83BC8B0EB}"/>
              </a:ext>
            </a:extLst>
          </p:cNvPr>
          <p:cNvSpPr>
            <a:spLocks noGrp="1"/>
          </p:cNvSpPr>
          <p:nvPr>
            <p:ph idx="1"/>
          </p:nvPr>
        </p:nvSpPr>
        <p:spPr/>
        <p:txBody>
          <a:bodyPr>
            <a:normAutofit/>
          </a:bodyPr>
          <a:lstStyle/>
          <a:p>
            <a:pPr indent="-514350" marL="514350">
              <a:buFont typeface="+mj-lt"/>
              <a:buAutoNum type="arabicPeriod"/>
            </a:pPr>
            <a:r>
              <a:rPr dirty="0" lang="en-US"/>
              <a:t>Compare the two vectors again (from slide #11): </a:t>
            </a:r>
            <a:br>
              <a:rPr dirty="0" lang="en-US"/>
            </a:br>
            <a:r>
              <a:rPr dirty="0" lang="en-US"/>
              <a:t>Which has a larger sample variance?</a:t>
            </a:r>
          </a:p>
          <a:p>
            <a:pPr indent="-514350" marL="514350">
              <a:buFont typeface="+mj-lt"/>
              <a:buAutoNum type="arabicPeriod"/>
            </a:pPr>
            <a:r>
              <a:rPr dirty="0" lang="en-US"/>
              <a:t>Can a data set ever have a variance of 0? </a:t>
            </a:r>
          </a:p>
          <a:p>
            <a:pPr indent="-514350" marL="514350">
              <a:buFont typeface="+mj-lt"/>
              <a:buAutoNum type="arabicPeriod"/>
            </a:pPr>
            <a:r>
              <a:rPr dirty="0" lang="en-US"/>
              <a:t>Can it have a negative variance? </a:t>
            </a:r>
          </a:p>
          <a:p>
            <a:pPr indent="-514350" marL="514350">
              <a:buFont typeface="+mj-lt"/>
              <a:buAutoNum type="arabicPeriod"/>
            </a:pPr>
            <a:r>
              <a:rPr dirty="0" lang="en-US"/>
              <a:t>Which do you think would have a smaller variance?</a:t>
            </a:r>
          </a:p>
          <a:p>
            <a:pPr indent="0" lvl="1" marL="457200">
              <a:buNone/>
            </a:pPr>
            <a:r>
              <a:rPr dirty="0" lang="en-US"/>
              <a:t>a. The distribution of hours worked in a day.</a:t>
            </a:r>
          </a:p>
          <a:p>
            <a:pPr indent="0" lvl="1" marL="457200">
              <a:buNone/>
            </a:pPr>
            <a:r>
              <a:rPr dirty="0" lang="en-US"/>
              <a:t>b. The distribution of income earned in a day.</a:t>
            </a:r>
          </a:p>
        </p:txBody>
      </p:sp>
      <p:sp>
        <p:nvSpPr>
          <p:cNvPr id="4" name="Footer Placeholder 3">
            <a:extLst>
              <a:ext uri="{FF2B5EF4-FFF2-40B4-BE49-F238E27FC236}">
                <a16:creationId xmlns:a16="http://schemas.microsoft.com/office/drawing/2014/main" id="{4E12546E-CE6C-9668-8717-F6AFA0878869}"/>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834F8EBC-6727-3899-97EE-4CE191232E21}"/>
              </a:ext>
            </a:extLst>
          </p:cNvPr>
          <p:cNvSpPr>
            <a:spLocks noGrp="1"/>
          </p:cNvSpPr>
          <p:nvPr>
            <p:ph idx="12" sz="quarter" type="sldNum"/>
          </p:nvPr>
        </p:nvSpPr>
        <p:spPr/>
        <p:txBody>
          <a:bodyPr/>
          <a:lstStyle/>
          <a:p>
            <a:fld id="{330EA680-D336-4FF7-8B7A-9848BB0A1C32}" type="slidenum">
              <a:rPr lang="en-US" smtClean="0">
                <a:solidFill>
                  <a:srgbClr val="404040"/>
                </a:solidFill>
              </a:rPr>
              <a:t>18</a:t>
            </a:fld>
            <a:endParaRPr lang="en-US"/>
          </a:p>
        </p:txBody>
      </p:sp>
    </p:spTree>
    <p:extLst>
      <p:ext uri="{BB962C8B-B14F-4D97-AF65-F5344CB8AC3E}">
        <p14:creationId xmlns:p14="http://schemas.microsoft.com/office/powerpoint/2010/main" val="560106695"/>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F0A7-044C-8F5B-1822-408079A39C05}"/>
              </a:ext>
            </a:extLst>
          </p:cNvPr>
          <p:cNvSpPr>
            <a:spLocks noGrp="1"/>
          </p:cNvSpPr>
          <p:nvPr>
            <p:ph type="title"/>
          </p:nvPr>
        </p:nvSpPr>
        <p:spPr/>
        <p:txBody>
          <a:bodyPr/>
          <a:lstStyle/>
          <a:p>
            <a:r>
              <a:rPr dirty="0" lang="en-US"/>
              <a:t>The Standard Deviation </a:t>
            </a:r>
          </a:p>
        </p:txBody>
      </p:sp>
      <p:sp>
        <p:nvSpPr>
          <p:cNvPr id="3" name="Content Placeholder 2">
            <a:extLst>
              <a:ext uri="{FF2B5EF4-FFF2-40B4-BE49-F238E27FC236}">
                <a16:creationId xmlns:a16="http://schemas.microsoft.com/office/drawing/2014/main" id="{802F7DCA-CA52-EE79-4985-F4EFC59A3B29}"/>
              </a:ext>
            </a:extLst>
          </p:cNvPr>
          <p:cNvSpPr>
            <a:spLocks noGrp="1"/>
          </p:cNvSpPr>
          <p:nvPr>
            <p:ph idx="1"/>
          </p:nvPr>
        </p:nvSpPr>
        <p:spPr/>
        <p:txBody>
          <a:bodyPr/>
          <a:lstStyle/>
          <a:p>
            <a:pPr indent="0" marL="0">
              <a:buNone/>
            </a:pPr>
            <a:r>
              <a:rPr dirty="0" lang="en-US"/>
              <a:t>Since the variance is given in squared units, it can be hard to interpret the value. We can take the variance one step further and calculate the standard deviation, so that our measure of spread will be in the data’s original units of measure. </a:t>
            </a:r>
          </a:p>
          <a:p>
            <a:pPr indent="0" marL="0">
              <a:buNone/>
            </a:pPr>
            <a:r>
              <a:rPr dirty="0" lang="en-US"/>
              <a:t>The standard deviation is the square root of the variance. Likewise, the variance is the standard deviation squared. </a:t>
            </a:r>
          </a:p>
          <a:p>
            <a:pPr indent="0" marL="0">
              <a:buNone/>
            </a:pPr>
            <a:endParaRPr dirty="0" lang="en-US"/>
          </a:p>
        </p:txBody>
      </p:sp>
      <p:sp>
        <p:nvSpPr>
          <p:cNvPr id="4" name="Footer Placeholder 3">
            <a:extLst>
              <a:ext uri="{FF2B5EF4-FFF2-40B4-BE49-F238E27FC236}">
                <a16:creationId xmlns:a16="http://schemas.microsoft.com/office/drawing/2014/main" id="{EDD29B16-6C80-3315-CAD6-5CFD6A049482}"/>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4A974B22-B19A-5043-3051-F79A52E492A5}"/>
              </a:ext>
            </a:extLst>
          </p:cNvPr>
          <p:cNvSpPr>
            <a:spLocks noGrp="1"/>
          </p:cNvSpPr>
          <p:nvPr>
            <p:ph idx="12" sz="quarter" type="sldNum"/>
          </p:nvPr>
        </p:nvSpPr>
        <p:spPr/>
        <p:txBody>
          <a:bodyPr/>
          <a:lstStyle/>
          <a:p>
            <a:fld id="{330EA680-D336-4FF7-8B7A-9848BB0A1C32}" type="slidenum">
              <a:rPr lang="en-US" smtClean="0">
                <a:solidFill>
                  <a:srgbClr val="404040"/>
                </a:solidFill>
              </a:rPr>
              <a:t>19</a:t>
            </a:fld>
            <a:endParaRPr lang="en-US"/>
          </a:p>
        </p:txBody>
      </p:sp>
      <mc:AlternateContent xmlns:a14="http://schemas.microsoft.com/office/drawing/2010/main" xmlns:mc="http://schemas.openxmlformats.org/markup-compatibility/2006">
        <mc:Choice Requires="a14">
          <p:sp>
            <p:nvSpPr>
              <p:cNvPr id="6" name="TextBox 5">
                <a:extLst>
                  <a:ext uri="{FF2B5EF4-FFF2-40B4-BE49-F238E27FC236}">
                    <a16:creationId xmlns:a16="http://schemas.microsoft.com/office/drawing/2014/main" id="{81B6813B-B345-42C6-E60E-CF644CAE0413}"/>
                  </a:ext>
                </a:extLst>
              </p:cNvPr>
              <p:cNvSpPr txBox="1"/>
              <p:nvPr/>
            </p:nvSpPr>
            <p:spPr>
              <a:xfrm>
                <a:off x="1084305" y="4559643"/>
                <a:ext cx="5311390" cy="345416"/>
              </a:xfrm>
              <a:prstGeom prst="rect">
                <a:avLst/>
              </a:prstGeom>
              <a:noFill/>
            </p:spPr>
            <p:txBody>
              <a:bodyPr bIns="0" lIns="0" rIns="0" rtlCol="0" tIns="0" wrap="none">
                <a:spAutoFit/>
              </a:bodyPr>
              <a:lstStyle/>
              <a:p>
                <a:pPr/>
                <a14:m>
                  <m:oMathPara xmlns:m="http://schemas.openxmlformats.org/officeDocument/2006/math">
                    <m:oMathParaPr>
                      <m:jc m:val="centerGroup"/>
                    </m:oMathParaPr>
                    <m:oMath>
                      <m:r>
                        <a:rPr b="0" i="1" lang="en-US" smtClean="0">
                          <a:latin charset="0" panose="02040503050406030204" pitchFamily="18" typeface="Cambria Math"/>
                          <a:ea charset="0" panose="02040503050406030204" pitchFamily="18" typeface="Cambria Math"/>
                        </a:rPr>
                        <m:t>𝑝𝑜𝑝𝑢𝑙𝑎𝑡𝑖𝑜𝑛</m:t>
                      </m:r>
                      <m:r>
                        <a:rPr b="0" i="1" lang="en-US" smtClean="0">
                          <a:latin charset="0" panose="02040503050406030204" pitchFamily="18" typeface="Cambria Math"/>
                          <a:ea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𝑠𝑡𝑎𝑛𝑑𝑎𝑟𝑑</m:t>
                      </m:r>
                      <m:r>
                        <a:rPr b="0" i="1" lang="en-US" smtClean="0">
                          <a:latin charset="0" panose="02040503050406030204" pitchFamily="18" typeface="Cambria Math"/>
                          <a:ea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𝑑𝑒𝑣𝑖𝑎𝑡𝑖𝑜𝑛</m:t>
                      </m:r>
                      <m:r>
                        <a:rPr b="0" i="1" lang="en-US" smtClean="0">
                          <a:latin charset="0" panose="02040503050406030204" pitchFamily="18" typeface="Cambria Math"/>
                          <a:ea charset="0" panose="02040503050406030204" pitchFamily="18" typeface="Cambria Math"/>
                        </a:rPr>
                        <m:t>=</m:t>
                      </m:r>
                      <m:r>
                        <m:rPr>
                          <m:nor/>
                        </m:rPr>
                        <a:rPr b="0" i="0" lang="en-US" smtClean="0">
                          <a:latin charset="0" panose="02040503050406030204" pitchFamily="18" typeface="Cambria Math"/>
                          <a:ea charset="0" panose="02040503050406030204" pitchFamily="18" typeface="Cambria Math"/>
                        </a:rPr>
                        <m:t>sigma</m:t>
                      </m:r>
                      <m:r>
                        <a:rPr b="0" i="1" lang="en-US" smtClean="0">
                          <a:latin charset="0" panose="02040503050406030204" pitchFamily="18" typeface="Cambria Math"/>
                          <a:ea charset="0" panose="02040503050406030204" pitchFamily="18" typeface="Cambria Math"/>
                        </a:rPr>
                        <m:t>= </m:t>
                      </m:r>
                      <m:r>
                        <a:rPr i="1" lang="en-US" smtClean="0">
                          <a:latin charset="0" panose="02040503050406030204" pitchFamily="18" typeface="Cambria Math"/>
                          <a:ea charset="0" panose="02040503050406030204" pitchFamily="18" typeface="Cambria Math"/>
                        </a:rPr>
                        <m:t>𝜎</m:t>
                      </m:r>
                      <m:r>
                        <a:rPr b="0" i="1" lang="en-US" smtClean="0">
                          <a:latin charset="0" panose="02040503050406030204" pitchFamily="18" typeface="Cambria Math"/>
                          <a:ea charset="0" panose="02040503050406030204" pitchFamily="18" typeface="Cambria Math"/>
                        </a:rPr>
                        <m:t>=</m:t>
                      </m:r>
                      <m:rad>
                        <m:radPr>
                          <m:degHide m:val="on"/>
                          <m:ctrlPr>
                            <a:rPr b="0" i="1" lang="en-US" smtClean="0">
                              <a:latin charset="0" panose="02040503050406030204" pitchFamily="18" typeface="Cambria Math"/>
                              <a:ea charset="0" panose="02040503050406030204" pitchFamily="18" typeface="Cambria Math"/>
                            </a:rPr>
                          </m:ctrlPr>
                        </m:radPr>
                        <m:deg/>
                        <m:e>
                          <m:sSup>
                            <m:sSupPr>
                              <m:ctrlPr>
                                <a:rPr b="0" i="1" lang="en-US" smtClean="0">
                                  <a:latin charset="0" panose="02040503050406030204" pitchFamily="18" typeface="Cambria Math"/>
                                  <a:ea charset="0" panose="02040503050406030204" pitchFamily="18" typeface="Cambria Math"/>
                                </a:rPr>
                              </m:ctrlPr>
                            </m:sSupPr>
                            <m:e>
                              <m:r>
                                <a:rPr b="0" i="1" lang="en-US" smtClean="0">
                                  <a:latin charset="0" panose="02040503050406030204" pitchFamily="18" typeface="Cambria Math"/>
                                  <a:ea charset="0" panose="02040503050406030204" pitchFamily="18" typeface="Cambria Math"/>
                                </a:rPr>
                                <m:t>𝜎</m:t>
                              </m:r>
                            </m:e>
                            <m:sup>
                              <m:r>
                                <a:rPr b="0" i="1" lang="en-US" smtClean="0">
                                  <a:latin charset="0" panose="02040503050406030204" pitchFamily="18" typeface="Cambria Math"/>
                                  <a:ea charset="0" panose="02040503050406030204" pitchFamily="18" typeface="Cambria Math"/>
                                </a:rPr>
                                <m:t>2</m:t>
                              </m:r>
                            </m:sup>
                          </m:sSup>
                        </m:e>
                      </m:rad>
                    </m:oMath>
                  </m:oMathPara>
                </a14:m>
                <a:endParaRPr dirty="0" lang="en-US"/>
              </a:p>
            </p:txBody>
          </p:sp>
        </mc:Choice>
        <mc:Fallback>
          <p:sp>
            <p:nvSpPr>
              <p:cNvPr id="6" name="TextBox 5">
                <a:extLst>
                  <a:ext uri="{FF2B5EF4-FFF2-40B4-BE49-F238E27FC236}">
                    <a16:creationId xmlns:a16="http://schemas.microsoft.com/office/drawing/2014/main" id="{81B6813B-B345-42C6-E60E-CF644CAE0413}"/>
                  </a:ext>
                </a:extLst>
              </p:cNvPr>
              <p:cNvSpPr txBox="1">
                <a:spLocks noAdjustHandles="1" noChangeArrowheads="1" noChangeAspect="1" noChangeShapeType="1" noEditPoints="1" noMove="1" noResize="1" noRot="1" noTextEdit="1"/>
              </p:cNvSpPr>
              <p:nvPr/>
            </p:nvSpPr>
            <p:spPr>
              <a:xfrm>
                <a:off x="1084305" y="4559643"/>
                <a:ext cx="5311390" cy="345416"/>
              </a:xfrm>
              <a:prstGeom prst="rect">
                <a:avLst/>
              </a:prstGeom>
              <a:blipFill>
                <a:blip r:embed="rId2"/>
                <a:stretch>
                  <a:fillRect b="-26316" l="-1607" r="-459"/>
                </a:stretch>
              </a:blipFill>
            </p:spPr>
            <p:txBody>
              <a:bodyPr/>
              <a:lstStyle/>
              <a:p>
                <a:r>
                  <a:rPr lang="en-US">
                    <a:noFill/>
                  </a:rPr>
                  <a:t> </a:t>
                </a:r>
              </a:p>
            </p:txBody>
          </p:sp>
        </mc:Fallback>
      </mc:AlternateContent>
      <mc:AlternateContent xmlns:a14="http://schemas.microsoft.com/office/drawing/2010/main" xmlns:mc="http://schemas.openxmlformats.org/markup-compatibility/2006">
        <mc:Choice Requires="a14">
          <p:sp>
            <p:nvSpPr>
              <p:cNvPr id="7" name="TextBox 6">
                <a:extLst>
                  <a:ext uri="{FF2B5EF4-FFF2-40B4-BE49-F238E27FC236}">
                    <a16:creationId xmlns:a16="http://schemas.microsoft.com/office/drawing/2014/main" id="{E6DE7433-8D00-564E-DB75-CE7346D00EA5}"/>
                  </a:ext>
                </a:extLst>
              </p:cNvPr>
              <p:cNvSpPr txBox="1"/>
              <p:nvPr/>
            </p:nvSpPr>
            <p:spPr>
              <a:xfrm>
                <a:off x="1084305" y="5195595"/>
                <a:ext cx="3967368" cy="345416"/>
              </a:xfrm>
              <a:prstGeom prst="rect">
                <a:avLst/>
              </a:prstGeom>
              <a:noFill/>
            </p:spPr>
            <p:txBody>
              <a:bodyPr bIns="0" lIns="0" rIns="0" rtlCol="0" tIns="0" wrap="none">
                <a:spAutoFit/>
              </a:bodyPr>
              <a:lstStyle/>
              <a:p>
                <a:pPr/>
                <a14:m>
                  <m:oMathPara xmlns:m="http://schemas.openxmlformats.org/officeDocument/2006/math">
                    <m:oMathParaPr>
                      <m:jc m:val="centerGroup"/>
                    </m:oMathParaPr>
                    <m:oMath>
                      <m:r>
                        <a:rPr b="0" i="1" lang="en-US" smtClean="0">
                          <a:latin charset="0" panose="02040503050406030204" pitchFamily="18" typeface="Cambria Math"/>
                          <a:ea charset="0" panose="02040503050406030204" pitchFamily="18" typeface="Cambria Math"/>
                        </a:rPr>
                        <m:t>𝑠𝑎𝑚𝑝𝑙𝑒</m:t>
                      </m:r>
                      <m:r>
                        <a:rPr b="0" i="1" lang="en-US" smtClean="0">
                          <a:latin charset="0" panose="02040503050406030204" pitchFamily="18" typeface="Cambria Math"/>
                          <a:ea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𝑠𝑡𝑎𝑛𝑑𝑎𝑟𝑑</m:t>
                      </m:r>
                      <m:r>
                        <a:rPr b="0" i="1" lang="en-US" smtClean="0">
                          <a:latin charset="0" panose="02040503050406030204" pitchFamily="18" typeface="Cambria Math"/>
                          <a:ea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𝑑𝑒𝑣𝑖𝑎𝑡𝑖𝑜𝑛</m:t>
                      </m:r>
                      <m:r>
                        <a:rPr b="0" i="1" lang="en-US" smtClean="0">
                          <a:latin charset="0" panose="02040503050406030204" pitchFamily="18" typeface="Cambria Math"/>
                          <a:ea charset="0" panose="02040503050406030204" pitchFamily="18" typeface="Cambria Math"/>
                        </a:rPr>
                        <m:t>=</m:t>
                      </m:r>
                      <m:r>
                        <m:rPr>
                          <m:nor/>
                        </m:rPr>
                        <a:rPr b="0" i="0" lang="en-US" smtClean="0">
                          <a:latin charset="0" panose="02040503050406030204" pitchFamily="18" typeface="Cambria Math"/>
                          <a:ea charset="0" panose="02040503050406030204" pitchFamily="18" typeface="Cambria Math"/>
                        </a:rPr>
                        <m:t>s</m:t>
                      </m:r>
                      <m:r>
                        <a:rPr b="0" i="1" lang="en-US" smtClean="0">
                          <a:latin charset="0" panose="02040503050406030204" pitchFamily="18" typeface="Cambria Math"/>
                          <a:ea charset="0" panose="02040503050406030204" pitchFamily="18" typeface="Cambria Math"/>
                        </a:rPr>
                        <m:t>=</m:t>
                      </m:r>
                      <m:rad>
                        <m:radPr>
                          <m:degHide m:val="on"/>
                          <m:ctrlPr>
                            <a:rPr b="0" i="1" lang="en-US" smtClean="0">
                              <a:latin charset="0" panose="02040503050406030204" pitchFamily="18" typeface="Cambria Math"/>
                              <a:ea charset="0" panose="02040503050406030204" pitchFamily="18" typeface="Cambria Math"/>
                            </a:rPr>
                          </m:ctrlPr>
                        </m:radPr>
                        <m:deg/>
                        <m:e>
                          <m:sSup>
                            <m:sSupPr>
                              <m:ctrlPr>
                                <a:rPr b="0" i="1" lang="en-US" smtClean="0">
                                  <a:latin charset="0" panose="02040503050406030204" pitchFamily="18" typeface="Cambria Math"/>
                                  <a:ea charset="0" panose="02040503050406030204" pitchFamily="18" typeface="Cambria Math"/>
                                </a:rPr>
                              </m:ctrlPr>
                            </m:sSupPr>
                            <m:e>
                              <m:r>
                                <a:rPr b="0" i="1" lang="en-US" smtClean="0">
                                  <a:latin charset="0" panose="02040503050406030204" pitchFamily="18" typeface="Cambria Math"/>
                                  <a:ea charset="0" panose="02040503050406030204" pitchFamily="18" typeface="Cambria Math"/>
                                </a:rPr>
                                <m:t>𝑠</m:t>
                              </m:r>
                            </m:e>
                            <m:sup>
                              <m:r>
                                <a:rPr b="0" i="1" lang="en-US" smtClean="0">
                                  <a:latin charset="0" panose="02040503050406030204" pitchFamily="18" typeface="Cambria Math"/>
                                  <a:ea charset="0" panose="02040503050406030204" pitchFamily="18" typeface="Cambria Math"/>
                                </a:rPr>
                                <m:t>2</m:t>
                              </m:r>
                            </m:sup>
                          </m:sSup>
                        </m:e>
                      </m:rad>
                    </m:oMath>
                  </m:oMathPara>
                </a14:m>
                <a:endParaRPr dirty="0" lang="en-US"/>
              </a:p>
            </p:txBody>
          </p:sp>
        </mc:Choice>
        <mc:Fallback>
          <p:sp>
            <p:nvSpPr>
              <p:cNvPr id="7" name="TextBox 6">
                <a:extLst>
                  <a:ext uri="{FF2B5EF4-FFF2-40B4-BE49-F238E27FC236}">
                    <a16:creationId xmlns:a16="http://schemas.microsoft.com/office/drawing/2014/main" id="{E6DE7433-8D00-564E-DB75-CE7346D00EA5}"/>
                  </a:ext>
                </a:extLst>
              </p:cNvPr>
              <p:cNvSpPr txBox="1">
                <a:spLocks noAdjustHandles="1" noChangeArrowheads="1" noChangeAspect="1" noChangeShapeType="1" noEditPoints="1" noMove="1" noResize="1" noRot="1" noTextEdit="1"/>
              </p:cNvSpPr>
              <p:nvPr/>
            </p:nvSpPr>
            <p:spPr>
              <a:xfrm>
                <a:off x="1084305" y="5195595"/>
                <a:ext cx="3967368" cy="345416"/>
              </a:xfrm>
              <a:prstGeom prst="rect">
                <a:avLst/>
              </a:prstGeom>
              <a:blipFill>
                <a:blip r:embed="rId3"/>
                <a:stretch>
                  <a:fillRect b="-26316" l="-1690" r="-154"/>
                </a:stretch>
              </a:blipFill>
            </p:spPr>
            <p:txBody>
              <a:bodyPr/>
              <a:lstStyle/>
              <a:p>
                <a:r>
                  <a:rPr lang="en-US">
                    <a:noFill/>
                  </a:rPr>
                  <a:t> </a:t>
                </a:r>
              </a:p>
            </p:txBody>
          </p:sp>
        </mc:Fallback>
      </mc:AlternateContent>
    </p:spTree>
    <p:extLst>
      <p:ext uri="{BB962C8B-B14F-4D97-AF65-F5344CB8AC3E}">
        <p14:creationId xmlns:p14="http://schemas.microsoft.com/office/powerpoint/2010/main" val="3872830797"/>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FDB50-95E0-828A-6F4F-75AAA72D1A53}"/>
              </a:ext>
            </a:extLst>
          </p:cNvPr>
          <p:cNvSpPr>
            <a:spLocks noGrp="1"/>
          </p:cNvSpPr>
          <p:nvPr>
            <p:ph type="title"/>
          </p:nvPr>
        </p:nvSpPr>
        <p:spPr/>
        <p:txBody>
          <a:bodyPr/>
          <a:lstStyle/>
          <a:p>
            <a:r>
              <a:rPr dirty="0" lang="en-US"/>
              <a:t>Standard Deviation Practice </a:t>
            </a:r>
          </a:p>
        </p:txBody>
      </p:sp>
      <p:sp>
        <p:nvSpPr>
          <p:cNvPr id="3" name="Content Placeholder 2">
            <a:extLst>
              <a:ext uri="{FF2B5EF4-FFF2-40B4-BE49-F238E27FC236}">
                <a16:creationId xmlns:a16="http://schemas.microsoft.com/office/drawing/2014/main" id="{5DB48459-C31F-F817-5421-CF60C8F2E329}"/>
              </a:ext>
            </a:extLst>
          </p:cNvPr>
          <p:cNvSpPr>
            <a:spLocks noGrp="1"/>
          </p:cNvSpPr>
          <p:nvPr>
            <p:ph idx="1"/>
          </p:nvPr>
        </p:nvSpPr>
        <p:spPr/>
        <p:txBody>
          <a:bodyPr>
            <a:normAutofit/>
          </a:bodyPr>
          <a:lstStyle/>
          <a:p>
            <a:pPr indent="-514350" marL="514350">
              <a:buFont typeface="+mj-lt"/>
              <a:buAutoNum type="arabicPeriod"/>
            </a:pPr>
            <a:r>
              <a:rPr dirty="0" lang="en-US"/>
              <a:t>Are the variance and standard deviation resistant to extreme values? </a:t>
            </a:r>
          </a:p>
          <a:p>
            <a:pPr indent="-514350" marL="514350">
              <a:buFont typeface="+mj-lt"/>
              <a:buAutoNum type="arabicPeriod"/>
            </a:pPr>
            <a:r>
              <a:rPr dirty="0" lang="en-US"/>
              <a:t>True or false: Given that a data set is measured in gallons, the standard deviation would be shown in gallons² and the variance would be shown in gallons. </a:t>
            </a:r>
          </a:p>
          <a:p>
            <a:pPr indent="-514350" marL="514350">
              <a:buFont typeface="+mj-lt"/>
              <a:buAutoNum type="arabicPeriod"/>
            </a:pPr>
            <a:r>
              <a:rPr dirty="0" lang="en-US"/>
              <a:t>Which population would you expect to have a larger standard deviation? </a:t>
            </a:r>
          </a:p>
          <a:p>
            <a:pPr indent="0" lvl="1" marL="457200">
              <a:buNone/>
            </a:pPr>
            <a:r>
              <a:rPr dirty="0" lang="en-US"/>
              <a:t>a. The heights of men ages 40-50. </a:t>
            </a:r>
          </a:p>
          <a:p>
            <a:pPr indent="0" lvl="1" marL="457200">
              <a:buNone/>
            </a:pPr>
            <a:r>
              <a:rPr dirty="0" lang="en-US"/>
              <a:t>b. The heights of children ages 8-12.</a:t>
            </a:r>
          </a:p>
        </p:txBody>
      </p:sp>
      <p:sp>
        <p:nvSpPr>
          <p:cNvPr id="4" name="Footer Placeholder 3">
            <a:extLst>
              <a:ext uri="{FF2B5EF4-FFF2-40B4-BE49-F238E27FC236}">
                <a16:creationId xmlns:a16="http://schemas.microsoft.com/office/drawing/2014/main" id="{B386D18F-5F8F-B01E-B199-DEDE0ED1DDE4}"/>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83376FA8-FF89-D2D5-E840-D9871A8313D0}"/>
              </a:ext>
            </a:extLst>
          </p:cNvPr>
          <p:cNvSpPr>
            <a:spLocks noGrp="1"/>
          </p:cNvSpPr>
          <p:nvPr>
            <p:ph idx="12" sz="quarter" type="sldNum"/>
          </p:nvPr>
        </p:nvSpPr>
        <p:spPr/>
        <p:txBody>
          <a:bodyPr/>
          <a:lstStyle/>
          <a:p>
            <a:fld id="{330EA680-D336-4FF7-8B7A-9848BB0A1C32}" type="slidenum">
              <a:rPr lang="en-US" smtClean="0">
                <a:solidFill>
                  <a:srgbClr val="404040"/>
                </a:solidFill>
              </a:rPr>
              <a:t>20</a:t>
            </a:fld>
            <a:endParaRPr lang="en-US"/>
          </a:p>
        </p:txBody>
      </p:sp>
    </p:spTree>
    <p:extLst>
      <p:ext uri="{BB962C8B-B14F-4D97-AF65-F5344CB8AC3E}">
        <p14:creationId xmlns:p14="http://schemas.microsoft.com/office/powerpoint/2010/main" val="2088279848"/>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9B94F-F9A8-9E64-BCD9-079FC1587D81}"/>
              </a:ext>
            </a:extLst>
          </p:cNvPr>
          <p:cNvSpPr>
            <a:spLocks noGrp="1"/>
          </p:cNvSpPr>
          <p:nvPr>
            <p:ph type="title"/>
          </p:nvPr>
        </p:nvSpPr>
        <p:spPr>
          <a:xfrm>
            <a:off x="838199" y="365125"/>
            <a:ext cx="11104605" cy="1325563"/>
          </a:xfrm>
        </p:spPr>
        <p:txBody>
          <a:bodyPr>
            <a:normAutofit/>
          </a:bodyPr>
          <a:lstStyle/>
          <a:p>
            <a:r>
              <a:rPr dirty="0" lang="en-US" sz="4000"/>
              <a:t>The Empirical Rule </a:t>
            </a:r>
            <a:r>
              <a:rPr dirty="0" lang="en-US" sz="3600"/>
              <a:t>(aka the 68 - 95 - 99.7 Rule)</a:t>
            </a:r>
            <a:endParaRPr dirty="0" lang="en-US" sz="4000"/>
          </a:p>
        </p:txBody>
      </p:sp>
      <p:sp>
        <p:nvSpPr>
          <p:cNvPr id="3" name="Content Placeholder 2">
            <a:extLst>
              <a:ext uri="{FF2B5EF4-FFF2-40B4-BE49-F238E27FC236}">
                <a16:creationId xmlns:a16="http://schemas.microsoft.com/office/drawing/2014/main" id="{26B61110-B3F7-1CF1-1126-729D2FBBE806}"/>
              </a:ext>
            </a:extLst>
          </p:cNvPr>
          <p:cNvSpPr>
            <a:spLocks noGrp="1"/>
          </p:cNvSpPr>
          <p:nvPr>
            <p:ph idx="1"/>
          </p:nvPr>
        </p:nvSpPr>
        <p:spPr/>
        <p:txBody>
          <a:bodyPr>
            <a:normAutofit fontScale="92500"/>
          </a:bodyPr>
          <a:lstStyle/>
          <a:p>
            <a:pPr indent="0" marL="0">
              <a:buNone/>
            </a:pPr>
            <a:r>
              <a:rPr dirty="0" lang="en-US"/>
              <a:t>We can approximate the shape of a histogram with a curved line. This will give us a general shape of the distribution of some population. If a population distribution is unimodal and approximately symmetrical, then we can call it bell-shaped. When a histogram/distribution is bell-shaped, we can use the Empirical Rule to understand the spread of the data values.</a:t>
            </a:r>
          </a:p>
          <a:p>
            <a:r>
              <a:rPr dirty="0" lang="en-US" sz="2400"/>
              <a:t>Roughly 68% of the data values are within one standard deviation of the mean. </a:t>
            </a:r>
          </a:p>
          <a:p>
            <a:r>
              <a:rPr dirty="0" lang="en-US" sz="2400"/>
              <a:t>Roughly 95% of the data values are within two standard deviations of the mean. </a:t>
            </a:r>
          </a:p>
          <a:p>
            <a:r>
              <a:rPr dirty="0" lang="en-US" sz="2400"/>
              <a:t>Roughly 99.7% of the data values are within three standard deviations of the mean. </a:t>
            </a:r>
          </a:p>
          <a:p>
            <a:r>
              <a:rPr dirty="0" lang="en-US" sz="2400"/>
              <a:t>Note that 100% of the data values are underneath the curve, which technically extends forever from negative infinity to positive infinity. </a:t>
            </a:r>
          </a:p>
          <a:p>
            <a:pPr indent="0" marL="0">
              <a:buNone/>
            </a:pPr>
            <a:endParaRPr dirty="0" lang="en-US"/>
          </a:p>
        </p:txBody>
      </p:sp>
      <p:sp>
        <p:nvSpPr>
          <p:cNvPr id="4" name="Footer Placeholder 3">
            <a:extLst>
              <a:ext uri="{FF2B5EF4-FFF2-40B4-BE49-F238E27FC236}">
                <a16:creationId xmlns:a16="http://schemas.microsoft.com/office/drawing/2014/main" id="{B0A2EA5E-A912-E37C-3F9D-FA9D6F9BE536}"/>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9EDC2E78-E00A-BCE1-3D46-7B348AE97970}"/>
              </a:ext>
            </a:extLst>
          </p:cNvPr>
          <p:cNvSpPr>
            <a:spLocks noGrp="1"/>
          </p:cNvSpPr>
          <p:nvPr>
            <p:ph idx="12" sz="quarter" type="sldNum"/>
          </p:nvPr>
        </p:nvSpPr>
        <p:spPr/>
        <p:txBody>
          <a:bodyPr/>
          <a:lstStyle/>
          <a:p>
            <a:fld id="{330EA680-D336-4FF7-8B7A-9848BB0A1C32}" type="slidenum">
              <a:rPr lang="en-US" smtClean="0">
                <a:solidFill>
                  <a:srgbClr val="404040"/>
                </a:solidFill>
              </a:rPr>
              <a:t>21</a:t>
            </a:fld>
            <a:endParaRPr lang="en-US"/>
          </a:p>
        </p:txBody>
      </p:sp>
    </p:spTree>
    <p:extLst>
      <p:ext uri="{BB962C8B-B14F-4D97-AF65-F5344CB8AC3E}">
        <p14:creationId xmlns:p14="http://schemas.microsoft.com/office/powerpoint/2010/main" val="2084206010"/>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6CE56-696C-5266-2FF9-863CF4071FA9}"/>
              </a:ext>
            </a:extLst>
          </p:cNvPr>
          <p:cNvSpPr>
            <a:spLocks noGrp="1"/>
          </p:cNvSpPr>
          <p:nvPr>
            <p:ph type="title"/>
          </p:nvPr>
        </p:nvSpPr>
        <p:spPr/>
        <p:txBody>
          <a:bodyPr/>
          <a:lstStyle/>
          <a:p>
            <a:r>
              <a:rPr dirty="0" lang="en-US"/>
              <a:t>Empirical Rule Visual </a:t>
            </a:r>
          </a:p>
        </p:txBody>
      </p:sp>
      <p:pic>
        <p:nvPicPr>
          <p:cNvPr descr="The Empirical Rule " id="7" name="Content Placeholder 6">
            <a:extLst>
              <a:ext uri="{FF2B5EF4-FFF2-40B4-BE49-F238E27FC236}">
                <a16:creationId xmlns:a16="http://schemas.microsoft.com/office/drawing/2014/main" id="{634CAEC3-62C1-D713-F323-898BB09DC3A8}"/>
              </a:ext>
            </a:extLst>
          </p:cNvPr>
          <p:cNvPicPr>
            <a:picLocks noChangeAspect="1" noGrp="1"/>
          </p:cNvPicPr>
          <p:nvPr>
            <p:ph idx="1"/>
          </p:nvPr>
        </p:nvPicPr>
        <p:blipFill>
          <a:blip r:embed="rId2"/>
          <a:stretch>
            <a:fillRect/>
          </a:stretch>
        </p:blipFill>
        <p:spPr>
          <a:xfrm>
            <a:off x="559065" y="2105791"/>
            <a:ext cx="11073869" cy="3992268"/>
          </a:xfrm>
          <a:prstGeom prst="rect">
            <a:avLst/>
          </a:prstGeom>
        </p:spPr>
      </p:pic>
      <p:sp>
        <p:nvSpPr>
          <p:cNvPr id="4" name="Footer Placeholder 3">
            <a:extLst>
              <a:ext uri="{FF2B5EF4-FFF2-40B4-BE49-F238E27FC236}">
                <a16:creationId xmlns:a16="http://schemas.microsoft.com/office/drawing/2014/main" id="{06F4A53A-E4C1-8F15-B6E5-CB5A858C54FB}"/>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01EE14ED-A8A2-DE84-9627-E813EC5C2F83}"/>
              </a:ext>
            </a:extLst>
          </p:cNvPr>
          <p:cNvSpPr>
            <a:spLocks noGrp="1"/>
          </p:cNvSpPr>
          <p:nvPr>
            <p:ph idx="12" sz="quarter" type="sldNum"/>
          </p:nvPr>
        </p:nvSpPr>
        <p:spPr/>
        <p:txBody>
          <a:bodyPr/>
          <a:lstStyle/>
          <a:p>
            <a:fld id="{330EA680-D336-4FF7-8B7A-9848BB0A1C32}" type="slidenum">
              <a:rPr lang="en-US" smtClean="0">
                <a:solidFill>
                  <a:srgbClr val="404040"/>
                </a:solidFill>
              </a:rPr>
              <a:t>22</a:t>
            </a:fld>
            <a:endParaRPr lang="en-US"/>
          </a:p>
        </p:txBody>
      </p:sp>
    </p:spTree>
    <p:extLst>
      <p:ext uri="{BB962C8B-B14F-4D97-AF65-F5344CB8AC3E}">
        <p14:creationId xmlns:p14="http://schemas.microsoft.com/office/powerpoint/2010/main" val="574867027"/>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7F53D-FCA4-3D3A-2040-02531E9096B2}"/>
              </a:ext>
            </a:extLst>
          </p:cNvPr>
          <p:cNvSpPr>
            <a:spLocks noGrp="1"/>
          </p:cNvSpPr>
          <p:nvPr>
            <p:ph type="title"/>
          </p:nvPr>
        </p:nvSpPr>
        <p:spPr/>
        <p:txBody>
          <a:bodyPr/>
          <a:lstStyle/>
          <a:p>
            <a:r>
              <a:rPr dirty="0" lang="en-US"/>
              <a:t>Empirical Rule Percentages </a:t>
            </a:r>
          </a:p>
        </p:txBody>
      </p:sp>
      <p:pic>
        <p:nvPicPr>
          <p:cNvPr descr="Empirical Rule half percentages " id="7" name="Content Placeholder 6">
            <a:extLst>
              <a:ext uri="{FF2B5EF4-FFF2-40B4-BE49-F238E27FC236}">
                <a16:creationId xmlns:a16="http://schemas.microsoft.com/office/drawing/2014/main" id="{D2FDAE6B-3B8C-626D-6788-B424BACC8B8B}"/>
              </a:ext>
            </a:extLst>
          </p:cNvPr>
          <p:cNvPicPr>
            <a:picLocks noChangeAspect="1" noGrp="1"/>
          </p:cNvPicPr>
          <p:nvPr>
            <p:ph idx="1"/>
          </p:nvPr>
        </p:nvPicPr>
        <p:blipFill>
          <a:blip r:embed="rId2"/>
          <a:stretch>
            <a:fillRect/>
          </a:stretch>
        </p:blipFill>
        <p:spPr>
          <a:xfrm>
            <a:off x="364019" y="1952368"/>
            <a:ext cx="11463962" cy="3990184"/>
          </a:xfrm>
          <a:prstGeom prst="rect">
            <a:avLst/>
          </a:prstGeom>
        </p:spPr>
      </p:pic>
      <p:sp>
        <p:nvSpPr>
          <p:cNvPr id="4" name="Footer Placeholder 3">
            <a:extLst>
              <a:ext uri="{FF2B5EF4-FFF2-40B4-BE49-F238E27FC236}">
                <a16:creationId xmlns:a16="http://schemas.microsoft.com/office/drawing/2014/main" id="{B13B348C-0E0E-266A-1E87-999B73E6F85F}"/>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AE64185E-E72A-361A-08FE-5D4B07BA4A24}"/>
              </a:ext>
            </a:extLst>
          </p:cNvPr>
          <p:cNvSpPr>
            <a:spLocks noGrp="1"/>
          </p:cNvSpPr>
          <p:nvPr>
            <p:ph idx="12" sz="quarter" type="sldNum"/>
          </p:nvPr>
        </p:nvSpPr>
        <p:spPr/>
        <p:txBody>
          <a:bodyPr/>
          <a:lstStyle/>
          <a:p>
            <a:fld id="{330EA680-D336-4FF7-8B7A-9848BB0A1C32}" type="slidenum">
              <a:rPr lang="en-US" smtClean="0">
                <a:solidFill>
                  <a:srgbClr val="404040"/>
                </a:solidFill>
              </a:rPr>
              <a:t>23</a:t>
            </a:fld>
            <a:endParaRPr lang="en-US"/>
          </a:p>
        </p:txBody>
      </p:sp>
      <p:sp>
        <p:nvSpPr>
          <p:cNvPr id="9" name="TextBox 8">
            <a:extLst>
              <a:ext uri="{FF2B5EF4-FFF2-40B4-BE49-F238E27FC236}">
                <a16:creationId xmlns:a16="http://schemas.microsoft.com/office/drawing/2014/main" id="{FF659B94-3630-9413-8BAF-DD601D674BD1}"/>
              </a:ext>
            </a:extLst>
          </p:cNvPr>
          <p:cNvSpPr txBox="1"/>
          <p:nvPr/>
        </p:nvSpPr>
        <p:spPr>
          <a:xfrm>
            <a:off x="8153400" y="150743"/>
            <a:ext cx="3829050" cy="1754326"/>
          </a:xfrm>
          <a:prstGeom prst="rect">
            <a:avLst/>
          </a:prstGeom>
          <a:noFill/>
        </p:spPr>
        <p:txBody>
          <a:bodyPr wrap="square">
            <a:spAutoFit/>
          </a:bodyPr>
          <a:lstStyle/>
          <a:p>
            <a:r>
              <a:rPr dirty="0" i="1" lang="en-US"/>
              <a:t>If a distribution is NOT bell-shaped, then we cannot rely on the Empirical Rule to estimate the spread of the distribution. Bell-shaped means it has to be both symmetric and unimodal. </a:t>
            </a:r>
          </a:p>
        </p:txBody>
      </p:sp>
    </p:spTree>
    <p:extLst>
      <p:ext uri="{BB962C8B-B14F-4D97-AF65-F5344CB8AC3E}">
        <p14:creationId xmlns:p14="http://schemas.microsoft.com/office/powerpoint/2010/main" val="1775791343"/>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7FD3C-5101-FF93-7C3F-41E6580E2ED7}"/>
              </a:ext>
            </a:extLst>
          </p:cNvPr>
          <p:cNvSpPr>
            <a:spLocks noGrp="1"/>
          </p:cNvSpPr>
          <p:nvPr>
            <p:ph type="title"/>
          </p:nvPr>
        </p:nvSpPr>
        <p:spPr/>
        <p:txBody>
          <a:bodyPr/>
          <a:lstStyle/>
          <a:p>
            <a:r>
              <a:rPr dirty="0" lang="en-US"/>
              <a:t>Yoshi Example </a:t>
            </a:r>
          </a:p>
        </p:txBody>
      </p:sp>
      <p:sp>
        <p:nvSpPr>
          <p:cNvPr id="3" name="Content Placeholder 2">
            <a:extLst>
              <a:ext uri="{FF2B5EF4-FFF2-40B4-BE49-F238E27FC236}">
                <a16:creationId xmlns:a16="http://schemas.microsoft.com/office/drawing/2014/main" id="{A9D2D414-0089-D8D0-C110-D3975BC5F322}"/>
              </a:ext>
            </a:extLst>
          </p:cNvPr>
          <p:cNvSpPr>
            <a:spLocks noGrp="1"/>
          </p:cNvSpPr>
          <p:nvPr>
            <p:ph idx="1"/>
          </p:nvPr>
        </p:nvSpPr>
        <p:spPr/>
        <p:txBody>
          <a:bodyPr>
            <a:normAutofit fontScale="85000" lnSpcReduction="10000"/>
          </a:bodyPr>
          <a:lstStyle/>
          <a:p>
            <a:pPr indent="0" marL="0">
              <a:buNone/>
            </a:pPr>
            <a:r>
              <a:rPr dirty="0" lang="en-US"/>
              <a:t> The amount of fruit that Yoshi can eat in one day follows a bell-shaped distribution with a mean of 112 pounds and a standard deviation of 4 pounds.</a:t>
            </a:r>
          </a:p>
          <a:p>
            <a:pPr indent="-514350" marL="514350">
              <a:buFont typeface="+mj-lt"/>
              <a:buAutoNum type="arabicPeriod"/>
            </a:pPr>
            <a:r>
              <a:rPr dirty="0" lang="en-US"/>
              <a:t>Complete the Empirical Curve with cut-off values. </a:t>
            </a:r>
          </a:p>
          <a:p>
            <a:pPr indent="-514350" marL="514350">
              <a:buFont typeface="+mj-lt"/>
              <a:buAutoNum type="arabicPeriod"/>
            </a:pPr>
            <a:r>
              <a:rPr dirty="0" lang="en-US"/>
              <a:t>Approximately 95% of the data values are between which two numbers? </a:t>
            </a:r>
          </a:p>
          <a:p>
            <a:pPr indent="-514350" marL="514350">
              <a:buFont typeface="+mj-lt"/>
              <a:buAutoNum type="arabicPeriod"/>
            </a:pPr>
            <a:r>
              <a:rPr dirty="0" lang="en-US"/>
              <a:t>Approximately half of the data values are greater than which number? </a:t>
            </a:r>
          </a:p>
          <a:p>
            <a:pPr indent="-514350" marL="514350">
              <a:buFont typeface="+mj-lt"/>
              <a:buAutoNum type="arabicPeriod"/>
            </a:pPr>
            <a:r>
              <a:rPr dirty="0" lang="en-US"/>
              <a:t>Approximately what percentage of data values are between 108 pounds and 116 pounds?</a:t>
            </a:r>
          </a:p>
          <a:p>
            <a:pPr indent="-514350" marL="514350">
              <a:buFont typeface="+mj-lt"/>
              <a:buAutoNum type="arabicPeriod"/>
            </a:pPr>
            <a:r>
              <a:rPr dirty="0" lang="en-US"/>
              <a:t>… Between 100 pounds and 124 pounds? </a:t>
            </a:r>
          </a:p>
          <a:p>
            <a:pPr indent="-514350" marL="514350">
              <a:buFont typeface="+mj-lt"/>
              <a:buAutoNum type="arabicPeriod"/>
            </a:pPr>
            <a:r>
              <a:rPr dirty="0" lang="en-US"/>
              <a:t>… Greater than 120 pounds? </a:t>
            </a:r>
          </a:p>
          <a:p>
            <a:pPr indent="-514350" marL="514350">
              <a:buFont typeface="+mj-lt"/>
              <a:buAutoNum type="arabicPeriod"/>
            </a:pPr>
            <a:r>
              <a:rPr dirty="0" lang="en-US"/>
              <a:t>… Less than 108 pounds? </a:t>
            </a:r>
          </a:p>
        </p:txBody>
      </p:sp>
      <p:sp>
        <p:nvSpPr>
          <p:cNvPr id="4" name="Footer Placeholder 3">
            <a:extLst>
              <a:ext uri="{FF2B5EF4-FFF2-40B4-BE49-F238E27FC236}">
                <a16:creationId xmlns:a16="http://schemas.microsoft.com/office/drawing/2014/main" id="{3880D3B7-C96F-919A-5BB3-10EC12B6BA97}"/>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DB1E8C90-6572-F1AC-C8ED-67B28BDF650A}"/>
              </a:ext>
            </a:extLst>
          </p:cNvPr>
          <p:cNvSpPr>
            <a:spLocks noGrp="1"/>
          </p:cNvSpPr>
          <p:nvPr>
            <p:ph idx="12" sz="quarter" type="sldNum"/>
          </p:nvPr>
        </p:nvSpPr>
        <p:spPr/>
        <p:txBody>
          <a:bodyPr/>
          <a:lstStyle/>
          <a:p>
            <a:fld id="{330EA680-D336-4FF7-8B7A-9848BB0A1C32}" type="slidenum">
              <a:rPr lang="en-US" smtClean="0">
                <a:solidFill>
                  <a:srgbClr val="404040"/>
                </a:solidFill>
              </a:rPr>
              <a:t>24</a:t>
            </a:fld>
            <a:endParaRPr lang="en-US"/>
          </a:p>
        </p:txBody>
      </p:sp>
    </p:spTree>
    <p:extLst>
      <p:ext uri="{BB962C8B-B14F-4D97-AF65-F5344CB8AC3E}">
        <p14:creationId xmlns:p14="http://schemas.microsoft.com/office/powerpoint/2010/main" val="16637565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5CC18-B918-1C1C-28D4-F19C139078FA}"/>
              </a:ext>
            </a:extLst>
          </p:cNvPr>
          <p:cNvSpPr>
            <a:spLocks noGrp="1"/>
          </p:cNvSpPr>
          <p:nvPr>
            <p:ph type="title"/>
          </p:nvPr>
        </p:nvSpPr>
        <p:spPr/>
        <p:txBody>
          <a:bodyPr/>
          <a:lstStyle/>
          <a:p>
            <a:r>
              <a:rPr dirty="0" lang="en-US"/>
              <a:t>Netherworld Example </a:t>
            </a:r>
          </a:p>
        </p:txBody>
      </p:sp>
      <p:sp>
        <p:nvSpPr>
          <p:cNvPr id="3" name="Content Placeholder 2">
            <a:extLst>
              <a:ext uri="{FF2B5EF4-FFF2-40B4-BE49-F238E27FC236}">
                <a16:creationId xmlns:a16="http://schemas.microsoft.com/office/drawing/2014/main" id="{EB97117E-D737-DDDA-A223-54ECFCFEF8E3}"/>
              </a:ext>
            </a:extLst>
          </p:cNvPr>
          <p:cNvSpPr>
            <a:spLocks noGrp="1"/>
          </p:cNvSpPr>
          <p:nvPr>
            <p:ph idx="1"/>
          </p:nvPr>
        </p:nvSpPr>
        <p:spPr/>
        <p:txBody>
          <a:bodyPr>
            <a:normAutofit fontScale="92500" lnSpcReduction="20000"/>
          </a:bodyPr>
          <a:lstStyle/>
          <a:p>
            <a:pPr indent="0" marL="0">
              <a:buNone/>
            </a:pPr>
            <a:r>
              <a:rPr dirty="0" lang="en-US"/>
              <a:t>The amount of time that guests spend in Netherworld Haunted House follows a unimodal and symmetric distribution with a mean of 42.3 minutes and a standard deviation of 6.08 minutes. Complete the following picture and answer the questions below.</a:t>
            </a:r>
          </a:p>
          <a:p>
            <a:pPr indent="-514350" marL="514350">
              <a:buFont typeface="+mj-lt"/>
              <a:buAutoNum type="arabicPeriod"/>
            </a:pPr>
            <a:r>
              <a:rPr dirty="0" lang="en-US"/>
              <a:t>What data value is 2 standard deviations above the mean? </a:t>
            </a:r>
          </a:p>
          <a:p>
            <a:pPr indent="-514350" marL="514350">
              <a:buFont typeface="+mj-lt"/>
              <a:buAutoNum type="arabicPeriod"/>
            </a:pPr>
            <a:r>
              <a:rPr dirty="0" lang="en-US"/>
              <a:t>What data value is 3 standard deviations below the mean? </a:t>
            </a:r>
          </a:p>
          <a:p>
            <a:pPr indent="-514350" marL="514350">
              <a:buFont typeface="+mj-lt"/>
              <a:buAutoNum type="arabicPeriod"/>
            </a:pPr>
            <a:r>
              <a:rPr dirty="0" lang="en-US"/>
              <a:t>Roughly 68% of the guests spend between ______ and ______ minutes. </a:t>
            </a:r>
          </a:p>
          <a:p>
            <a:pPr indent="-514350" marL="514350">
              <a:buFont typeface="+mj-lt"/>
              <a:buAutoNum type="arabicPeriod"/>
            </a:pPr>
            <a:r>
              <a:rPr dirty="0" lang="en-US"/>
              <a:t>Approximately what percentage of guests spend between 48 and 60 minutes? </a:t>
            </a:r>
          </a:p>
          <a:p>
            <a:pPr indent="-514350" marL="514350">
              <a:buFont typeface="+mj-lt"/>
              <a:buAutoNum type="arabicPeriod"/>
            </a:pPr>
            <a:r>
              <a:rPr dirty="0" lang="en-US"/>
              <a:t>Approximately what percentage of guests spend less than half an hour? </a:t>
            </a:r>
          </a:p>
        </p:txBody>
      </p:sp>
      <p:sp>
        <p:nvSpPr>
          <p:cNvPr id="4" name="Footer Placeholder 3">
            <a:extLst>
              <a:ext uri="{FF2B5EF4-FFF2-40B4-BE49-F238E27FC236}">
                <a16:creationId xmlns:a16="http://schemas.microsoft.com/office/drawing/2014/main" id="{CC72DAE4-AAE9-4D9B-952A-47B90D5BEB10}"/>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B986F74A-9363-50C6-C411-DACBC2A0D910}"/>
              </a:ext>
            </a:extLst>
          </p:cNvPr>
          <p:cNvSpPr>
            <a:spLocks noGrp="1"/>
          </p:cNvSpPr>
          <p:nvPr>
            <p:ph idx="12" sz="quarter" type="sldNum"/>
          </p:nvPr>
        </p:nvSpPr>
        <p:spPr/>
        <p:txBody>
          <a:bodyPr/>
          <a:lstStyle/>
          <a:p>
            <a:fld id="{330EA680-D336-4FF7-8B7A-9848BB0A1C32}" type="slidenum">
              <a:rPr lang="en-US" smtClean="0">
                <a:solidFill>
                  <a:srgbClr val="404040"/>
                </a:solidFill>
              </a:rPr>
              <a:t>25</a:t>
            </a:fld>
            <a:endParaRPr lang="en-US"/>
          </a:p>
        </p:txBody>
      </p:sp>
    </p:spTree>
    <p:extLst>
      <p:ext uri="{BB962C8B-B14F-4D97-AF65-F5344CB8AC3E}">
        <p14:creationId xmlns:p14="http://schemas.microsoft.com/office/powerpoint/2010/main" val="3502025310"/>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53E9-AD53-D024-4455-122D74010E6E}"/>
              </a:ext>
            </a:extLst>
          </p:cNvPr>
          <p:cNvSpPr>
            <a:spLocks noGrp="1"/>
          </p:cNvSpPr>
          <p:nvPr>
            <p:ph type="title"/>
          </p:nvPr>
        </p:nvSpPr>
        <p:spPr/>
        <p:txBody>
          <a:bodyPr/>
          <a:lstStyle/>
          <a:p>
            <a:r>
              <a:rPr dirty="0" lang="en-US"/>
              <a:t>Chebyshev’s Inequality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104D2A07-EE6E-8971-8808-38EE8C7098D4}"/>
                  </a:ext>
                </a:extLst>
              </p:cNvPr>
              <p:cNvSpPr>
                <a:spLocks noGrp="1"/>
              </p:cNvSpPr>
              <p:nvPr>
                <p:ph idx="1"/>
              </p:nvPr>
            </p:nvSpPr>
            <p:spPr>
              <a:xfrm>
                <a:off x="838200" y="1825625"/>
                <a:ext cx="11185358" cy="4351338"/>
              </a:xfrm>
            </p:spPr>
            <p:txBody>
              <a:bodyPr>
                <a:normAutofit fontScale="92500"/>
              </a:bodyPr>
              <a:lstStyle/>
              <a:p>
                <a:pPr indent="0" marL="0">
                  <a:buNone/>
                </a:pPr>
                <a:r>
                  <a:rPr dirty="0" lang="en-US"/>
                  <a:t>Remember that we can only rely on the Empirical Rule when we know that a distribution is bell-shaped. Chebyshev’s inequality can be used for any distribution, no matter its shape. The approximations are more generalized, so only use it if you must. </a:t>
                </a:r>
              </a:p>
              <a:p>
                <a:pPr indent="0" marL="0">
                  <a:buNone/>
                </a:pPr>
                <a:r>
                  <a:rPr dirty="0" lang="en-US"/>
                  <a:t>The proportion of data values that are within K standard deviations of the mean is: </a:t>
                </a:r>
              </a:p>
              <a:p>
                <a:pPr indent="0" marL="0">
                  <a:buNone/>
                </a:pPr>
                <a:r>
                  <a:rPr dirty="0" lang="en-US"/>
                  <a:t> </a:t>
                </a:r>
                <a14:m>
                  <m:oMath xmlns:m="http://schemas.openxmlformats.org/officeDocument/2006/math">
                    <m:r>
                      <a:rPr b="0" i="1" lang="en-US" smtClean="0">
                        <a:latin charset="0" panose="02040503050406030204" pitchFamily="18" typeface="Cambria Math"/>
                      </a:rPr>
                      <m:t>1</m:t>
                    </m:r>
                    <m:r>
                      <a:rPr b="0" i="1" lang="en-US" smtClean="0">
                        <a:latin charset="0" panose="02040503050406030204" pitchFamily="18" typeface="Cambria Math"/>
                      </a:rPr>
                      <m:t>−</m:t>
                    </m:r>
                    <m:f>
                      <m:fPr>
                        <m:ctrlPr>
                          <a:rPr b="0" i="1" lang="en-US" smtClean="0">
                            <a:latin charset="0" panose="02040503050406030204" pitchFamily="18" typeface="Cambria Math"/>
                          </a:rPr>
                        </m:ctrlPr>
                      </m:fPr>
                      <m:num>
                        <m:r>
                          <a:rPr b="0" i="1" lang="en-US" smtClean="0">
                            <a:latin charset="0" panose="02040503050406030204" pitchFamily="18" typeface="Cambria Math"/>
                          </a:rPr>
                          <m:t>1</m:t>
                        </m:r>
                      </m:num>
                      <m:den>
                        <m:sSup>
                          <m:sSupPr>
                            <m:ctrlPr>
                              <a:rPr b="0" i="1" lang="en-US" smtClean="0">
                                <a:latin charset="0" panose="02040503050406030204" pitchFamily="18" typeface="Cambria Math"/>
                              </a:rPr>
                            </m:ctrlPr>
                          </m:sSupPr>
                          <m:e>
                            <m:r>
                              <a:rPr b="0" i="1" lang="en-US" smtClean="0">
                                <a:latin charset="0" panose="02040503050406030204" pitchFamily="18" typeface="Cambria Math"/>
                              </a:rPr>
                              <m:t>𝑘</m:t>
                            </m:r>
                          </m:e>
                          <m:sup>
                            <m:r>
                              <a:rPr b="0" i="1" lang="en-US" smtClean="0">
                                <a:latin charset="0" panose="02040503050406030204" pitchFamily="18" typeface="Cambria Math"/>
                              </a:rPr>
                              <m:t>2</m:t>
                            </m:r>
                          </m:sup>
                        </m:sSup>
                      </m:den>
                    </m:f>
                  </m:oMath>
                </a14:m>
                <a:r>
                  <a:rPr dirty="0" lang="en-US"/>
                  <a:t>             assuming K &gt; 1. </a:t>
                </a:r>
              </a:p>
              <a:p>
                <a:pPr indent="0" marL="0">
                  <a:buNone/>
                </a:pPr>
                <a:r>
                  <a:rPr dirty="0" lang="en-US"/>
                  <a:t>For any population: </a:t>
                </a:r>
              </a:p>
              <a:p>
                <a:r>
                  <a:rPr dirty="0" lang="en-US" sz="2400"/>
                  <a:t>At least 3/4 (75%) of the data values are within 2 standard deviations of the mean. </a:t>
                </a:r>
              </a:p>
              <a:p>
                <a:r>
                  <a:rPr dirty="0" lang="en-US" sz="2400"/>
                  <a:t>At least 8/9 (88.9%) of the data values are within 3 standard deviations of the mean. </a:t>
                </a:r>
              </a:p>
              <a:p>
                <a:pPr indent="0" marL="0">
                  <a:buNone/>
                </a:pPr>
                <a:endParaRPr dirty="0" lang="en-US"/>
              </a:p>
            </p:txBody>
          </p:sp>
        </mc:Choice>
        <mc:Fallback>
          <p:sp>
            <p:nvSpPr>
              <p:cNvPr id="3" name="Content Placeholder 2">
                <a:extLst>
                  <a:ext uri="{FF2B5EF4-FFF2-40B4-BE49-F238E27FC236}">
                    <a16:creationId xmlns:a16="http://schemas.microsoft.com/office/drawing/2014/main" id="{104D2A07-EE6E-8971-8808-38EE8C7098D4}"/>
                  </a:ext>
                </a:extLst>
              </p:cNvPr>
              <p:cNvSpPr>
                <a:spLocks noAdjustHandles="1" noChangeArrowheads="1" noChangeAspect="1" noChangeShapeType="1" noEditPoints="1" noGrp="1" noMove="1" noResize="1" noRot="1" noTextEdit="1"/>
              </p:cNvSpPr>
              <p:nvPr>
                <p:ph idx="1"/>
              </p:nvPr>
            </p:nvSpPr>
            <p:spPr>
              <a:xfrm>
                <a:off x="838200" y="1825625"/>
                <a:ext cx="11185358" cy="4351338"/>
              </a:xfrm>
              <a:blipFill>
                <a:blip r:embed="rId2"/>
                <a:stretch>
                  <a:fillRect b="-2521" l="-981" t="-210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42BB871-EBC1-DFB4-C51D-3746749E6C53}"/>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D1D1599B-0E48-D7F5-ADC3-D52133AAABE2}"/>
              </a:ext>
            </a:extLst>
          </p:cNvPr>
          <p:cNvSpPr>
            <a:spLocks noGrp="1"/>
          </p:cNvSpPr>
          <p:nvPr>
            <p:ph idx="12" sz="quarter" type="sldNum"/>
          </p:nvPr>
        </p:nvSpPr>
        <p:spPr/>
        <p:txBody>
          <a:bodyPr/>
          <a:lstStyle/>
          <a:p>
            <a:fld id="{330EA680-D336-4FF7-8B7A-9848BB0A1C32}" type="slidenum">
              <a:rPr lang="en-US" smtClean="0">
                <a:solidFill>
                  <a:srgbClr val="404040"/>
                </a:solidFill>
              </a:rPr>
              <a:t>26</a:t>
            </a:fld>
            <a:endParaRPr lang="en-US"/>
          </a:p>
        </p:txBody>
      </p:sp>
    </p:spTree>
    <p:extLst>
      <p:ext uri="{BB962C8B-B14F-4D97-AF65-F5344CB8AC3E}">
        <p14:creationId xmlns:p14="http://schemas.microsoft.com/office/powerpoint/2010/main" val="1105535710"/>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7D052-4912-AB4B-2554-F2A3C1A71FB0}"/>
              </a:ext>
            </a:extLst>
          </p:cNvPr>
          <p:cNvSpPr>
            <a:spLocks noGrp="1"/>
          </p:cNvSpPr>
          <p:nvPr>
            <p:ph type="title"/>
          </p:nvPr>
        </p:nvSpPr>
        <p:spPr>
          <a:xfrm>
            <a:off x="228600" y="236788"/>
            <a:ext cx="10515600" cy="733759"/>
          </a:xfrm>
        </p:spPr>
        <p:txBody>
          <a:bodyPr/>
          <a:lstStyle/>
          <a:p>
            <a:r>
              <a:rPr dirty="0" lang="en-US"/>
              <a:t>Chebyshev’s Visual</a:t>
            </a:r>
          </a:p>
        </p:txBody>
      </p:sp>
      <p:pic>
        <p:nvPicPr>
          <p:cNvPr descr="&quot;Chebyshev’s Inequality diagram for any distribution is shown on the left, indicating intervals around the mean with at least 75% and 88.89% probability. On the right, there are two plots: a lognormal probability density function above and an orange-filled multimodal distribution below.&quot;" id="7" name="Content Placeholder 6">
            <a:extLst>
              <a:ext uri="{FF2B5EF4-FFF2-40B4-BE49-F238E27FC236}">
                <a16:creationId xmlns:a16="http://schemas.microsoft.com/office/drawing/2014/main" id="{82607AA4-8089-BE7F-D033-5667999054A9}"/>
              </a:ext>
            </a:extLst>
          </p:cNvPr>
          <p:cNvPicPr>
            <a:picLocks noChangeAspect="1" noGrp="1"/>
          </p:cNvPicPr>
          <p:nvPr>
            <p:ph idx="1"/>
          </p:nvPr>
        </p:nvPicPr>
        <p:blipFill>
          <a:blip r:embed="rId2"/>
          <a:stretch>
            <a:fillRect/>
          </a:stretch>
        </p:blipFill>
        <p:spPr>
          <a:xfrm>
            <a:off x="1134430" y="970547"/>
            <a:ext cx="9923139" cy="5463089"/>
          </a:xfrm>
          <a:prstGeom prst="rect">
            <a:avLst/>
          </a:prstGeom>
        </p:spPr>
      </p:pic>
      <p:sp>
        <p:nvSpPr>
          <p:cNvPr id="4" name="Footer Placeholder 3">
            <a:extLst>
              <a:ext uri="{FF2B5EF4-FFF2-40B4-BE49-F238E27FC236}">
                <a16:creationId xmlns:a16="http://schemas.microsoft.com/office/drawing/2014/main" id="{A39B2299-4208-AF50-0679-38C490F6AC62}"/>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4F23A332-2207-10E6-DE4E-EA7D071CB824}"/>
              </a:ext>
            </a:extLst>
          </p:cNvPr>
          <p:cNvSpPr>
            <a:spLocks noGrp="1"/>
          </p:cNvSpPr>
          <p:nvPr>
            <p:ph idx="12" sz="quarter" type="sldNum"/>
          </p:nvPr>
        </p:nvSpPr>
        <p:spPr/>
        <p:txBody>
          <a:bodyPr/>
          <a:lstStyle/>
          <a:p>
            <a:fld id="{330EA680-D336-4FF7-8B7A-9848BB0A1C32}" type="slidenum">
              <a:rPr lang="en-US" smtClean="0">
                <a:solidFill>
                  <a:srgbClr val="404040"/>
                </a:solidFill>
              </a:rPr>
              <a:t>27</a:t>
            </a:fld>
            <a:endParaRPr lang="en-US"/>
          </a:p>
        </p:txBody>
      </p:sp>
    </p:spTree>
    <p:extLst>
      <p:ext uri="{BB962C8B-B14F-4D97-AF65-F5344CB8AC3E}">
        <p14:creationId xmlns:p14="http://schemas.microsoft.com/office/powerpoint/2010/main" val="4230297955"/>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DACA2-6A42-4842-3B30-4EC2B7223064}"/>
              </a:ext>
            </a:extLst>
          </p:cNvPr>
          <p:cNvSpPr>
            <a:spLocks noGrp="1"/>
          </p:cNvSpPr>
          <p:nvPr>
            <p:ph type="title"/>
          </p:nvPr>
        </p:nvSpPr>
        <p:spPr/>
        <p:txBody>
          <a:bodyPr/>
          <a:lstStyle/>
          <a:p>
            <a:r>
              <a:rPr dirty="0" lang="en-US"/>
              <a:t>Aircraft Example </a:t>
            </a:r>
          </a:p>
        </p:txBody>
      </p:sp>
      <p:sp>
        <p:nvSpPr>
          <p:cNvPr id="3" name="Content Placeholder 2">
            <a:extLst>
              <a:ext uri="{FF2B5EF4-FFF2-40B4-BE49-F238E27FC236}">
                <a16:creationId xmlns:a16="http://schemas.microsoft.com/office/drawing/2014/main" id="{B2A37DF1-A222-7629-E101-E0239FAB8F8D}"/>
              </a:ext>
            </a:extLst>
          </p:cNvPr>
          <p:cNvSpPr>
            <a:spLocks noGrp="1"/>
          </p:cNvSpPr>
          <p:nvPr>
            <p:ph idx="1"/>
          </p:nvPr>
        </p:nvSpPr>
        <p:spPr/>
        <p:txBody>
          <a:bodyPr>
            <a:normAutofit/>
          </a:bodyPr>
          <a:lstStyle/>
          <a:p>
            <a:pPr indent="0" marL="0">
              <a:buNone/>
            </a:pPr>
            <a:r>
              <a:rPr dirty="0" lang="en-US"/>
              <a:t>The population of a certain bolt used in building aircrafts follows a negatively skewed distribution with a mean of 125.01 mm and standard deviation of 1.26 mm. </a:t>
            </a:r>
          </a:p>
          <a:p>
            <a:pPr indent="-514350" marL="514350">
              <a:buFont typeface="+mj-lt"/>
              <a:buAutoNum type="arabicPeriod"/>
            </a:pPr>
            <a:r>
              <a:rPr dirty="0" lang="en-US"/>
              <a:t>At least what percentage of the bolts will be between 122.49 and 127.53 mm? </a:t>
            </a:r>
          </a:p>
          <a:p>
            <a:pPr indent="-514350" marL="514350">
              <a:buFont typeface="+mj-lt"/>
              <a:buAutoNum type="arabicPeriod"/>
            </a:pPr>
            <a:r>
              <a:rPr dirty="0" lang="en-US"/>
              <a:t>At least what percentage of bolts will be between 121.23 and 128.79 mm? </a:t>
            </a:r>
          </a:p>
          <a:p>
            <a:pPr indent="-514350" marL="514350">
              <a:buFont typeface="+mj-lt"/>
              <a:buAutoNum type="arabicPeriod"/>
            </a:pPr>
            <a:r>
              <a:rPr dirty="0" lang="en-US"/>
              <a:t>Roughly how many bolts will fall within one standard deviation of the mean? </a:t>
            </a:r>
          </a:p>
        </p:txBody>
      </p:sp>
      <p:sp>
        <p:nvSpPr>
          <p:cNvPr id="4" name="Footer Placeholder 3">
            <a:extLst>
              <a:ext uri="{FF2B5EF4-FFF2-40B4-BE49-F238E27FC236}">
                <a16:creationId xmlns:a16="http://schemas.microsoft.com/office/drawing/2014/main" id="{DB36B9F3-687E-4CF8-B330-E8D489FD4FA1}"/>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76C62C3D-3AC6-53B0-CB3F-AE6DEFFB710D}"/>
              </a:ext>
            </a:extLst>
          </p:cNvPr>
          <p:cNvSpPr>
            <a:spLocks noGrp="1"/>
          </p:cNvSpPr>
          <p:nvPr>
            <p:ph idx="12" sz="quarter" type="sldNum"/>
          </p:nvPr>
        </p:nvSpPr>
        <p:spPr/>
        <p:txBody>
          <a:bodyPr/>
          <a:lstStyle/>
          <a:p>
            <a:fld id="{330EA680-D336-4FF7-8B7A-9848BB0A1C32}" type="slidenum">
              <a:rPr lang="en-US" smtClean="0">
                <a:solidFill>
                  <a:srgbClr val="404040"/>
                </a:solidFill>
              </a:rPr>
              <a:t>28</a:t>
            </a:fld>
            <a:endParaRPr lang="en-US"/>
          </a:p>
        </p:txBody>
      </p:sp>
    </p:spTree>
    <p:extLst>
      <p:ext uri="{BB962C8B-B14F-4D97-AF65-F5344CB8AC3E}">
        <p14:creationId xmlns:p14="http://schemas.microsoft.com/office/powerpoint/2010/main" val="752259896"/>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1CDC1-07C8-0A08-5179-C929CC30CCE3}"/>
              </a:ext>
            </a:extLst>
          </p:cNvPr>
          <p:cNvSpPr>
            <a:spLocks noGrp="1"/>
          </p:cNvSpPr>
          <p:nvPr>
            <p:ph type="title"/>
          </p:nvPr>
        </p:nvSpPr>
        <p:spPr/>
        <p:txBody>
          <a:bodyPr/>
          <a:lstStyle/>
          <a:p>
            <a:r>
              <a:rPr dirty="0" lang="en-US"/>
              <a:t>Exam Scores Example </a:t>
            </a:r>
          </a:p>
        </p:txBody>
      </p:sp>
      <p:sp>
        <p:nvSpPr>
          <p:cNvPr id="3" name="Content Placeholder 2">
            <a:extLst>
              <a:ext uri="{FF2B5EF4-FFF2-40B4-BE49-F238E27FC236}">
                <a16:creationId xmlns:a16="http://schemas.microsoft.com/office/drawing/2014/main" id="{2B3BFEE5-6AFF-67B2-59B9-8669465AC7F3}"/>
              </a:ext>
            </a:extLst>
          </p:cNvPr>
          <p:cNvSpPr>
            <a:spLocks noGrp="1"/>
          </p:cNvSpPr>
          <p:nvPr>
            <p:ph idx="1"/>
          </p:nvPr>
        </p:nvSpPr>
        <p:spPr/>
        <p:txBody>
          <a:bodyPr>
            <a:normAutofit/>
          </a:bodyPr>
          <a:lstStyle/>
          <a:p>
            <a:pPr indent="0" marL="0">
              <a:buNone/>
            </a:pPr>
            <a:r>
              <a:rPr dirty="0" lang="en-US"/>
              <a:t>The mean score of an Insurance Commission Licensure Examination is 75.11, with a standard deviation of 6.7. The distribution of scores is multimodal. </a:t>
            </a:r>
          </a:p>
          <a:p>
            <a:pPr indent="-514350" marL="514350">
              <a:buFont typeface="+mj-lt"/>
              <a:buAutoNum type="arabicPeriod"/>
            </a:pPr>
            <a:r>
              <a:rPr dirty="0" lang="en-US"/>
              <a:t>How do you know that we need to use Chebyshev’s inequality here? </a:t>
            </a:r>
          </a:p>
          <a:p>
            <a:pPr indent="-514350" marL="514350">
              <a:buFont typeface="+mj-lt"/>
              <a:buAutoNum type="arabicPeriod"/>
            </a:pPr>
            <a:r>
              <a:rPr dirty="0" lang="en-US"/>
              <a:t>What percentage of the data set lies between 61.71 and 88.51?</a:t>
            </a:r>
          </a:p>
          <a:p>
            <a:pPr indent="-514350" marL="514350">
              <a:buFont typeface="+mj-lt"/>
              <a:buAutoNum type="arabicPeriod"/>
            </a:pPr>
            <a:r>
              <a:rPr dirty="0" lang="en-US"/>
              <a:t>At least 88.9% of data values lie between which two scores? </a:t>
            </a:r>
          </a:p>
          <a:p>
            <a:pPr indent="0" marL="0">
              <a:buNone/>
            </a:pPr>
            <a:endParaRPr dirty="0" lang="en-US"/>
          </a:p>
        </p:txBody>
      </p:sp>
      <p:sp>
        <p:nvSpPr>
          <p:cNvPr id="4" name="Footer Placeholder 3">
            <a:extLst>
              <a:ext uri="{FF2B5EF4-FFF2-40B4-BE49-F238E27FC236}">
                <a16:creationId xmlns:a16="http://schemas.microsoft.com/office/drawing/2014/main" id="{459AF3AA-B7F1-5445-1157-144B668207AA}"/>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536C775F-F822-16F1-01A5-3ADB253F46AE}"/>
              </a:ext>
            </a:extLst>
          </p:cNvPr>
          <p:cNvSpPr>
            <a:spLocks noGrp="1"/>
          </p:cNvSpPr>
          <p:nvPr>
            <p:ph idx="12" sz="quarter" type="sldNum"/>
          </p:nvPr>
        </p:nvSpPr>
        <p:spPr/>
        <p:txBody>
          <a:bodyPr/>
          <a:lstStyle/>
          <a:p>
            <a:fld id="{330EA680-D336-4FF7-8B7A-9848BB0A1C32}" type="slidenum">
              <a:rPr lang="en-US" smtClean="0">
                <a:solidFill>
                  <a:srgbClr val="404040"/>
                </a:solidFill>
              </a:rPr>
              <a:t>29</a:t>
            </a:fld>
            <a:endParaRPr lang="en-US"/>
          </a:p>
        </p:txBody>
      </p:sp>
    </p:spTree>
    <p:extLst>
      <p:ext uri="{BB962C8B-B14F-4D97-AF65-F5344CB8AC3E}">
        <p14:creationId xmlns:p14="http://schemas.microsoft.com/office/powerpoint/2010/main" val="841232033"/>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F3FAE-D170-0725-4050-58FF764045F5}"/>
              </a:ext>
            </a:extLst>
          </p:cNvPr>
          <p:cNvSpPr>
            <a:spLocks noGrp="1"/>
          </p:cNvSpPr>
          <p:nvPr>
            <p:ph type="title"/>
          </p:nvPr>
        </p:nvSpPr>
        <p:spPr/>
        <p:txBody>
          <a:bodyPr/>
          <a:lstStyle/>
          <a:p>
            <a:r>
              <a:rPr dirty="0" lang="en-US"/>
              <a:t>Summary: Empirical vs. Chebyshev’s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7A4B8EB3-0EA6-5E44-F631-98AA134D3C68}"/>
                  </a:ext>
                </a:extLst>
              </p:cNvPr>
              <p:cNvSpPr>
                <a:spLocks noGrp="1"/>
              </p:cNvSpPr>
              <p:nvPr>
                <p:ph idx="1"/>
              </p:nvPr>
            </p:nvSpPr>
            <p:spPr/>
            <p:txBody>
              <a:bodyPr numCol="2">
                <a:normAutofit/>
              </a:bodyPr>
              <a:lstStyle/>
              <a:p>
                <a:pPr indent="0" marL="0">
                  <a:buNone/>
                </a:pPr>
                <a:r>
                  <a:rPr dirty="0" i="1" lang="en-US"/>
                  <a:t>Empirical</a:t>
                </a:r>
                <a:r>
                  <a:rPr dirty="0" lang="en-US"/>
                  <a:t> </a:t>
                </a:r>
              </a:p>
              <a:p>
                <a:r>
                  <a:rPr dirty="0" lang="en-US"/>
                  <a:t>Bell-shaped only</a:t>
                </a:r>
              </a:p>
              <a:p>
                <a:r>
                  <a:rPr dirty="0" lang="en-US"/>
                  <a:t>~68% (</a:t>
                </a:r>
                <a14:m>
                  <m:oMath xmlns:m="http://schemas.openxmlformats.org/officeDocument/2006/math">
                    <m:r>
                      <a:rPr i="1" lang="en-US" smtClean="0">
                        <a:latin charset="0" panose="02040503050406030204" pitchFamily="18" typeface="Cambria Math"/>
                        <a:ea charset="0" panose="02040503050406030204" pitchFamily="18" typeface="Cambria Math"/>
                      </a:rPr>
                      <m:t>𝜇</m:t>
                    </m:r>
                    <m:r>
                      <a:rPr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1</m:t>
                    </m:r>
                    <m:r>
                      <a:rPr i="1" lang="en-US" smtClean="0">
                        <a:latin charset="0" panose="02040503050406030204" pitchFamily="18" typeface="Cambria Math"/>
                        <a:ea charset="0" panose="02040503050406030204" pitchFamily="18" typeface="Cambria Math"/>
                      </a:rPr>
                      <m:t>𝜎</m:t>
                    </m:r>
                  </m:oMath>
                </a14:m>
                <a:r>
                  <a:rPr dirty="0" lang="en-US"/>
                  <a:t>)</a:t>
                </a:r>
              </a:p>
              <a:p>
                <a:r>
                  <a:rPr dirty="0" lang="en-US"/>
                  <a:t>~95% (</a:t>
                </a:r>
                <a14:m>
                  <m:oMath xmlns:m="http://schemas.openxmlformats.org/officeDocument/2006/math">
                    <m:r>
                      <a:rPr i="1" lang="en-US">
                        <a:latin charset="0" panose="02040503050406030204" pitchFamily="18" typeface="Cambria Math"/>
                        <a:ea charset="0" panose="02040503050406030204" pitchFamily="18" typeface="Cambria Math"/>
                      </a:rPr>
                      <m:t>𝜇</m:t>
                    </m:r>
                    <m:r>
                      <a:rPr i="1" lang="en-US">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2</m:t>
                    </m:r>
                    <m:r>
                      <a:rPr i="1" lang="en-US">
                        <a:latin charset="0" panose="02040503050406030204" pitchFamily="18" typeface="Cambria Math"/>
                        <a:ea charset="0" panose="02040503050406030204" pitchFamily="18" typeface="Cambria Math"/>
                      </a:rPr>
                      <m:t>𝜎</m:t>
                    </m:r>
                  </m:oMath>
                </a14:m>
                <a:r>
                  <a:rPr dirty="0" lang="en-US"/>
                  <a:t>)</a:t>
                </a:r>
              </a:p>
              <a:p>
                <a:r>
                  <a:rPr dirty="0" lang="en-US"/>
                  <a:t>~99.7% (</a:t>
                </a:r>
                <a14:m>
                  <m:oMath xmlns:m="http://schemas.openxmlformats.org/officeDocument/2006/math">
                    <m:r>
                      <a:rPr i="1" lang="en-US">
                        <a:latin charset="0" panose="02040503050406030204" pitchFamily="18" typeface="Cambria Math"/>
                        <a:ea charset="0" panose="02040503050406030204" pitchFamily="18" typeface="Cambria Math"/>
                      </a:rPr>
                      <m:t>𝜇</m:t>
                    </m:r>
                    <m:r>
                      <a:rPr i="1" lang="en-US">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3</m:t>
                    </m:r>
                    <m:r>
                      <a:rPr i="1" lang="en-US">
                        <a:latin charset="0" panose="02040503050406030204" pitchFamily="18" typeface="Cambria Math"/>
                        <a:ea charset="0" panose="02040503050406030204" pitchFamily="18" typeface="Cambria Math"/>
                      </a:rPr>
                      <m:t>𝜎</m:t>
                    </m:r>
                  </m:oMath>
                </a14:m>
                <a:r>
                  <a:rPr dirty="0" lang="en-US"/>
                  <a:t>)</a:t>
                </a:r>
              </a:p>
              <a:p>
                <a:endParaRPr dirty="0" lang="en-US"/>
              </a:p>
              <a:p>
                <a:endParaRPr dirty="0" lang="en-US"/>
              </a:p>
              <a:p>
                <a:pPr indent="0" marL="0">
                  <a:buNone/>
                </a:pPr>
                <a:endParaRPr dirty="0" lang="en-US"/>
              </a:p>
              <a:p>
                <a:pPr indent="0" marL="0">
                  <a:buNone/>
                </a:pPr>
                <a:r>
                  <a:rPr dirty="0" i="1" lang="en-US"/>
                  <a:t>Chebyshev’s</a:t>
                </a:r>
                <a:r>
                  <a:rPr dirty="0" lang="en-US"/>
                  <a:t> </a:t>
                </a:r>
              </a:p>
              <a:p>
                <a:r>
                  <a:rPr dirty="0" lang="en-US"/>
                  <a:t>Any shape </a:t>
                </a:r>
              </a:p>
              <a:p>
                <a14:m>
                  <m:oMath xmlns:m="http://schemas.openxmlformats.org/officeDocument/2006/math">
                    <m:r>
                      <a:rPr i="1" lang="en-US" smtClean="0">
                        <a:latin charset="0" panose="02040503050406030204" pitchFamily="18" typeface="Cambria Math"/>
                        <a:ea charset="0" panose="02040503050406030204" pitchFamily="18" typeface="Cambria Math"/>
                      </a:rPr>
                      <m:t>≥</m:t>
                    </m:r>
                  </m:oMath>
                </a14:m>
                <a:r>
                  <a:rPr dirty="0" lang="en-US"/>
                  <a:t>75% (</a:t>
                </a:r>
                <a14:m>
                  <m:oMath xmlns:m="http://schemas.openxmlformats.org/officeDocument/2006/math">
                    <m:r>
                      <a:rPr i="1" lang="en-US">
                        <a:latin charset="0" panose="02040503050406030204" pitchFamily="18" typeface="Cambria Math"/>
                        <a:ea charset="0" panose="02040503050406030204" pitchFamily="18" typeface="Cambria Math"/>
                      </a:rPr>
                      <m:t>𝜇</m:t>
                    </m:r>
                    <m:r>
                      <a:rPr i="1" lang="en-US">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2</m:t>
                    </m:r>
                    <m:r>
                      <a:rPr i="1" lang="en-US">
                        <a:latin charset="0" panose="02040503050406030204" pitchFamily="18" typeface="Cambria Math"/>
                        <a:ea charset="0" panose="02040503050406030204" pitchFamily="18" typeface="Cambria Math"/>
                      </a:rPr>
                      <m:t>𝜎</m:t>
                    </m:r>
                  </m:oMath>
                </a14:m>
                <a:r>
                  <a:rPr dirty="0" lang="en-US"/>
                  <a:t>)</a:t>
                </a:r>
              </a:p>
              <a:p>
                <a14:m>
                  <m:oMath xmlns:m="http://schemas.openxmlformats.org/officeDocument/2006/math">
                    <m:r>
                      <a:rPr i="1" lang="en-US" smtClean="0">
                        <a:latin charset="0" panose="02040503050406030204" pitchFamily="18" typeface="Cambria Math"/>
                        <a:ea charset="0" panose="02040503050406030204" pitchFamily="18" typeface="Cambria Math"/>
                      </a:rPr>
                      <m:t>≥</m:t>
                    </m:r>
                  </m:oMath>
                </a14:m>
                <a:r>
                  <a:rPr dirty="0" lang="en-US"/>
                  <a:t>88.9% (</a:t>
                </a:r>
                <a14:m>
                  <m:oMath xmlns:m="http://schemas.openxmlformats.org/officeDocument/2006/math">
                    <m:r>
                      <a:rPr i="1" lang="en-US">
                        <a:latin charset="0" panose="02040503050406030204" pitchFamily="18" typeface="Cambria Math"/>
                        <a:ea charset="0" panose="02040503050406030204" pitchFamily="18" typeface="Cambria Math"/>
                      </a:rPr>
                      <m:t>𝜇</m:t>
                    </m:r>
                    <m:r>
                      <a:rPr i="1" lang="en-US">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3</m:t>
                    </m:r>
                    <m:r>
                      <a:rPr i="1" lang="en-US">
                        <a:latin charset="0" panose="02040503050406030204" pitchFamily="18" typeface="Cambria Math"/>
                        <a:ea charset="0" panose="02040503050406030204" pitchFamily="18" typeface="Cambria Math"/>
                      </a:rPr>
                      <m:t>𝜎</m:t>
                    </m:r>
                  </m:oMath>
                </a14:m>
                <a:r>
                  <a:rPr dirty="0" lang="en-US"/>
                  <a:t>) </a:t>
                </a:r>
              </a:p>
            </p:txBody>
          </p:sp>
        </mc:Choice>
        <mc:Fallback>
          <p:sp>
            <p:nvSpPr>
              <p:cNvPr id="3" name="Content Placeholder 2">
                <a:extLst>
                  <a:ext uri="{FF2B5EF4-FFF2-40B4-BE49-F238E27FC236}">
                    <a16:creationId xmlns:a16="http://schemas.microsoft.com/office/drawing/2014/main" id="{7A4B8EB3-0EA6-5E44-F631-98AA134D3C68}"/>
                  </a:ext>
                </a:extLst>
              </p:cNvPr>
              <p:cNvSpPr>
                <a:spLocks noAdjustHandles="1" noChangeArrowheads="1" noChangeAspect="1" noChangeShapeType="1" noEditPoints="1" noGrp="1" noMove="1" noResize="1" noRot="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347F376-DE57-C182-4FC6-41C7D952FB4C}"/>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C9DC99E9-06E9-A881-6612-3373507E8110}"/>
              </a:ext>
            </a:extLst>
          </p:cNvPr>
          <p:cNvSpPr>
            <a:spLocks noGrp="1"/>
          </p:cNvSpPr>
          <p:nvPr>
            <p:ph idx="12" sz="quarter" type="sldNum"/>
          </p:nvPr>
        </p:nvSpPr>
        <p:spPr/>
        <p:txBody>
          <a:bodyPr/>
          <a:lstStyle/>
          <a:p>
            <a:fld id="{330EA680-D336-4FF7-8B7A-9848BB0A1C32}" type="slidenum">
              <a:rPr lang="en-US" smtClean="0">
                <a:solidFill>
                  <a:srgbClr val="404040"/>
                </a:solidFill>
              </a:rPr>
              <a:t>30</a:t>
            </a:fld>
            <a:endParaRPr lang="en-US"/>
          </a:p>
        </p:txBody>
      </p:sp>
    </p:spTree>
    <p:extLst>
      <p:ext uri="{BB962C8B-B14F-4D97-AF65-F5344CB8AC3E}">
        <p14:creationId xmlns:p14="http://schemas.microsoft.com/office/powerpoint/2010/main" val="414000360"/>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0DE9-294F-442A-7C26-676C83AE5D47}"/>
              </a:ext>
            </a:extLst>
          </p:cNvPr>
          <p:cNvSpPr>
            <a:spLocks noGrp="1"/>
          </p:cNvSpPr>
          <p:nvPr>
            <p:ph type="title"/>
          </p:nvPr>
        </p:nvSpPr>
        <p:spPr/>
        <p:txBody>
          <a:bodyPr/>
          <a:lstStyle/>
          <a:p>
            <a:r>
              <a:rPr dirty="0" lang="en-US"/>
              <a:t>The z-score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7F4B63F0-F4A7-CDD7-FCCF-EA8DF780EC6B}"/>
                  </a:ext>
                </a:extLst>
              </p:cNvPr>
              <p:cNvSpPr>
                <a:spLocks noGrp="1"/>
              </p:cNvSpPr>
              <p:nvPr>
                <p:ph idx="1"/>
              </p:nvPr>
            </p:nvSpPr>
            <p:spPr/>
            <p:txBody>
              <a:bodyPr/>
              <a:lstStyle/>
              <a:p>
                <a:pPr indent="0" marL="0">
                  <a:buNone/>
                </a:pPr>
                <a:r>
                  <a:rPr dirty="0" lang="en-US"/>
                  <a:t>Measures of position tell us where a data value is in relation to the entire distribution. </a:t>
                </a:r>
              </a:p>
              <a:p>
                <a:pPr indent="0" marL="0">
                  <a:buNone/>
                </a:pPr>
                <a:r>
                  <a:rPr dirty="0" lang="en-US"/>
                  <a:t>The z-score is a standardized value that tells us how many standard deviations a data value is away from the mean, and in which direction. This only applies to bell-shaped distributions (symmetric and unimodal). The numerical value tells us the data value’s distance from the mean. The sign (positive/negative) tells us the data value’s direction.</a:t>
                </a:r>
              </a:p>
              <a:p>
                <a:pPr algn="ctr" indent="0" marL="0">
                  <a:buNone/>
                </a:pPr>
                <a14:m>
                  <m:oMath xmlns:m="http://schemas.openxmlformats.org/officeDocument/2006/math">
                    <m:r>
                      <a:rPr b="0" i="1" lang="en-US" smtClean="0">
                        <a:latin charset="0" panose="02040503050406030204" pitchFamily="18" typeface="Cambria Math"/>
                      </a:rPr>
                      <m:t>𝑧</m:t>
                    </m:r>
                    <m:r>
                      <a:rPr b="0" i="1" lang="en-US" smtClean="0">
                        <a:latin charset="0" panose="02040503050406030204" pitchFamily="18" typeface="Cambria Math"/>
                      </a:rPr>
                      <m:t>=</m:t>
                    </m:r>
                    <m:f>
                      <m:fPr>
                        <m:ctrlPr>
                          <a:rPr b="0" i="1" lang="en-US" smtClean="0">
                            <a:latin charset="0" panose="02040503050406030204" pitchFamily="18" typeface="Cambria Math"/>
                          </a:rPr>
                        </m:ctrlPr>
                      </m:fPr>
                      <m:num>
                        <m:r>
                          <a:rPr i="1" lang="en-US">
                            <a:latin charset="0" panose="02040503050406030204" pitchFamily="18" typeface="Cambria Math"/>
                          </a:rPr>
                          <m:t>𝑥</m:t>
                        </m:r>
                        <m:r>
                          <a:rPr i="1" lang="en-US">
                            <a:latin charset="0" panose="02040503050406030204" pitchFamily="18" typeface="Cambria Math"/>
                          </a:rPr>
                          <m:t>−</m:t>
                        </m:r>
                        <m:r>
                          <a:rPr i="1" lang="en-US">
                            <a:latin charset="0" panose="02040503050406030204" pitchFamily="18" typeface="Cambria Math"/>
                            <a:ea charset="0" panose="02040503050406030204" pitchFamily="18" typeface="Cambria Math"/>
                          </a:rPr>
                          <m:t>𝜇</m:t>
                        </m:r>
                      </m:num>
                      <m:den>
                        <m:r>
                          <a:rPr b="0" i="1" lang="en-US" smtClean="0">
                            <a:latin charset="0" panose="02040503050406030204" pitchFamily="18" typeface="Cambria Math"/>
                            <a:ea charset="0" panose="02040503050406030204" pitchFamily="18" typeface="Cambria Math"/>
                          </a:rPr>
                          <m:t>𝜎</m:t>
                        </m:r>
                      </m:den>
                    </m:f>
                  </m:oMath>
                </a14:m>
                <a:r>
                  <a:rPr dirty="0" lang="en-US"/>
                  <a:t>	                  </a:t>
                </a:r>
                <a14:m>
                  <m:oMath xmlns:m="http://schemas.openxmlformats.org/officeDocument/2006/math">
                    <m:r>
                      <a:rPr b="0" i="1" lang="en-US" smtClean="0">
                        <a:latin charset="0" panose="02040503050406030204" pitchFamily="18" typeface="Cambria Math"/>
                      </a:rPr>
                      <m:t>𝑥</m:t>
                    </m:r>
                    <m:r>
                      <a:rPr b="0" i="1" lang="en-US" smtClean="0">
                        <a:latin charset="0" panose="02040503050406030204" pitchFamily="18" typeface="Cambria Math"/>
                      </a:rPr>
                      <m:t>=</m:t>
                    </m:r>
                    <m:r>
                      <a:rPr b="0" i="1" lang="en-US" smtClean="0">
                        <a:latin charset="0" panose="02040503050406030204" pitchFamily="18" typeface="Cambria Math"/>
                      </a:rPr>
                      <m:t>𝑧</m:t>
                    </m:r>
                    <m:r>
                      <a:rPr b="0" i="1" lang="en-US" smtClean="0">
                        <a:latin charset="0" panose="02040503050406030204" pitchFamily="18" typeface="Cambria Math"/>
                        <a:ea charset="0" panose="02040503050406030204" pitchFamily="18" typeface="Cambria Math"/>
                      </a:rPr>
                      <m:t>𝜎</m:t>
                    </m:r>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𝜇</m:t>
                    </m:r>
                  </m:oMath>
                </a14:m>
                <a:endParaRPr dirty="0" lang="en-US"/>
              </a:p>
            </p:txBody>
          </p:sp>
        </mc:Choice>
        <mc:Fallback>
          <p:sp>
            <p:nvSpPr>
              <p:cNvPr id="3" name="Content Placeholder 2">
                <a:extLst>
                  <a:ext uri="{FF2B5EF4-FFF2-40B4-BE49-F238E27FC236}">
                    <a16:creationId xmlns:a16="http://schemas.microsoft.com/office/drawing/2014/main" id="{7F4B63F0-F4A7-CDD7-FCCF-EA8DF780EC6B}"/>
                  </a:ext>
                </a:extLst>
              </p:cNvPr>
              <p:cNvSpPr>
                <a:spLocks noAdjustHandles="1" noChangeArrowheads="1" noChangeAspect="1" noChangeShapeType="1" noEditPoints="1" noGrp="1" noMove="1" noResize="1" noRot="1" noTextEdit="1"/>
              </p:cNvSpPr>
              <p:nvPr>
                <p:ph idx="1"/>
              </p:nvPr>
            </p:nvSpPr>
            <p:spPr>
              <a:blipFill>
                <a:blip r:embed="rId2"/>
                <a:stretch>
                  <a:fillRect l="-1217" r="-1101"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5C8B8C83-DE3F-46EA-24F9-01B2BE5C9395}"/>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89950535-4CA3-7885-7948-74A589B1C0B5}"/>
              </a:ext>
            </a:extLst>
          </p:cNvPr>
          <p:cNvSpPr>
            <a:spLocks noGrp="1"/>
          </p:cNvSpPr>
          <p:nvPr>
            <p:ph idx="12" sz="quarter" type="sldNum"/>
          </p:nvPr>
        </p:nvSpPr>
        <p:spPr/>
        <p:txBody>
          <a:bodyPr/>
          <a:lstStyle/>
          <a:p>
            <a:fld id="{330EA680-D336-4FF7-8B7A-9848BB0A1C32}" type="slidenum">
              <a:rPr lang="en-US" smtClean="0">
                <a:solidFill>
                  <a:srgbClr val="404040"/>
                </a:solidFill>
              </a:rPr>
              <a:t>31</a:t>
            </a:fld>
            <a:endParaRPr lang="en-US"/>
          </a:p>
        </p:txBody>
      </p:sp>
    </p:spTree>
    <p:extLst>
      <p:ext uri="{BB962C8B-B14F-4D97-AF65-F5344CB8AC3E}">
        <p14:creationId xmlns:p14="http://schemas.microsoft.com/office/powerpoint/2010/main" val="2798542765"/>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2F218-79D4-D1C1-6C61-72F7242D429C}"/>
              </a:ext>
            </a:extLst>
          </p:cNvPr>
          <p:cNvSpPr>
            <a:spLocks noGrp="1"/>
          </p:cNvSpPr>
          <p:nvPr>
            <p:ph type="title"/>
          </p:nvPr>
        </p:nvSpPr>
        <p:spPr/>
        <p:txBody>
          <a:bodyPr/>
          <a:lstStyle/>
          <a:p>
            <a:r>
              <a:rPr dirty="0" lang="en-US"/>
              <a:t>Heights Example</a:t>
            </a:r>
          </a:p>
        </p:txBody>
      </p:sp>
      <p:sp>
        <p:nvSpPr>
          <p:cNvPr id="3" name="Content Placeholder 2">
            <a:extLst>
              <a:ext uri="{FF2B5EF4-FFF2-40B4-BE49-F238E27FC236}">
                <a16:creationId xmlns:a16="http://schemas.microsoft.com/office/drawing/2014/main" id="{CAB7A2B8-920E-B230-AE9C-77C1B29CFA75}"/>
              </a:ext>
            </a:extLst>
          </p:cNvPr>
          <p:cNvSpPr>
            <a:spLocks noGrp="1"/>
          </p:cNvSpPr>
          <p:nvPr>
            <p:ph idx="1"/>
          </p:nvPr>
        </p:nvSpPr>
        <p:spPr/>
        <p:txBody>
          <a:bodyPr>
            <a:normAutofit fontScale="92500" lnSpcReduction="10000"/>
          </a:bodyPr>
          <a:lstStyle/>
          <a:p>
            <a:pPr indent="0" marL="0">
              <a:buNone/>
            </a:pPr>
            <a:r>
              <a:rPr dirty="0" lang="en-US"/>
              <a:t>Adult men in the U.S. have a mean height of 69.4 inches with a standard deviation of 3.1 inches. Adult women in the U.S. have a mean height of 63.8 inches with a standard deviation of 2.8 inches. Both population distributions follow a bell-curve. </a:t>
            </a:r>
          </a:p>
          <a:p>
            <a:pPr indent="-514350" marL="514350">
              <a:buFont typeface="+mj-lt"/>
              <a:buAutoNum type="arabicPeriod"/>
            </a:pPr>
            <a:r>
              <a:rPr dirty="0" lang="en-US"/>
              <a:t>What is the z-score for a man who is 67 inches tall? </a:t>
            </a:r>
          </a:p>
          <a:p>
            <a:pPr indent="-514350" marL="514350">
              <a:buFont typeface="+mj-lt"/>
              <a:buAutoNum type="arabicPeriod"/>
            </a:pPr>
            <a:r>
              <a:rPr dirty="0" lang="en-US"/>
              <a:t>What is the z-score for a woman who is 67 inches tall? </a:t>
            </a:r>
          </a:p>
          <a:p>
            <a:pPr indent="-514350" marL="514350">
              <a:buFont typeface="+mj-lt"/>
              <a:buAutoNum type="arabicPeriod"/>
            </a:pPr>
            <a:r>
              <a:rPr dirty="0" lang="en-US"/>
              <a:t>Who is taller relative to their population – the man or the woman? </a:t>
            </a:r>
          </a:p>
          <a:p>
            <a:pPr indent="-514350" marL="514350">
              <a:buFont typeface="+mj-lt"/>
              <a:buAutoNum type="arabicPeriod"/>
            </a:pPr>
            <a:r>
              <a:rPr dirty="0" lang="en-US"/>
              <a:t>How tall is a woman whose z-score is -2.6? </a:t>
            </a:r>
          </a:p>
          <a:p>
            <a:pPr indent="-514350" marL="514350">
              <a:buFont typeface="+mj-lt"/>
              <a:buAutoNum type="arabicPeriod"/>
            </a:pPr>
            <a:r>
              <a:rPr dirty="0" lang="en-US"/>
              <a:t>How tall is a man whose z-score is 0.55? </a:t>
            </a:r>
          </a:p>
          <a:p>
            <a:pPr indent="-514350" marL="514350">
              <a:buFont typeface="+mj-lt"/>
              <a:buAutoNum type="arabicPeriod"/>
            </a:pPr>
            <a:r>
              <a:rPr dirty="0" lang="en-US"/>
              <a:t>What is the z-score for your height?</a:t>
            </a:r>
          </a:p>
        </p:txBody>
      </p:sp>
      <p:sp>
        <p:nvSpPr>
          <p:cNvPr id="4" name="Footer Placeholder 3">
            <a:extLst>
              <a:ext uri="{FF2B5EF4-FFF2-40B4-BE49-F238E27FC236}">
                <a16:creationId xmlns:a16="http://schemas.microsoft.com/office/drawing/2014/main" id="{35C00AD4-B78D-FF24-2F81-41D75F042952}"/>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C1A62F01-ECD4-7C11-D386-BED8DB01DAA5}"/>
              </a:ext>
            </a:extLst>
          </p:cNvPr>
          <p:cNvSpPr>
            <a:spLocks noGrp="1"/>
          </p:cNvSpPr>
          <p:nvPr>
            <p:ph idx="12" sz="quarter" type="sldNum"/>
          </p:nvPr>
        </p:nvSpPr>
        <p:spPr/>
        <p:txBody>
          <a:bodyPr/>
          <a:lstStyle/>
          <a:p>
            <a:fld id="{330EA680-D336-4FF7-8B7A-9848BB0A1C32}" type="slidenum">
              <a:rPr lang="en-US" smtClean="0">
                <a:solidFill>
                  <a:srgbClr val="404040"/>
                </a:solidFill>
              </a:rPr>
              <a:t>32</a:t>
            </a:fld>
            <a:endParaRPr lang="en-US"/>
          </a:p>
        </p:txBody>
      </p:sp>
    </p:spTree>
    <p:extLst>
      <p:ext uri="{BB962C8B-B14F-4D97-AF65-F5344CB8AC3E}">
        <p14:creationId xmlns:p14="http://schemas.microsoft.com/office/powerpoint/2010/main" val="406757525"/>
      </p:ext>
    </p:extLst>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B3F5A-83E3-D0A2-39A5-9EDE80AD073C}"/>
              </a:ext>
            </a:extLst>
          </p:cNvPr>
          <p:cNvSpPr>
            <a:spLocks noGrp="1"/>
          </p:cNvSpPr>
          <p:nvPr>
            <p:ph type="title"/>
          </p:nvPr>
        </p:nvSpPr>
        <p:spPr/>
        <p:txBody>
          <a:bodyPr/>
          <a:lstStyle/>
          <a:p>
            <a:r>
              <a:rPr dirty="0" lang="en-US"/>
              <a:t>Z-Scores and the Empirical Rule </a:t>
            </a:r>
          </a:p>
        </p:txBody>
      </p:sp>
      <p:sp>
        <p:nvSpPr>
          <p:cNvPr id="3" name="Content Placeholder 2">
            <a:extLst>
              <a:ext uri="{FF2B5EF4-FFF2-40B4-BE49-F238E27FC236}">
                <a16:creationId xmlns:a16="http://schemas.microsoft.com/office/drawing/2014/main" id="{28EC3D1A-69DC-FA5E-A67F-A44B6BC6039D}"/>
              </a:ext>
            </a:extLst>
          </p:cNvPr>
          <p:cNvSpPr>
            <a:spLocks noGrp="1"/>
          </p:cNvSpPr>
          <p:nvPr>
            <p:ph idx="1"/>
          </p:nvPr>
        </p:nvSpPr>
        <p:spPr/>
        <p:txBody>
          <a:bodyPr>
            <a:normAutofit fontScale="85000" lnSpcReduction="10000"/>
          </a:bodyPr>
          <a:lstStyle/>
          <a:p>
            <a:pPr indent="0" marL="0">
              <a:buNone/>
            </a:pPr>
            <a:r>
              <a:rPr dirty="0" lang="en-US"/>
              <a:t>For bell-shaped distributions, </a:t>
            </a:r>
          </a:p>
          <a:p>
            <a:r>
              <a:rPr dirty="0" lang="en-US"/>
              <a:t>Approximately 68% of the data values will have a z-score between -1 and 1. </a:t>
            </a:r>
          </a:p>
          <a:p>
            <a:r>
              <a:rPr dirty="0" lang="en-US"/>
              <a:t>Approximately 95% of the data values will have a z-score between -2 and 2. </a:t>
            </a:r>
          </a:p>
          <a:p>
            <a:r>
              <a:rPr dirty="0" lang="en-US"/>
              <a:t>Approximately 99.7% of the data values will have a z-score between -3 and 3. </a:t>
            </a:r>
          </a:p>
          <a:p>
            <a:pPr indent="0" marL="0">
              <a:buNone/>
            </a:pPr>
            <a:endParaRPr dirty="0" lang="en-US"/>
          </a:p>
          <a:p>
            <a:pPr indent="0" marL="0">
              <a:buNone/>
            </a:pPr>
            <a:r>
              <a:rPr dirty="0" lang="en-US"/>
              <a:t>The distribution of z-scores has a mean of 0 and a standard deviation of 1. A great benefit of z-scores is that they help us compare data values from different populations, hence the standardized value. Standardization allows for comparisons to be fair, so we’re not comparing apples to oranges.</a:t>
            </a:r>
          </a:p>
        </p:txBody>
      </p:sp>
      <p:sp>
        <p:nvSpPr>
          <p:cNvPr id="4" name="Footer Placeholder 3">
            <a:extLst>
              <a:ext uri="{FF2B5EF4-FFF2-40B4-BE49-F238E27FC236}">
                <a16:creationId xmlns:a16="http://schemas.microsoft.com/office/drawing/2014/main" id="{09CA44D9-58B2-5A81-A565-C524ED9602DF}"/>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6B7FBF1C-6589-1A8C-D07A-62E6CF38562B}"/>
              </a:ext>
            </a:extLst>
          </p:cNvPr>
          <p:cNvSpPr>
            <a:spLocks noGrp="1"/>
          </p:cNvSpPr>
          <p:nvPr>
            <p:ph idx="12" sz="quarter" type="sldNum"/>
          </p:nvPr>
        </p:nvSpPr>
        <p:spPr/>
        <p:txBody>
          <a:bodyPr/>
          <a:lstStyle/>
          <a:p>
            <a:fld id="{330EA680-D336-4FF7-8B7A-9848BB0A1C32}" type="slidenum">
              <a:rPr lang="en-US" smtClean="0">
                <a:solidFill>
                  <a:srgbClr val="404040"/>
                </a:solidFill>
              </a:rPr>
              <a:t>33</a:t>
            </a:fld>
            <a:endParaRPr lang="en-US"/>
          </a:p>
        </p:txBody>
      </p:sp>
    </p:spTree>
    <p:extLst>
      <p:ext uri="{BB962C8B-B14F-4D97-AF65-F5344CB8AC3E}">
        <p14:creationId xmlns:p14="http://schemas.microsoft.com/office/powerpoint/2010/main" val="357997494"/>
      </p:ext>
    </p:extLst>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BF4A1-E48A-CED4-D4A2-7A7D19A0CBBC}"/>
              </a:ext>
            </a:extLst>
          </p:cNvPr>
          <p:cNvSpPr>
            <a:spLocks noGrp="1"/>
          </p:cNvSpPr>
          <p:nvPr>
            <p:ph type="title"/>
          </p:nvPr>
        </p:nvSpPr>
        <p:spPr>
          <a:xfrm>
            <a:off x="453189" y="597736"/>
            <a:ext cx="3124200" cy="3878011"/>
          </a:xfrm>
        </p:spPr>
        <p:txBody>
          <a:bodyPr>
            <a:normAutofit/>
          </a:bodyPr>
          <a:lstStyle/>
          <a:p>
            <a:r>
              <a:rPr dirty="0" lang="en-US"/>
              <a:t>Standard </a:t>
            </a:r>
            <a:br>
              <a:rPr dirty="0" lang="en-US"/>
            </a:br>
            <a:r>
              <a:rPr dirty="0" lang="en-US"/>
              <a:t>Normal </a:t>
            </a:r>
            <a:br>
              <a:rPr dirty="0" lang="en-US"/>
            </a:br>
            <a:r>
              <a:rPr dirty="0" lang="en-US"/>
              <a:t>Curve</a:t>
            </a:r>
          </a:p>
        </p:txBody>
      </p:sp>
      <p:pic>
        <p:nvPicPr>
          <p:cNvPr descr="Standard Normal Curve " id="7" name="Content Placeholder 6">
            <a:extLst>
              <a:ext uri="{FF2B5EF4-FFF2-40B4-BE49-F238E27FC236}">
                <a16:creationId xmlns:a16="http://schemas.microsoft.com/office/drawing/2014/main" id="{2600E7F9-90E9-121A-7E08-B1913223FE87}"/>
              </a:ext>
            </a:extLst>
          </p:cNvPr>
          <p:cNvPicPr>
            <a:picLocks noChangeAspect="1" noGrp="1"/>
          </p:cNvPicPr>
          <p:nvPr>
            <p:ph idx="1"/>
          </p:nvPr>
        </p:nvPicPr>
        <p:blipFill>
          <a:blip r:embed="rId2"/>
          <a:stretch>
            <a:fillRect/>
          </a:stretch>
        </p:blipFill>
        <p:spPr>
          <a:xfrm>
            <a:off x="3749349" y="365125"/>
            <a:ext cx="7802672" cy="5952374"/>
          </a:xfrm>
          <a:prstGeom prst="rect">
            <a:avLst/>
          </a:prstGeom>
        </p:spPr>
      </p:pic>
      <p:sp>
        <p:nvSpPr>
          <p:cNvPr id="4" name="Footer Placeholder 3">
            <a:extLst>
              <a:ext uri="{FF2B5EF4-FFF2-40B4-BE49-F238E27FC236}">
                <a16:creationId xmlns:a16="http://schemas.microsoft.com/office/drawing/2014/main" id="{3172E7FD-2F07-11D3-619D-577DE1F4FC34}"/>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22A073D7-46EE-0112-2EBA-90B0019CA87B}"/>
              </a:ext>
            </a:extLst>
          </p:cNvPr>
          <p:cNvSpPr>
            <a:spLocks noGrp="1"/>
          </p:cNvSpPr>
          <p:nvPr>
            <p:ph idx="12" sz="quarter" type="sldNum"/>
          </p:nvPr>
        </p:nvSpPr>
        <p:spPr/>
        <p:txBody>
          <a:bodyPr/>
          <a:lstStyle/>
          <a:p>
            <a:fld id="{330EA680-D336-4FF7-8B7A-9848BB0A1C32}" type="slidenum">
              <a:rPr lang="en-US" smtClean="0">
                <a:solidFill>
                  <a:srgbClr val="404040"/>
                </a:solidFill>
              </a:rPr>
              <a:t>34</a:t>
            </a:fld>
            <a:endParaRPr lang="en-US"/>
          </a:p>
        </p:txBody>
      </p:sp>
    </p:spTree>
    <p:extLst>
      <p:ext uri="{BB962C8B-B14F-4D97-AF65-F5344CB8AC3E}">
        <p14:creationId xmlns:p14="http://schemas.microsoft.com/office/powerpoint/2010/main" val="3061113347"/>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3375-F906-22B3-56AE-53CDA00E8BDA}"/>
              </a:ext>
            </a:extLst>
          </p:cNvPr>
          <p:cNvSpPr>
            <a:spLocks noGrp="1"/>
          </p:cNvSpPr>
          <p:nvPr>
            <p:ph type="title"/>
          </p:nvPr>
        </p:nvSpPr>
        <p:spPr/>
        <p:txBody>
          <a:bodyPr/>
          <a:lstStyle/>
          <a:p>
            <a:r>
              <a:rPr dirty="0" lang="en-US"/>
              <a:t>More Practice </a:t>
            </a:r>
          </a:p>
        </p:txBody>
      </p:sp>
      <p:sp>
        <p:nvSpPr>
          <p:cNvPr id="3" name="Content Placeholder 2">
            <a:extLst>
              <a:ext uri="{FF2B5EF4-FFF2-40B4-BE49-F238E27FC236}">
                <a16:creationId xmlns:a16="http://schemas.microsoft.com/office/drawing/2014/main" id="{E336B6FF-3179-9783-7BD0-EF8CAF938123}"/>
              </a:ext>
            </a:extLst>
          </p:cNvPr>
          <p:cNvSpPr>
            <a:spLocks noGrp="1"/>
          </p:cNvSpPr>
          <p:nvPr>
            <p:ph idx="1"/>
          </p:nvPr>
        </p:nvSpPr>
        <p:spPr/>
        <p:txBody>
          <a:bodyPr>
            <a:normAutofit fontScale="92500"/>
          </a:bodyPr>
          <a:lstStyle/>
          <a:p>
            <a:pPr indent="0" marL="0">
              <a:buNone/>
            </a:pPr>
            <a:r>
              <a:rPr dirty="0" lang="en-US"/>
              <a:t>Label the Standard Normal Distribution with percentages. </a:t>
            </a:r>
          </a:p>
          <a:p>
            <a:pPr indent="-514350" marL="514350">
              <a:buFont typeface="+mj-lt"/>
              <a:buAutoNum type="arabicPeriod"/>
            </a:pPr>
            <a:r>
              <a:rPr dirty="0" lang="en-US"/>
              <a:t>Logan is 63 inches tall. Convert his height to a z-score and plot it. </a:t>
            </a:r>
          </a:p>
          <a:p>
            <a:pPr indent="-514350" marL="514350">
              <a:buFont typeface="+mj-lt"/>
              <a:buAutoNum type="arabicPeriod"/>
            </a:pPr>
            <a:r>
              <a:rPr dirty="0" lang="en-US"/>
              <a:t>Erik is 72 inches tall. Convert his height to a z-score and plot it. </a:t>
            </a:r>
          </a:p>
          <a:p>
            <a:pPr indent="-514350" marL="514350">
              <a:buFont typeface="+mj-lt"/>
              <a:buAutoNum type="arabicPeriod"/>
            </a:pPr>
            <a:r>
              <a:rPr dirty="0" lang="en-US"/>
              <a:t>Whose height is more extreme? (What does “extreme” mean?)</a:t>
            </a:r>
          </a:p>
          <a:p>
            <a:pPr indent="-514350" marL="514350">
              <a:buFont typeface="+mj-lt"/>
              <a:buAutoNum type="arabicPeriod"/>
            </a:pPr>
            <a:r>
              <a:rPr dirty="0" lang="en-US"/>
              <a:t>Kitty’s height has a z-score of 0.786. How tall is she? </a:t>
            </a:r>
          </a:p>
          <a:p>
            <a:pPr indent="-514350" marL="514350">
              <a:buFont typeface="+mj-lt"/>
              <a:buAutoNum type="arabicPeriod"/>
            </a:pPr>
            <a:r>
              <a:rPr dirty="0" lang="en-US"/>
              <a:t>Mile’s height has a z-score of -0.452. How tall is he? </a:t>
            </a:r>
          </a:p>
          <a:p>
            <a:pPr indent="-514350" marL="514350">
              <a:buFont typeface="+mj-lt"/>
              <a:buAutoNum type="arabicPeriod"/>
            </a:pPr>
            <a:r>
              <a:rPr dirty="0" lang="en-US"/>
              <a:t>Between Kitty and Miles, whose height is less extreme according to their population distribution? </a:t>
            </a:r>
          </a:p>
          <a:p>
            <a:pPr indent="-514350" marL="514350">
              <a:buFont typeface="+mj-lt"/>
              <a:buAutoNum type="arabicPeriod"/>
            </a:pPr>
            <a:r>
              <a:rPr dirty="0" lang="en-US"/>
              <a:t>What does a z-score of 0 mean?</a:t>
            </a:r>
          </a:p>
        </p:txBody>
      </p:sp>
      <p:sp>
        <p:nvSpPr>
          <p:cNvPr id="4" name="Footer Placeholder 3">
            <a:extLst>
              <a:ext uri="{FF2B5EF4-FFF2-40B4-BE49-F238E27FC236}">
                <a16:creationId xmlns:a16="http://schemas.microsoft.com/office/drawing/2014/main" id="{180E689E-4BFA-2494-B3AE-EC92E1C99EA1}"/>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60F08DFA-1855-810A-B004-E6AD1DD7A5E1}"/>
              </a:ext>
            </a:extLst>
          </p:cNvPr>
          <p:cNvSpPr>
            <a:spLocks noGrp="1"/>
          </p:cNvSpPr>
          <p:nvPr>
            <p:ph idx="12" sz="quarter" type="sldNum"/>
          </p:nvPr>
        </p:nvSpPr>
        <p:spPr/>
        <p:txBody>
          <a:bodyPr/>
          <a:lstStyle/>
          <a:p>
            <a:fld id="{330EA680-D336-4FF7-8B7A-9848BB0A1C32}" type="slidenum">
              <a:rPr lang="en-US" smtClean="0">
                <a:solidFill>
                  <a:srgbClr val="404040"/>
                </a:solidFill>
              </a:rPr>
              <a:t>35</a:t>
            </a:fld>
            <a:endParaRPr lang="en-US"/>
          </a:p>
        </p:txBody>
      </p:sp>
    </p:spTree>
    <p:extLst>
      <p:ext uri="{BB962C8B-B14F-4D97-AF65-F5344CB8AC3E}">
        <p14:creationId xmlns:p14="http://schemas.microsoft.com/office/powerpoint/2010/main" val="1918931030"/>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F2189-F17B-E2C3-A169-634FF56FE3F4}"/>
              </a:ext>
            </a:extLst>
          </p:cNvPr>
          <p:cNvSpPr>
            <a:spLocks noGrp="1"/>
          </p:cNvSpPr>
          <p:nvPr>
            <p:ph type="title"/>
          </p:nvPr>
        </p:nvSpPr>
        <p:spPr/>
        <p:txBody>
          <a:bodyPr/>
          <a:lstStyle/>
          <a:p>
            <a:r>
              <a:rPr dirty="0" lang="en-US"/>
              <a:t>Measures of Position </a:t>
            </a:r>
          </a:p>
        </p:txBody>
      </p:sp>
      <p:sp>
        <p:nvSpPr>
          <p:cNvPr id="3" name="Content Placeholder 2">
            <a:extLst>
              <a:ext uri="{FF2B5EF4-FFF2-40B4-BE49-F238E27FC236}">
                <a16:creationId xmlns:a16="http://schemas.microsoft.com/office/drawing/2014/main" id="{6D52C3FE-6614-E263-D630-F4A7828806D2}"/>
              </a:ext>
            </a:extLst>
          </p:cNvPr>
          <p:cNvSpPr>
            <a:spLocks noGrp="1"/>
          </p:cNvSpPr>
          <p:nvPr>
            <p:ph idx="1"/>
          </p:nvPr>
        </p:nvSpPr>
        <p:spPr/>
        <p:txBody>
          <a:bodyPr/>
          <a:lstStyle/>
          <a:p>
            <a:pPr indent="0" marL="0">
              <a:buNone/>
            </a:pPr>
            <a:r>
              <a:rPr dirty="0" lang="en-US"/>
              <a:t>Measures of position tell us the relative location of specific data values. </a:t>
            </a:r>
          </a:p>
        </p:txBody>
      </p:sp>
      <p:sp>
        <p:nvSpPr>
          <p:cNvPr id="4" name="Footer Placeholder 3">
            <a:extLst>
              <a:ext uri="{FF2B5EF4-FFF2-40B4-BE49-F238E27FC236}">
                <a16:creationId xmlns:a16="http://schemas.microsoft.com/office/drawing/2014/main" id="{E4AEB1AA-D477-024F-13FC-405913F7B736}"/>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7B426F77-75D3-6A0F-5C83-234ADE222EC1}"/>
              </a:ext>
            </a:extLst>
          </p:cNvPr>
          <p:cNvSpPr>
            <a:spLocks noGrp="1"/>
          </p:cNvSpPr>
          <p:nvPr>
            <p:ph idx="12" sz="quarter" type="sldNum"/>
          </p:nvPr>
        </p:nvSpPr>
        <p:spPr/>
        <p:txBody>
          <a:bodyPr/>
          <a:lstStyle/>
          <a:p>
            <a:fld id="{330EA680-D336-4FF7-8B7A-9848BB0A1C32}" type="slidenum">
              <a:rPr lang="en-US" smtClean="0">
                <a:solidFill>
                  <a:srgbClr val="404040"/>
                </a:solidFill>
              </a:rPr>
              <a:t>36</a:t>
            </a:fld>
            <a:endParaRPr lang="en-US"/>
          </a:p>
        </p:txBody>
      </p:sp>
    </p:spTree>
    <p:extLst>
      <p:ext uri="{BB962C8B-B14F-4D97-AF65-F5344CB8AC3E}">
        <p14:creationId xmlns:p14="http://schemas.microsoft.com/office/powerpoint/2010/main" val="298472680"/>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1928F-F255-E1EF-2B89-DEA0CB037D75}"/>
              </a:ext>
            </a:extLst>
          </p:cNvPr>
          <p:cNvSpPr>
            <a:spLocks noGrp="1"/>
          </p:cNvSpPr>
          <p:nvPr>
            <p:ph type="title"/>
          </p:nvPr>
        </p:nvSpPr>
        <p:spPr>
          <a:xfrm>
            <a:off x="195996" y="136525"/>
            <a:ext cx="10515600" cy="1325563"/>
          </a:xfrm>
        </p:spPr>
        <p:txBody>
          <a:bodyPr/>
          <a:lstStyle/>
          <a:p>
            <a:r>
              <a:rPr dirty="0" lang="en-US"/>
              <a:t>Quartiles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87E933B9-1D00-0F88-EC83-B4BAB57B6736}"/>
                  </a:ext>
                </a:extLst>
              </p:cNvPr>
              <p:cNvSpPr>
                <a:spLocks noGrp="1"/>
              </p:cNvSpPr>
              <p:nvPr>
                <p:ph idx="1"/>
              </p:nvPr>
            </p:nvSpPr>
            <p:spPr>
              <a:xfrm>
                <a:off x="358264" y="1393267"/>
                <a:ext cx="11637740" cy="5031904"/>
              </a:xfrm>
            </p:spPr>
            <p:txBody>
              <a:bodyPr>
                <a:normAutofit/>
              </a:bodyPr>
              <a:lstStyle/>
              <a:p>
                <a:pPr indent="0" marL="0">
                  <a:buNone/>
                </a:pPr>
                <a:r>
                  <a:rPr dirty="0" lang="en-US" sz="2400"/>
                  <a:t>We can divide a data set into four equal parts. </a:t>
                </a:r>
              </a:p>
              <a:p>
                <a:r>
                  <a:rPr dirty="0" lang="en-US" sz="2400"/>
                  <a:t>The first quartile </a:t>
                </a:r>
                <a14:m>
                  <m:oMath xmlns:m="http://schemas.openxmlformats.org/officeDocument/2006/math">
                    <m:sSub>
                      <m:sSubPr>
                        <m:ctrlPr>
                          <a:rPr i="1" lang="en-US" smtClean="0" sz="2400">
                            <a:latin charset="0" panose="02040503050406030204" pitchFamily="18" typeface="Cambria Math"/>
                          </a:rPr>
                        </m:ctrlPr>
                      </m:sSubPr>
                      <m:e>
                        <m:r>
                          <a:rPr b="0" i="1" lang="en-US" smtClean="0" sz="2400">
                            <a:latin charset="0" panose="02040503050406030204" pitchFamily="18" typeface="Cambria Math"/>
                          </a:rPr>
                          <m:t>𝑄</m:t>
                        </m:r>
                      </m:e>
                      <m:sub>
                        <m:r>
                          <a:rPr b="0" i="1" lang="en-US" smtClean="0" sz="2400">
                            <a:latin charset="0" panose="02040503050406030204" pitchFamily="18" typeface="Cambria Math"/>
                          </a:rPr>
                          <m:t>1</m:t>
                        </m:r>
                      </m:sub>
                    </m:sSub>
                  </m:oMath>
                </a14:m>
                <a:r>
                  <a:rPr dirty="0" lang="en-US" sz="2400"/>
                  <a:t> separates the lowest 25% from the highest 75% of data values. </a:t>
                </a:r>
              </a:p>
              <a:p>
                <a:r>
                  <a:rPr dirty="0" lang="en-US" sz="2400"/>
                  <a:t>The second quartile </a:t>
                </a:r>
                <a14:m>
                  <m:oMath xmlns:m="http://schemas.openxmlformats.org/officeDocument/2006/math">
                    <m:sSub>
                      <m:sSubPr>
                        <m:ctrlPr>
                          <a:rPr i="1" lang="en-US" sz="2400">
                            <a:latin charset="0" panose="02040503050406030204" pitchFamily="18" typeface="Cambria Math"/>
                          </a:rPr>
                        </m:ctrlPr>
                      </m:sSubPr>
                      <m:e>
                        <m:r>
                          <a:rPr i="1" lang="en-US" sz="2400">
                            <a:latin charset="0" panose="02040503050406030204" pitchFamily="18" typeface="Cambria Math"/>
                          </a:rPr>
                          <m:t>𝑄</m:t>
                        </m:r>
                      </m:e>
                      <m:sub>
                        <m:r>
                          <a:rPr b="0" i="1" lang="en-US" smtClean="0" sz="2400">
                            <a:latin charset="0" panose="02040503050406030204" pitchFamily="18" typeface="Cambria Math"/>
                          </a:rPr>
                          <m:t>2</m:t>
                        </m:r>
                      </m:sub>
                    </m:sSub>
                    <m:r>
                      <a:rPr i="1" lang="en-US" sz="2400">
                        <a:latin charset="0" panose="02040503050406030204" pitchFamily="18" typeface="Cambria Math"/>
                      </a:rPr>
                      <m:t> </m:t>
                    </m:r>
                  </m:oMath>
                </a14:m>
                <a:r>
                  <a:rPr dirty="0" lang="en-US" sz="2400"/>
                  <a:t>is the median and cuts that data set in half. </a:t>
                </a:r>
              </a:p>
              <a:p>
                <a:r>
                  <a:rPr dirty="0" lang="en-US" sz="2400"/>
                  <a:t>The third quartile </a:t>
                </a:r>
                <a14:m>
                  <m:oMath xmlns:m="http://schemas.openxmlformats.org/officeDocument/2006/math">
                    <m:sSub>
                      <m:sSubPr>
                        <m:ctrlPr>
                          <a:rPr i="1" lang="en-US" sz="2400">
                            <a:latin charset="0" panose="02040503050406030204" pitchFamily="18" typeface="Cambria Math"/>
                          </a:rPr>
                        </m:ctrlPr>
                      </m:sSubPr>
                      <m:e>
                        <m:r>
                          <a:rPr i="1" lang="en-US" sz="2400">
                            <a:latin charset="0" panose="02040503050406030204" pitchFamily="18" typeface="Cambria Math"/>
                          </a:rPr>
                          <m:t>𝑄</m:t>
                        </m:r>
                      </m:e>
                      <m:sub>
                        <m:r>
                          <a:rPr b="0" i="1" lang="en-US" smtClean="0" sz="2400">
                            <a:latin charset="0" panose="02040503050406030204" pitchFamily="18" typeface="Cambria Math"/>
                          </a:rPr>
                          <m:t>3</m:t>
                        </m:r>
                      </m:sub>
                    </m:sSub>
                    <m:r>
                      <a:rPr i="1" lang="en-US" sz="2400">
                        <a:latin charset="0" panose="02040503050406030204" pitchFamily="18" typeface="Cambria Math"/>
                      </a:rPr>
                      <m:t> </m:t>
                    </m:r>
                  </m:oMath>
                </a14:m>
                <a:r>
                  <a:rPr dirty="0" lang="en-US" sz="2400"/>
                  <a:t>separates the lowest 75% from the highest 25% of data values. </a:t>
                </a:r>
              </a:p>
              <a:p>
                <a:endParaRPr dirty="0" lang="en-US" sz="2400"/>
              </a:p>
            </p:txBody>
          </p:sp>
        </mc:Choice>
        <mc:Fallback>
          <p:sp>
            <p:nvSpPr>
              <p:cNvPr id="3" name="Content Placeholder 2">
                <a:extLst>
                  <a:ext uri="{FF2B5EF4-FFF2-40B4-BE49-F238E27FC236}">
                    <a16:creationId xmlns:a16="http://schemas.microsoft.com/office/drawing/2014/main" id="{87E933B9-1D00-0F88-EC83-B4BAB57B6736}"/>
                  </a:ext>
                </a:extLst>
              </p:cNvPr>
              <p:cNvSpPr>
                <a:spLocks noAdjustHandles="1" noChangeArrowheads="1" noChangeAspect="1" noChangeShapeType="1" noEditPoints="1" noGrp="1" noMove="1" noResize="1" noRot="1" noTextEdit="1"/>
              </p:cNvSpPr>
              <p:nvPr>
                <p:ph idx="1"/>
              </p:nvPr>
            </p:nvSpPr>
            <p:spPr>
              <a:xfrm>
                <a:off x="358264" y="1393267"/>
                <a:ext cx="11637740" cy="5031904"/>
              </a:xfrm>
              <a:blipFill>
                <a:blip r:embed="rId2"/>
                <a:stretch>
                  <a:fillRect l="-838" t="-157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1444B4D7-C48C-0E17-CAD2-291064E72127}"/>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42381CF4-89E8-97EC-2FBF-078B583CDFAA}"/>
              </a:ext>
            </a:extLst>
          </p:cNvPr>
          <p:cNvSpPr>
            <a:spLocks noGrp="1"/>
          </p:cNvSpPr>
          <p:nvPr>
            <p:ph idx="12" sz="quarter" type="sldNum"/>
          </p:nvPr>
        </p:nvSpPr>
        <p:spPr/>
        <p:txBody>
          <a:bodyPr/>
          <a:lstStyle/>
          <a:p>
            <a:fld id="{330EA680-D336-4FF7-8B7A-9848BB0A1C32}" type="slidenum">
              <a:rPr lang="en-US" smtClean="0">
                <a:solidFill>
                  <a:srgbClr val="404040"/>
                </a:solidFill>
              </a:rPr>
              <a:t>37</a:t>
            </a:fld>
            <a:endParaRPr lang="en-US"/>
          </a:p>
        </p:txBody>
      </p:sp>
      <p:pic>
        <p:nvPicPr>
          <p:cNvPr descr="Quartiles 1, 2, 3 " id="7" name="Picture 6">
            <a:extLst>
              <a:ext uri="{FF2B5EF4-FFF2-40B4-BE49-F238E27FC236}">
                <a16:creationId xmlns:a16="http://schemas.microsoft.com/office/drawing/2014/main" id="{6DDFA534-12E4-075C-6990-BA06A8676B9D}"/>
              </a:ext>
            </a:extLst>
          </p:cNvPr>
          <p:cNvPicPr>
            <a:picLocks noChangeAspect="1"/>
          </p:cNvPicPr>
          <p:nvPr/>
        </p:nvPicPr>
        <p:blipFill>
          <a:blip r:embed="rId3"/>
          <a:stretch>
            <a:fillRect/>
          </a:stretch>
        </p:blipFill>
        <p:spPr>
          <a:xfrm>
            <a:off x="1359244" y="3589063"/>
            <a:ext cx="9352352" cy="2722837"/>
          </a:xfrm>
          <a:prstGeom prst="rect">
            <a:avLst/>
          </a:prstGeom>
        </p:spPr>
      </p:pic>
    </p:spTree>
    <p:extLst>
      <p:ext uri="{BB962C8B-B14F-4D97-AF65-F5344CB8AC3E}">
        <p14:creationId xmlns:p14="http://schemas.microsoft.com/office/powerpoint/2010/main" val="4022877063"/>
      </p:ext>
    </p:extLst>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76708-2CD3-D8F5-4FCA-EA2E4B892ADD}"/>
              </a:ext>
            </a:extLst>
          </p:cNvPr>
          <p:cNvSpPr>
            <a:spLocks noGrp="1"/>
          </p:cNvSpPr>
          <p:nvPr>
            <p:ph type="title"/>
          </p:nvPr>
        </p:nvSpPr>
        <p:spPr/>
        <p:txBody>
          <a:bodyPr/>
          <a:lstStyle/>
          <a:p>
            <a:r>
              <a:rPr dirty="0" lang="en-US"/>
              <a:t>Percentiles </a:t>
            </a:r>
          </a:p>
        </p:txBody>
      </p:sp>
      <p:sp>
        <p:nvSpPr>
          <p:cNvPr id="3" name="Content Placeholder 2">
            <a:extLst>
              <a:ext uri="{FF2B5EF4-FFF2-40B4-BE49-F238E27FC236}">
                <a16:creationId xmlns:a16="http://schemas.microsoft.com/office/drawing/2014/main" id="{5799B8C6-A36F-6E9F-C857-DCDFD8499969}"/>
              </a:ext>
            </a:extLst>
          </p:cNvPr>
          <p:cNvSpPr>
            <a:spLocks noGrp="1"/>
          </p:cNvSpPr>
          <p:nvPr>
            <p:ph idx="1"/>
          </p:nvPr>
        </p:nvSpPr>
        <p:spPr>
          <a:xfrm>
            <a:off x="950495" y="1769478"/>
            <a:ext cx="10291010" cy="4351338"/>
          </a:xfrm>
        </p:spPr>
        <p:txBody>
          <a:bodyPr/>
          <a:lstStyle/>
          <a:p>
            <a:pPr indent="0" marL="0">
              <a:buNone/>
            </a:pPr>
            <a:r>
              <a:rPr dirty="0" lang="en-US"/>
              <a:t>We can also divide a data set into 100 equal parts, called percentiles. (Quartiles are just specific percentiles.) </a:t>
            </a:r>
          </a:p>
          <a:p>
            <a:pPr indent="0" marL="0">
              <a:buNone/>
            </a:pPr>
            <a:r>
              <a:rPr dirty="0" lang="en-US"/>
              <a:t>The pth percentile separates the lowest </a:t>
            </a:r>
            <a:br>
              <a:rPr dirty="0" lang="en-US"/>
            </a:br>
            <a:r>
              <a:rPr dirty="0" lang="en-US"/>
              <a:t>p% from the highest (1-p)%. </a:t>
            </a:r>
          </a:p>
          <a:p>
            <a:pPr indent="0" marL="0">
              <a:buNone/>
            </a:pPr>
            <a:endParaRPr dirty="0" lang="en-US"/>
          </a:p>
        </p:txBody>
      </p:sp>
      <p:sp>
        <p:nvSpPr>
          <p:cNvPr id="4" name="Footer Placeholder 3">
            <a:extLst>
              <a:ext uri="{FF2B5EF4-FFF2-40B4-BE49-F238E27FC236}">
                <a16:creationId xmlns:a16="http://schemas.microsoft.com/office/drawing/2014/main" id="{2C31B742-042F-073C-CFA6-BC98A3F180EE}"/>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CC3246EB-24FF-6646-930D-6EA8FE3399C3}"/>
              </a:ext>
            </a:extLst>
          </p:cNvPr>
          <p:cNvSpPr>
            <a:spLocks noGrp="1"/>
          </p:cNvSpPr>
          <p:nvPr>
            <p:ph idx="12" sz="quarter" type="sldNum"/>
          </p:nvPr>
        </p:nvSpPr>
        <p:spPr/>
        <p:txBody>
          <a:bodyPr/>
          <a:lstStyle/>
          <a:p>
            <a:fld id="{330EA680-D336-4FF7-8B7A-9848BB0A1C32}" type="slidenum">
              <a:rPr lang="en-US" smtClean="0">
                <a:solidFill>
                  <a:srgbClr val="404040"/>
                </a:solidFill>
              </a:rPr>
              <a:t>38</a:t>
            </a:fld>
            <a:endParaRPr lang="en-US"/>
          </a:p>
        </p:txBody>
      </p:sp>
      <p:pic>
        <p:nvPicPr>
          <p:cNvPr descr="Percentiles as a number line " id="7" name="Picture 6">
            <a:extLst>
              <a:ext uri="{FF2B5EF4-FFF2-40B4-BE49-F238E27FC236}">
                <a16:creationId xmlns:a16="http://schemas.microsoft.com/office/drawing/2014/main" id="{54BFF013-AA9B-8AAD-128C-18DD216392F2}"/>
              </a:ext>
            </a:extLst>
          </p:cNvPr>
          <p:cNvPicPr>
            <a:picLocks noChangeAspect="1"/>
          </p:cNvPicPr>
          <p:nvPr/>
        </p:nvPicPr>
        <p:blipFill>
          <a:blip r:embed="rId2"/>
          <a:stretch>
            <a:fillRect/>
          </a:stretch>
        </p:blipFill>
        <p:spPr>
          <a:xfrm>
            <a:off x="647228" y="3667069"/>
            <a:ext cx="10897544" cy="1234547"/>
          </a:xfrm>
          <a:prstGeom prst="rect">
            <a:avLst/>
          </a:prstGeom>
        </p:spPr>
      </p:pic>
    </p:spTree>
    <p:extLst>
      <p:ext uri="{BB962C8B-B14F-4D97-AF65-F5344CB8AC3E}">
        <p14:creationId xmlns:p14="http://schemas.microsoft.com/office/powerpoint/2010/main" val="3024109817"/>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EED8C-855F-6741-D9DE-A7ED029AAD64}"/>
              </a:ext>
            </a:extLst>
          </p:cNvPr>
          <p:cNvSpPr>
            <a:spLocks noGrp="1"/>
          </p:cNvSpPr>
          <p:nvPr>
            <p:ph type="title"/>
          </p:nvPr>
        </p:nvSpPr>
        <p:spPr/>
        <p:txBody>
          <a:bodyPr/>
          <a:lstStyle/>
          <a:p>
            <a:r>
              <a:rPr dirty="0" lang="en-US"/>
              <a:t>The 5-Number Summary </a:t>
            </a:r>
          </a:p>
        </p:txBody>
      </p:sp>
      <p:sp>
        <p:nvSpPr>
          <p:cNvPr id="3" name="Content Placeholder 2">
            <a:extLst>
              <a:ext uri="{FF2B5EF4-FFF2-40B4-BE49-F238E27FC236}">
                <a16:creationId xmlns:a16="http://schemas.microsoft.com/office/drawing/2014/main" id="{650934E8-89A1-5B0C-4902-64E15CABC344}"/>
              </a:ext>
            </a:extLst>
          </p:cNvPr>
          <p:cNvSpPr>
            <a:spLocks noGrp="1"/>
          </p:cNvSpPr>
          <p:nvPr>
            <p:ph idx="1"/>
          </p:nvPr>
        </p:nvSpPr>
        <p:spPr/>
        <p:txBody>
          <a:bodyPr/>
          <a:lstStyle/>
          <a:p>
            <a:pPr indent="0" marL="0">
              <a:buNone/>
            </a:pPr>
            <a:r>
              <a:rPr dirty="0" lang="en-US"/>
              <a:t>The 5-number summary lists the five following values: </a:t>
            </a:r>
          </a:p>
          <a:p>
            <a:pPr indent="0" marL="0">
              <a:buNone/>
            </a:pPr>
            <a:r>
              <a:rPr dirty="0" lang="en-US"/>
              <a:t>minimum, first quartile, median, third quartile, maximum. </a:t>
            </a:r>
          </a:p>
          <a:p>
            <a:pPr indent="0" marL="0">
              <a:buNone/>
            </a:pPr>
            <a:endParaRPr dirty="0" lang="en-US"/>
          </a:p>
          <a:p>
            <a:pPr algn="ctr" indent="0" marL="0">
              <a:buNone/>
            </a:pPr>
            <a:r>
              <a:rPr dirty="0" lang="en-US"/>
              <a:t>MIN—Q1—MED—Q3—MAX</a:t>
            </a:r>
          </a:p>
        </p:txBody>
      </p:sp>
      <p:sp>
        <p:nvSpPr>
          <p:cNvPr id="4" name="Footer Placeholder 3">
            <a:extLst>
              <a:ext uri="{FF2B5EF4-FFF2-40B4-BE49-F238E27FC236}">
                <a16:creationId xmlns:a16="http://schemas.microsoft.com/office/drawing/2014/main" id="{C80AE52D-39D5-FEFC-9C02-5C9D725DCF0C}"/>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9659227F-BF4C-827E-CE0F-B4A76B197169}"/>
              </a:ext>
            </a:extLst>
          </p:cNvPr>
          <p:cNvSpPr>
            <a:spLocks noGrp="1"/>
          </p:cNvSpPr>
          <p:nvPr>
            <p:ph idx="12" sz="quarter" type="sldNum"/>
          </p:nvPr>
        </p:nvSpPr>
        <p:spPr/>
        <p:txBody>
          <a:bodyPr/>
          <a:lstStyle/>
          <a:p>
            <a:fld id="{330EA680-D336-4FF7-8B7A-9848BB0A1C32}" type="slidenum">
              <a:rPr lang="en-US" smtClean="0">
                <a:solidFill>
                  <a:srgbClr val="404040"/>
                </a:solidFill>
              </a:rPr>
              <a:t>39</a:t>
            </a:fld>
            <a:endParaRPr lang="en-US"/>
          </a:p>
        </p:txBody>
      </p:sp>
    </p:spTree>
    <p:extLst>
      <p:ext uri="{BB962C8B-B14F-4D97-AF65-F5344CB8AC3E}">
        <p14:creationId xmlns:p14="http://schemas.microsoft.com/office/powerpoint/2010/main" val="817433651"/>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ED5EF-34CC-CE78-17F6-4F7CD837C0C2}"/>
              </a:ext>
            </a:extLst>
          </p:cNvPr>
          <p:cNvSpPr>
            <a:spLocks noGrp="1"/>
          </p:cNvSpPr>
          <p:nvPr>
            <p:ph type="title"/>
          </p:nvPr>
        </p:nvSpPr>
        <p:spPr/>
        <p:txBody>
          <a:bodyPr/>
          <a:lstStyle/>
          <a:p>
            <a:r>
              <a:rPr dirty="0" lang="en-US"/>
              <a:t>The Interquartile Range </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BF2A05D4-A9B0-0393-B59A-BB65BEFE7383}"/>
                  </a:ext>
                </a:extLst>
              </p:cNvPr>
              <p:cNvSpPr>
                <a:spLocks noGrp="1"/>
              </p:cNvSpPr>
              <p:nvPr>
                <p:ph idx="1"/>
              </p:nvPr>
            </p:nvSpPr>
            <p:spPr/>
            <p:txBody>
              <a:bodyPr/>
              <a:lstStyle/>
              <a:p>
                <a:pPr indent="0" marL="0">
                  <a:buNone/>
                </a:pPr>
                <a:r>
                  <a:rPr dirty="0" lang="en-US"/>
                  <a:t>The IQR is the difference between Q3 and Q1. It represents the middle 50% of data values. </a:t>
                </a:r>
              </a:p>
              <a:p>
                <a:pPr indent="0" marL="0">
                  <a:buNone/>
                </a:pPr>
                <a:endParaRPr dirty="0" lang="en-US"/>
              </a:p>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𝐼𝑄𝑅</m:t>
                      </m:r>
                      <m:r>
                        <a:rPr b="0" i="1" lang="en-US" smtClean="0">
                          <a:latin charset="0" panose="02040503050406030204" pitchFamily="18" typeface="Cambria Math"/>
                        </a:rPr>
                        <m:t>=</m:t>
                      </m:r>
                      <m:sSub>
                        <m:sSubPr>
                          <m:ctrlPr>
                            <a:rPr b="0" i="1" lang="en-US" smtClean="0">
                              <a:latin charset="0" panose="02040503050406030204" pitchFamily="18" typeface="Cambria Math"/>
                            </a:rPr>
                          </m:ctrlPr>
                        </m:sSubPr>
                        <m:e>
                          <m:r>
                            <a:rPr b="0" i="1" lang="en-US" smtClean="0">
                              <a:latin charset="0" panose="02040503050406030204" pitchFamily="18" typeface="Cambria Math"/>
                            </a:rPr>
                            <m:t>𝑄</m:t>
                          </m:r>
                        </m:e>
                        <m:sub>
                          <m:r>
                            <a:rPr b="0" i="1" lang="en-US" smtClean="0">
                              <a:latin charset="0" panose="02040503050406030204" pitchFamily="18" typeface="Cambria Math"/>
                            </a:rPr>
                            <m:t>3</m:t>
                          </m:r>
                        </m:sub>
                      </m:sSub>
                      <m:r>
                        <a:rPr b="0" i="1" lang="en-US" smtClean="0">
                          <a:latin charset="0" panose="02040503050406030204" pitchFamily="18" typeface="Cambria Math"/>
                        </a:rPr>
                        <m:t>−</m:t>
                      </m:r>
                      <m:sSub>
                        <m:sSubPr>
                          <m:ctrlPr>
                            <a:rPr b="0" i="1" lang="en-US" smtClean="0">
                              <a:latin charset="0" panose="02040503050406030204" pitchFamily="18" typeface="Cambria Math"/>
                            </a:rPr>
                          </m:ctrlPr>
                        </m:sSubPr>
                        <m:e>
                          <m:r>
                            <a:rPr b="0" i="1" lang="en-US" smtClean="0">
                              <a:latin charset="0" panose="02040503050406030204" pitchFamily="18" typeface="Cambria Math"/>
                            </a:rPr>
                            <m:t>𝑄</m:t>
                          </m:r>
                        </m:e>
                        <m:sub>
                          <m:r>
                            <a:rPr b="0" i="1" lang="en-US" smtClean="0">
                              <a:latin charset="0" panose="02040503050406030204" pitchFamily="18" typeface="Cambria Math"/>
                            </a:rPr>
                            <m:t>1</m:t>
                          </m:r>
                        </m:sub>
                      </m:sSub>
                    </m:oMath>
                  </m:oMathPara>
                </a14:m>
                <a:endParaRPr dirty="0" lang="en-US"/>
              </a:p>
            </p:txBody>
          </p:sp>
        </mc:Choice>
        <mc:Fallback>
          <p:sp>
            <p:nvSpPr>
              <p:cNvPr id="3" name="Content Placeholder 2">
                <a:extLst>
                  <a:ext uri="{FF2B5EF4-FFF2-40B4-BE49-F238E27FC236}">
                    <a16:creationId xmlns:a16="http://schemas.microsoft.com/office/drawing/2014/main" id="{BF2A05D4-A9B0-0393-B59A-BB65BEFE7383}"/>
                  </a:ext>
                </a:extLst>
              </p:cNvPr>
              <p:cNvSpPr>
                <a:spLocks noAdjustHandles="1" noChangeArrowheads="1" noChangeAspect="1" noChangeShapeType="1" noEditPoints="1" noGrp="1" noMove="1" noResize="1" noRot="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5ED79135-2A2E-B1AB-C364-5DD736D6493C}"/>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A7394CBA-2400-C15B-E868-2E063C7B131C}"/>
              </a:ext>
            </a:extLst>
          </p:cNvPr>
          <p:cNvSpPr>
            <a:spLocks noGrp="1"/>
          </p:cNvSpPr>
          <p:nvPr>
            <p:ph idx="12" sz="quarter" type="sldNum"/>
          </p:nvPr>
        </p:nvSpPr>
        <p:spPr/>
        <p:txBody>
          <a:bodyPr/>
          <a:lstStyle/>
          <a:p>
            <a:fld id="{330EA680-D336-4FF7-8B7A-9848BB0A1C32}" type="slidenum">
              <a:rPr lang="en-US" smtClean="0">
                <a:solidFill>
                  <a:srgbClr val="404040"/>
                </a:solidFill>
              </a:rPr>
              <a:t>40</a:t>
            </a:fld>
            <a:endParaRPr lang="en-US"/>
          </a:p>
        </p:txBody>
      </p:sp>
    </p:spTree>
    <p:extLst>
      <p:ext uri="{BB962C8B-B14F-4D97-AF65-F5344CB8AC3E}">
        <p14:creationId xmlns:p14="http://schemas.microsoft.com/office/powerpoint/2010/main" val="2366538270"/>
      </p:ext>
    </p:extLst>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DCE98-2871-6B48-8FB6-128D8D72BDE6}"/>
              </a:ext>
            </a:extLst>
          </p:cNvPr>
          <p:cNvSpPr>
            <a:spLocks noGrp="1"/>
          </p:cNvSpPr>
          <p:nvPr>
            <p:ph type="title"/>
          </p:nvPr>
        </p:nvSpPr>
        <p:spPr/>
        <p:txBody>
          <a:bodyPr/>
          <a:lstStyle/>
          <a:p>
            <a:r>
              <a:rPr dirty="0" lang="en-US"/>
              <a:t>Outliers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B1D57F7-E987-04BA-CD18-7F484BC4D8F7}"/>
                  </a:ext>
                </a:extLst>
              </p:cNvPr>
              <p:cNvSpPr>
                <a:spLocks noGrp="1"/>
              </p:cNvSpPr>
              <p:nvPr>
                <p:ph idx="1"/>
              </p:nvPr>
            </p:nvSpPr>
            <p:spPr/>
            <p:txBody>
              <a:bodyPr>
                <a:normAutofit lnSpcReduction="10000"/>
              </a:bodyPr>
              <a:lstStyle/>
              <a:p>
                <a:pPr indent="0" marL="0">
                  <a:buNone/>
                </a:pPr>
                <a:r>
                  <a:rPr dirty="0" lang="en-US"/>
                  <a:t>An outlier is an extreme value (much higher or lower than a majority of the data values). We will use the following boundary formulas to detect outliers: </a:t>
                </a:r>
              </a:p>
              <a:p>
                <a:pPr indent="0" marL="0">
                  <a:buNone/>
                </a:pPr>
                <a:endParaRPr dirty="0" lang="en-US"/>
              </a:p>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𝑙𝑜𝑤𝑒𝑟</m:t>
                      </m:r>
                      <m:r>
                        <a:rPr b="0" i="1" lang="en-US" smtClean="0">
                          <a:latin charset="0" panose="02040503050406030204" pitchFamily="18" typeface="Cambria Math"/>
                        </a:rPr>
                        <m:t> </m:t>
                      </m:r>
                      <m:r>
                        <a:rPr b="0" i="1" lang="en-US" smtClean="0">
                          <a:latin charset="0" panose="02040503050406030204" pitchFamily="18" typeface="Cambria Math"/>
                        </a:rPr>
                        <m:t>𝑏𝑜𝑢𝑛𝑑𝑎𝑟𝑦</m:t>
                      </m:r>
                      <m:r>
                        <a:rPr b="0" i="1" lang="en-US" smtClean="0">
                          <a:latin charset="0" panose="02040503050406030204" pitchFamily="18" typeface="Cambria Math"/>
                        </a:rPr>
                        <m:t>= </m:t>
                      </m:r>
                      <m:sSub>
                        <m:sSubPr>
                          <m:ctrlPr>
                            <a:rPr b="0" i="1" lang="en-US" smtClean="0">
                              <a:latin charset="0" panose="02040503050406030204" pitchFamily="18" typeface="Cambria Math"/>
                            </a:rPr>
                          </m:ctrlPr>
                        </m:sSubPr>
                        <m:e>
                          <m:r>
                            <a:rPr b="0" i="1" lang="en-US" smtClean="0">
                              <a:latin charset="0" panose="02040503050406030204" pitchFamily="18" typeface="Cambria Math"/>
                            </a:rPr>
                            <m:t>𝑄</m:t>
                          </m:r>
                        </m:e>
                        <m:sub>
                          <m:r>
                            <a:rPr b="0" i="1" lang="en-US" smtClean="0">
                              <a:latin charset="0" panose="02040503050406030204" pitchFamily="18" typeface="Cambria Math"/>
                            </a:rPr>
                            <m:t>1</m:t>
                          </m:r>
                        </m:sub>
                      </m:sSub>
                      <m:r>
                        <a:rPr b="0" i="1" lang="en-US" smtClean="0">
                          <a:latin charset="0" panose="02040503050406030204" pitchFamily="18" typeface="Cambria Math"/>
                        </a:rPr>
                        <m:t>−</m:t>
                      </m:r>
                      <m:r>
                        <a:rPr b="0" i="1" lang="en-US" smtClean="0">
                          <a:latin charset="0" panose="02040503050406030204" pitchFamily="18" typeface="Cambria Math"/>
                        </a:rPr>
                        <m:t>1</m:t>
                      </m:r>
                      <m:r>
                        <a:rPr b="0" i="1" lang="en-US" smtClean="0">
                          <a:latin charset="0" panose="02040503050406030204" pitchFamily="18" typeface="Cambria Math"/>
                        </a:rPr>
                        <m:t>.</m:t>
                      </m:r>
                      <m:r>
                        <a:rPr b="0" i="1" lang="en-US" smtClean="0">
                          <a:latin charset="0" panose="02040503050406030204" pitchFamily="18" typeface="Cambria Math"/>
                        </a:rPr>
                        <m:t>5</m:t>
                      </m:r>
                      <m:r>
                        <a:rPr b="0" i="1" lang="en-US" smtClean="0">
                          <a:latin charset="0" panose="02040503050406030204" pitchFamily="18" typeface="Cambria Math"/>
                        </a:rPr>
                        <m:t>∗</m:t>
                      </m:r>
                      <m:r>
                        <a:rPr b="0" i="1" lang="en-US" smtClean="0">
                          <a:latin charset="0" panose="02040503050406030204" pitchFamily="18" typeface="Cambria Math"/>
                        </a:rPr>
                        <m:t>𝐼𝑄𝑅</m:t>
                      </m:r>
                    </m:oMath>
                  </m:oMathPara>
                </a14:m>
                <a:endParaRPr b="0" dirty="0" lang="en-US"/>
              </a:p>
              <a:p>
                <a:pPr indent="0" marL="0">
                  <a:buNone/>
                </a:pPr>
                <a14:m>
                  <m:oMathPara xmlns:m="http://schemas.openxmlformats.org/officeDocument/2006/math">
                    <m:oMathParaPr>
                      <m:jc m:val="centerGroup"/>
                    </m:oMathParaPr>
                    <m:oMath>
                      <m:r>
                        <a:rPr b="0" i="1" lang="en-US" smtClean="0">
                          <a:latin charset="0" panose="02040503050406030204" pitchFamily="18" typeface="Cambria Math"/>
                        </a:rPr>
                        <m:t>𝑢𝑝𝑝𝑒𝑟</m:t>
                      </m:r>
                      <m:r>
                        <a:rPr i="1" lang="en-US">
                          <a:latin charset="0" panose="02040503050406030204" pitchFamily="18" typeface="Cambria Math"/>
                        </a:rPr>
                        <m:t> </m:t>
                      </m:r>
                      <m:r>
                        <a:rPr i="1" lang="en-US">
                          <a:latin charset="0" panose="02040503050406030204" pitchFamily="18" typeface="Cambria Math"/>
                        </a:rPr>
                        <m:t>𝑏𝑜𝑢𝑛𝑑𝑎𝑟𝑦</m:t>
                      </m:r>
                      <m:r>
                        <a:rPr i="1" lang="en-US">
                          <a:latin charset="0" panose="02040503050406030204" pitchFamily="18" typeface="Cambria Math"/>
                        </a:rPr>
                        <m:t>= </m:t>
                      </m:r>
                      <m:sSub>
                        <m:sSubPr>
                          <m:ctrlPr>
                            <a:rPr i="1" lang="en-US">
                              <a:latin charset="0" panose="02040503050406030204" pitchFamily="18" typeface="Cambria Math"/>
                            </a:rPr>
                          </m:ctrlPr>
                        </m:sSubPr>
                        <m:e>
                          <m:r>
                            <a:rPr i="1" lang="en-US">
                              <a:latin charset="0" panose="02040503050406030204" pitchFamily="18" typeface="Cambria Math"/>
                            </a:rPr>
                            <m:t>𝑄</m:t>
                          </m:r>
                        </m:e>
                        <m:sub>
                          <m:r>
                            <a:rPr b="0" i="1" lang="en-US" smtClean="0">
                              <a:latin charset="0" panose="02040503050406030204" pitchFamily="18" typeface="Cambria Math"/>
                            </a:rPr>
                            <m:t>3</m:t>
                          </m:r>
                        </m:sub>
                      </m:sSub>
                      <m:r>
                        <a:rPr b="0" i="1" lang="en-US" smtClean="0">
                          <a:latin charset="0" panose="02040503050406030204" pitchFamily="18" typeface="Cambria Math"/>
                        </a:rPr>
                        <m:t>+</m:t>
                      </m:r>
                      <m:r>
                        <a:rPr i="1" lang="en-US">
                          <a:latin charset="0" panose="02040503050406030204" pitchFamily="18" typeface="Cambria Math"/>
                        </a:rPr>
                        <m:t>1</m:t>
                      </m:r>
                      <m:r>
                        <a:rPr i="1" lang="en-US">
                          <a:latin charset="0" panose="02040503050406030204" pitchFamily="18" typeface="Cambria Math"/>
                        </a:rPr>
                        <m:t>.</m:t>
                      </m:r>
                      <m:r>
                        <a:rPr i="1" lang="en-US">
                          <a:latin charset="0" panose="02040503050406030204" pitchFamily="18" typeface="Cambria Math"/>
                        </a:rPr>
                        <m:t>5</m:t>
                      </m:r>
                      <m:r>
                        <a:rPr i="1" lang="en-US">
                          <a:latin charset="0" panose="02040503050406030204" pitchFamily="18" typeface="Cambria Math"/>
                        </a:rPr>
                        <m:t>∗</m:t>
                      </m:r>
                      <m:r>
                        <a:rPr i="1" lang="en-US">
                          <a:latin charset="0" panose="02040503050406030204" pitchFamily="18" typeface="Cambria Math"/>
                        </a:rPr>
                        <m:t>𝐼𝑄𝑅</m:t>
                      </m:r>
                    </m:oMath>
                  </m:oMathPara>
                </a14:m>
                <a:endParaRPr dirty="0" lang="en-US"/>
              </a:p>
              <a:p>
                <a:pPr indent="0" marL="0">
                  <a:buNone/>
                </a:pPr>
                <a:endParaRPr dirty="0" lang="en-US"/>
              </a:p>
              <a:p>
                <a:pPr indent="0" marL="0">
                  <a:buNone/>
                </a:pPr>
                <a:r>
                  <a:rPr dirty="0" lang="en-US"/>
                  <a:t>The boundaries are NOT your final answer. They only tell you WHERE to find the outliers. Data values less than the lower boundary are lower outliers. Data values greater than the upper boundary are upper outliers. </a:t>
                </a:r>
              </a:p>
            </p:txBody>
          </p:sp>
        </mc:Choice>
        <mc:Fallback>
          <p:sp>
            <p:nvSpPr>
              <p:cNvPr id="3" name="Content Placeholder 2">
                <a:extLst>
                  <a:ext uri="{FF2B5EF4-FFF2-40B4-BE49-F238E27FC236}">
                    <a16:creationId xmlns:a16="http://schemas.microsoft.com/office/drawing/2014/main" id="{2B1D57F7-E987-04BA-CD18-7F484BC4D8F7}"/>
                  </a:ext>
                </a:extLst>
              </p:cNvPr>
              <p:cNvSpPr>
                <a:spLocks noAdjustHandles="1" noChangeArrowheads="1" noChangeAspect="1" noChangeShapeType="1" noEditPoints="1" noGrp="1" noMove="1" noResize="1" noRot="1" noTextEdit="1"/>
              </p:cNvSpPr>
              <p:nvPr>
                <p:ph idx="1"/>
              </p:nvPr>
            </p:nvSpPr>
            <p:spPr>
              <a:blipFill>
                <a:blip r:embed="rId2"/>
                <a:stretch>
                  <a:fillRect b="-3361" l="-1217" r="-812" t="-308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8087427-BE47-A1DD-BD78-BA77CA981731}"/>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12BFA1C9-4285-4AA5-1EDF-DAAB19D777D3}"/>
              </a:ext>
            </a:extLst>
          </p:cNvPr>
          <p:cNvSpPr>
            <a:spLocks noGrp="1"/>
          </p:cNvSpPr>
          <p:nvPr>
            <p:ph idx="12" sz="quarter" type="sldNum"/>
          </p:nvPr>
        </p:nvSpPr>
        <p:spPr/>
        <p:txBody>
          <a:bodyPr/>
          <a:lstStyle/>
          <a:p>
            <a:fld id="{330EA680-D336-4FF7-8B7A-9848BB0A1C32}" type="slidenum">
              <a:rPr lang="en-US" smtClean="0">
                <a:solidFill>
                  <a:srgbClr val="404040"/>
                </a:solidFill>
              </a:rPr>
              <a:t>41</a:t>
            </a:fld>
            <a:endParaRPr lang="en-US"/>
          </a:p>
        </p:txBody>
      </p:sp>
    </p:spTree>
    <p:extLst>
      <p:ext uri="{BB962C8B-B14F-4D97-AF65-F5344CB8AC3E}">
        <p14:creationId xmlns:p14="http://schemas.microsoft.com/office/powerpoint/2010/main" val="4197074660"/>
      </p:ext>
    </p:extLst>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F3EBA-276B-435B-C502-37B0915B03DA}"/>
              </a:ext>
            </a:extLst>
          </p:cNvPr>
          <p:cNvSpPr>
            <a:spLocks noGrp="1"/>
          </p:cNvSpPr>
          <p:nvPr>
            <p:ph type="title"/>
          </p:nvPr>
        </p:nvSpPr>
        <p:spPr/>
        <p:txBody>
          <a:bodyPr/>
          <a:lstStyle/>
          <a:p>
            <a:r>
              <a:rPr dirty="0" lang="en-US"/>
              <a:t>Boxplots (Box-and-Whisker Plots) </a:t>
            </a:r>
          </a:p>
        </p:txBody>
      </p:sp>
      <p:pic>
        <p:nvPicPr>
          <p:cNvPr descr="Boxplot template " id="7" name="Content Placeholder 6">
            <a:extLst>
              <a:ext uri="{FF2B5EF4-FFF2-40B4-BE49-F238E27FC236}">
                <a16:creationId xmlns:a16="http://schemas.microsoft.com/office/drawing/2014/main" id="{6B598E33-8FC0-EF8A-664D-86CE868B2927}"/>
              </a:ext>
            </a:extLst>
          </p:cNvPr>
          <p:cNvPicPr>
            <a:picLocks noChangeAspect="1" noGrp="1"/>
          </p:cNvPicPr>
          <p:nvPr>
            <p:ph idx="1"/>
          </p:nvPr>
        </p:nvPicPr>
        <p:blipFill>
          <a:blip r:embed="rId2"/>
          <a:stretch>
            <a:fillRect/>
          </a:stretch>
        </p:blipFill>
        <p:spPr>
          <a:xfrm>
            <a:off x="838200" y="1924748"/>
            <a:ext cx="10515600" cy="4153092"/>
          </a:xfrm>
          <a:prstGeom prst="rect">
            <a:avLst/>
          </a:prstGeom>
        </p:spPr>
      </p:pic>
      <p:sp>
        <p:nvSpPr>
          <p:cNvPr id="4" name="Footer Placeholder 3">
            <a:extLst>
              <a:ext uri="{FF2B5EF4-FFF2-40B4-BE49-F238E27FC236}">
                <a16:creationId xmlns:a16="http://schemas.microsoft.com/office/drawing/2014/main" id="{9C46D367-43BB-0A27-69B9-3A856DDF165D}"/>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44754AEC-149F-896E-FEA0-C9AF7A3D00C8}"/>
              </a:ext>
            </a:extLst>
          </p:cNvPr>
          <p:cNvSpPr>
            <a:spLocks noGrp="1"/>
          </p:cNvSpPr>
          <p:nvPr>
            <p:ph idx="12" sz="quarter" type="sldNum"/>
          </p:nvPr>
        </p:nvSpPr>
        <p:spPr/>
        <p:txBody>
          <a:bodyPr/>
          <a:lstStyle/>
          <a:p>
            <a:fld id="{330EA680-D336-4FF7-8B7A-9848BB0A1C32}" type="slidenum">
              <a:rPr lang="en-US" smtClean="0">
                <a:solidFill>
                  <a:srgbClr val="404040"/>
                </a:solidFill>
              </a:rPr>
              <a:t>42</a:t>
            </a:fld>
            <a:endParaRPr lang="en-US"/>
          </a:p>
        </p:txBody>
      </p:sp>
    </p:spTree>
    <p:extLst>
      <p:ext uri="{BB962C8B-B14F-4D97-AF65-F5344CB8AC3E}">
        <p14:creationId xmlns:p14="http://schemas.microsoft.com/office/powerpoint/2010/main" val="2621130978"/>
      </p:ext>
    </p:extLst>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70BD5-C5A7-803E-4C51-9273E4848BB7}"/>
              </a:ext>
            </a:extLst>
          </p:cNvPr>
          <p:cNvSpPr>
            <a:spLocks noGrp="1"/>
          </p:cNvSpPr>
          <p:nvPr>
            <p:ph type="title"/>
          </p:nvPr>
        </p:nvSpPr>
        <p:spPr>
          <a:xfrm>
            <a:off x="84221" y="18255"/>
            <a:ext cx="10515600" cy="1325563"/>
          </a:xfrm>
        </p:spPr>
        <p:txBody>
          <a:bodyPr/>
          <a:lstStyle/>
          <a:p>
            <a:r>
              <a:rPr dirty="0" lang="en-US"/>
              <a:t>Comparative Boxplots </a:t>
            </a:r>
          </a:p>
        </p:txBody>
      </p:sp>
      <p:pic>
        <p:nvPicPr>
          <p:cNvPr descr="Example of comparative boxplots" id="7" name="Content Placeholder 6">
            <a:extLst>
              <a:ext uri="{FF2B5EF4-FFF2-40B4-BE49-F238E27FC236}">
                <a16:creationId xmlns:a16="http://schemas.microsoft.com/office/drawing/2014/main" id="{4CF443FF-C3C5-FD3C-984F-23B06EB0651F}"/>
              </a:ext>
            </a:extLst>
          </p:cNvPr>
          <p:cNvPicPr>
            <a:picLocks noChangeAspect="1" noGrp="1"/>
          </p:cNvPicPr>
          <p:nvPr>
            <p:ph idx="1"/>
          </p:nvPr>
        </p:nvPicPr>
        <p:blipFill>
          <a:blip r:embed="rId2"/>
          <a:stretch>
            <a:fillRect/>
          </a:stretch>
        </p:blipFill>
        <p:spPr>
          <a:xfrm>
            <a:off x="2209036" y="1074066"/>
            <a:ext cx="7773927" cy="5282284"/>
          </a:xfrm>
          <a:prstGeom prst="rect">
            <a:avLst/>
          </a:prstGeom>
        </p:spPr>
      </p:pic>
      <p:sp>
        <p:nvSpPr>
          <p:cNvPr id="4" name="Footer Placeholder 3">
            <a:extLst>
              <a:ext uri="{FF2B5EF4-FFF2-40B4-BE49-F238E27FC236}">
                <a16:creationId xmlns:a16="http://schemas.microsoft.com/office/drawing/2014/main" id="{7A7BEAD5-13CF-B57F-4879-CA62880FB3A4}"/>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05E0E7BC-158C-7831-F8EB-B3CFCEFDB622}"/>
              </a:ext>
            </a:extLst>
          </p:cNvPr>
          <p:cNvSpPr>
            <a:spLocks noGrp="1"/>
          </p:cNvSpPr>
          <p:nvPr>
            <p:ph idx="12" sz="quarter" type="sldNum"/>
          </p:nvPr>
        </p:nvSpPr>
        <p:spPr/>
        <p:txBody>
          <a:bodyPr/>
          <a:lstStyle/>
          <a:p>
            <a:fld id="{330EA680-D336-4FF7-8B7A-9848BB0A1C32}" type="slidenum">
              <a:rPr lang="en-US" smtClean="0">
                <a:solidFill>
                  <a:srgbClr val="404040"/>
                </a:solidFill>
              </a:rPr>
              <a:t>43</a:t>
            </a:fld>
            <a:endParaRPr lang="en-US"/>
          </a:p>
        </p:txBody>
      </p:sp>
    </p:spTree>
    <p:extLst>
      <p:ext uri="{BB962C8B-B14F-4D97-AF65-F5344CB8AC3E}">
        <p14:creationId xmlns:p14="http://schemas.microsoft.com/office/powerpoint/2010/main" val="195775569"/>
      </p:ext>
    </p:extLst>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1D134-9BBE-7933-9F2A-1ED9824FA110}"/>
              </a:ext>
            </a:extLst>
          </p:cNvPr>
          <p:cNvSpPr>
            <a:spLocks noGrp="1"/>
          </p:cNvSpPr>
          <p:nvPr>
            <p:ph type="title"/>
          </p:nvPr>
        </p:nvSpPr>
        <p:spPr/>
        <p:txBody>
          <a:bodyPr/>
          <a:lstStyle/>
          <a:p>
            <a:r>
              <a:rPr dirty="0" lang="en-US"/>
              <a:t>Boxplots Practice </a:t>
            </a:r>
          </a:p>
        </p:txBody>
      </p:sp>
      <p:sp>
        <p:nvSpPr>
          <p:cNvPr id="3" name="Content Placeholder 2">
            <a:extLst>
              <a:ext uri="{FF2B5EF4-FFF2-40B4-BE49-F238E27FC236}">
                <a16:creationId xmlns:a16="http://schemas.microsoft.com/office/drawing/2014/main" id="{B17A91D2-0A64-9881-C460-7D17AA6D7EFE}"/>
              </a:ext>
            </a:extLst>
          </p:cNvPr>
          <p:cNvSpPr>
            <a:spLocks noGrp="1"/>
          </p:cNvSpPr>
          <p:nvPr>
            <p:ph idx="1"/>
          </p:nvPr>
        </p:nvSpPr>
        <p:spPr/>
        <p:txBody>
          <a:bodyPr/>
          <a:lstStyle/>
          <a:p>
            <a:pPr indent="-514350" marL="514350">
              <a:buAutoNum type="arabicPeriod"/>
            </a:pPr>
            <a:r>
              <a:rPr dirty="0" lang="en-US"/>
              <a:t>Create a boxplot for mpg from the </a:t>
            </a:r>
            <a:r>
              <a:rPr dirty="0" err="1" lang="en-US"/>
              <a:t>mtcars</a:t>
            </a:r>
            <a:r>
              <a:rPr dirty="0" lang="en-US"/>
              <a:t> data set. </a:t>
            </a:r>
            <a:br>
              <a:rPr dirty="0" lang="en-US"/>
            </a:br>
            <a:endParaRPr dirty="0" lang="en-US"/>
          </a:p>
          <a:p>
            <a:pPr indent="-514350" marL="514350">
              <a:buAutoNum type="arabicPeriod"/>
            </a:pPr>
            <a:r>
              <a:rPr dirty="0" lang="en-US"/>
              <a:t>How would you describe the distribution? </a:t>
            </a:r>
            <a:br>
              <a:rPr dirty="0" lang="en-US"/>
            </a:br>
            <a:endParaRPr dirty="0" lang="en-US"/>
          </a:p>
          <a:p>
            <a:pPr indent="-514350" marL="514350">
              <a:buAutoNum type="arabicPeriod"/>
            </a:pPr>
            <a:r>
              <a:rPr dirty="0" lang="en-US"/>
              <a:t>Use comparative boxplots to compare mpg by number of cylinders (</a:t>
            </a:r>
            <a:r>
              <a:rPr dirty="0" err="1" lang="en-US"/>
              <a:t>cyl</a:t>
            </a:r>
            <a:r>
              <a:rPr dirty="0" lang="en-US"/>
              <a:t>). What patterns can we see? </a:t>
            </a:r>
          </a:p>
        </p:txBody>
      </p:sp>
      <p:sp>
        <p:nvSpPr>
          <p:cNvPr id="4" name="Footer Placeholder 3">
            <a:extLst>
              <a:ext uri="{FF2B5EF4-FFF2-40B4-BE49-F238E27FC236}">
                <a16:creationId xmlns:a16="http://schemas.microsoft.com/office/drawing/2014/main" id="{B2D4CAC1-6EFA-B500-B430-A6C119B59F20}"/>
              </a:ext>
            </a:extLst>
          </p:cNvPr>
          <p:cNvSpPr>
            <a:spLocks noGrp="1"/>
          </p:cNvSpPr>
          <p:nvPr>
            <p:ph idx="11" sz="quarter" type="ftr"/>
          </p:nvPr>
        </p:nvSpPr>
        <p:spPr/>
        <p:txBody>
          <a:bodyPr/>
          <a:lstStyle/>
          <a:p>
            <a:r>
              <a:rPr lang="en-US">
                <a:solidFill>
                  <a:srgbClr val="404040"/>
                </a:solidFill>
              </a:rPr>
              <a:t>Bowen C.</a:t>
            </a:r>
          </a:p>
        </p:txBody>
      </p:sp>
      <p:sp>
        <p:nvSpPr>
          <p:cNvPr id="5" name="Slide Number Placeholder 4">
            <a:extLst>
              <a:ext uri="{FF2B5EF4-FFF2-40B4-BE49-F238E27FC236}">
                <a16:creationId xmlns:a16="http://schemas.microsoft.com/office/drawing/2014/main" id="{BFDB056C-5F44-04DB-EE8D-65B60AFE78FB}"/>
              </a:ext>
            </a:extLst>
          </p:cNvPr>
          <p:cNvSpPr>
            <a:spLocks noGrp="1"/>
          </p:cNvSpPr>
          <p:nvPr>
            <p:ph idx="12" sz="quarter" type="sldNum"/>
          </p:nvPr>
        </p:nvSpPr>
        <p:spPr/>
        <p:txBody>
          <a:bodyPr/>
          <a:lstStyle/>
          <a:p>
            <a:fld id="{330EA680-D336-4FF7-8B7A-9848BB0A1C32}" type="slidenum">
              <a:rPr lang="en-US" smtClean="0">
                <a:solidFill>
                  <a:srgbClr val="404040"/>
                </a:solidFill>
              </a:rPr>
              <a:t>44</a:t>
            </a:fld>
            <a:endParaRPr lang="en-US"/>
          </a:p>
        </p:txBody>
      </p:sp>
    </p:spTree>
    <p:extLst>
      <p:ext uri="{BB962C8B-B14F-4D97-AF65-F5344CB8AC3E}">
        <p14:creationId xmlns:p14="http://schemas.microsoft.com/office/powerpoint/2010/main" val="994944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343</TotalTime>
  <Words>3048</Words>
  <Application>Microsoft Office PowerPoint</Application>
  <PresentationFormat>Widescreen</PresentationFormat>
  <Paragraphs>314</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Aptos Display</vt:lpstr>
      <vt:lpstr>Arial</vt:lpstr>
      <vt:lpstr>Cambria Math</vt:lpstr>
      <vt:lpstr>Wingdings</vt:lpstr>
      <vt:lpstr>office theme</vt:lpstr>
      <vt:lpstr>Numerical Summaries of Data</vt:lpstr>
      <vt:lpstr>Objectives </vt:lpstr>
      <vt:lpstr>Topics </vt:lpstr>
      <vt:lpstr>Measures of Center </vt:lpstr>
      <vt:lpstr>The Mean </vt:lpstr>
      <vt:lpstr>The Median </vt:lpstr>
      <vt:lpstr>Mean vs. Median </vt:lpstr>
      <vt:lpstr>Mean vs. Median in a Picture</vt:lpstr>
      <vt:lpstr>The Mode</vt:lpstr>
      <vt:lpstr>Practice (using mtcars)  </vt:lpstr>
      <vt:lpstr>Measures of Dispersion </vt:lpstr>
      <vt:lpstr>The Range </vt:lpstr>
      <vt:lpstr>Range Practice </vt:lpstr>
      <vt:lpstr>Variance </vt:lpstr>
      <vt:lpstr>The Variance, continued </vt:lpstr>
      <vt:lpstr>The Variance, visually  </vt:lpstr>
      <vt:lpstr>The Variance, continued </vt:lpstr>
      <vt:lpstr>Variance Practice </vt:lpstr>
      <vt:lpstr>The Standard Deviation </vt:lpstr>
      <vt:lpstr>Standard Deviation Practice </vt:lpstr>
      <vt:lpstr>The Empirical Rule (aka the 68 - 95 - 99.7 Rule)</vt:lpstr>
      <vt:lpstr>Empirical Rule Visual </vt:lpstr>
      <vt:lpstr>Empirical Rule Percentages </vt:lpstr>
      <vt:lpstr>Yoshi Example </vt:lpstr>
      <vt:lpstr>Netherworld Example </vt:lpstr>
      <vt:lpstr>Chebyshev’s Inequality </vt:lpstr>
      <vt:lpstr>Chebyshev’s Visual</vt:lpstr>
      <vt:lpstr>Aircraft Example </vt:lpstr>
      <vt:lpstr>Exam Scores Example </vt:lpstr>
      <vt:lpstr>Summary: Empirical vs. Chebyshev’s </vt:lpstr>
      <vt:lpstr>The z-score </vt:lpstr>
      <vt:lpstr>Heights Example</vt:lpstr>
      <vt:lpstr>Z-Scores and the Empirical Rule </vt:lpstr>
      <vt:lpstr>Standard  Normal  Curve</vt:lpstr>
      <vt:lpstr>More Practice </vt:lpstr>
      <vt:lpstr>Measures of Position </vt:lpstr>
      <vt:lpstr>Quartiles </vt:lpstr>
      <vt:lpstr>Percentiles </vt:lpstr>
      <vt:lpstr>The 5-Number Summary </vt:lpstr>
      <vt:lpstr>The Interquartile Range </vt:lpstr>
      <vt:lpstr>Outliers </vt:lpstr>
      <vt:lpstr>Boxplots (Box-and-Whisker Plots) </vt:lpstr>
      <vt:lpstr>Comparative Boxplots </vt:lpstr>
      <vt:lpstr>Boxplots Practice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2026-04-23T19:27:06Z</dcterms:created>
  <cp:lastModifiedBy>Bowen Cheek</cp:lastModifiedBy>
  <dcterms:modified xsi:type="dcterms:W3CDTF">2026-06-02T15:44:43Z</dcterms:modified>
  <cp:revision>3</cp:revision>
  <dc:title>Chapter 3 Teaching Notes</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panorama-manifest">
    <vt:lpwstr>{"dismissals":[{"targetId":{"value":105},"issueTypeIdentifier":"READING_ORDER_ISSUE"},{"targetId":{"value":171},"issueTypeIdentifier":"READING_ORDER_ISSUE"},{"targetId":{"value":185},"issueTypeIdentifier":"READING_ORDER_ISSUE"},{"targetId":{"value":296},"issueTypeIdentifier":"READING_ORDER_ISSUE"},{"targetId":{"value":378},"issueTypeIdentifier":"READING_ORDER_ISSUE"},{"targetId":{"value":453},"issueTypeIdentifier":"READING_ORDER_ISSUE"},{"targetId":{"value":695},"issueTypeIdentifier":"READING_ORDER_ISSUE"},{"targetId":{"value":750},"issueTypeIdentifier":"READING_ORDER_ISSUE"},{"targetId":{"value":774},"issueTypeIdentifier":"READING_ORDER_ISSUE"}],"remediatedIssues":[{"targetId":{"value":127},"issueTypeIdentifier":"MISSING_ALTERNATIVE_TEXT_ISSUE"},{"targetId":{"value":546},"issueTypeIdentifier":"MISSING_ALTERNATIVE_TEXT_ISSUE"}]}</vt:lpwstr>
  </property>
</Properties>
</file>